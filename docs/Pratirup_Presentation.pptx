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3e122e-7acf-6962-e408-93d44bc4fc0a}">
          <p14:sldIdLst>
            <p14:sldId id="256"/>
            <p14:sldId id="257"/>
          </p14:sldIdLst>
        </p14:section>
        <p14:section name="Problem" id="{90d4a2ea-8d36-10cb-bda7-e2a6a61d833a}">
          <p14:sldIdLst>
            <p14:sldId id="258"/>
            <p14:sldId id="259"/>
            <p14:sldId id="260"/>
          </p14:sldIdLst>
        </p14:section>
        <p14:section name="Solution" id="{beab2f41-7030-b493-65ba-7a504e892e3a}">
          <p14:sldIdLst>
            <p14:sldId id="261"/>
            <p14:sldId id="262"/>
            <p14:sldId id="263"/>
          </p14:sldIdLst>
        </p14:section>
        <p14:section name="Evidence" id="{ddd991e2-b062-545f-f478-ebd24d33b563}">
          <p14:sldIdLst>
            <p14:sldId id="264"/>
            <p14:sldId id="265"/>
            <p14:sldId id="266"/>
            <p14:sldId id="267"/>
            <p14:sldId id="268"/>
            <p14:sldId id="269"/>
          </p14:sldIdLst>
        </p14:section>
        <p14:section name="Product" id="{6d96a122-bc9a-99bf-14b9-93e79f4b8fc8}">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32A"/>
                </a:solidFill>
                <a:latin typeface="Calibri"/>
              </a:defRPr>
            </a:pPr>
            <a:r>
              <a:rPr sz="1300" b="0" i="0" u="none" strike="noStrike">
                <a:solidFill>
                  <a:srgbClr val="15232A"/>
                </a:solidFill>
                <a:latin typeface="Calibri"/>
              </a:rPr>
              <a:t>Mean absolute error, mg/dL (lower is better)</a:t>
            </a:r>
          </a:p>
        </c:rich>
      </c:tx>
      <c:layout/>
      <c:overlay val="0"/>
    </c:title>
    <c:autoTitleDeleted val="0"/>
    <c:plotArea>
      <c:layout/>
      <c:barChart>
        <c:barDir val="col"/>
        <c:grouping val="clustered"/>
        <c:varyColors val="0"/>
        <c:ser>
          <c:idx val="0"/>
          <c:order val="0"/>
          <c:tx>
            <c:strRef>
              <c:f>Sheet1!$B$1</c:f>
              <c:strCache>
                <c:ptCount val="1"/>
                <c:pt idx="0">
                  <c:v>Last value carried forward</c:v>
                </c:pt>
              </c:strCache>
            </c:strRef>
          </c:tx>
          <c:spPr>
            <a:solidFill>
              <a:srgbClr val="9AA9B1"/>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Sheet1!$B$2:$B$4</c:f>
              <c:numCache>
                <c:formatCode>General</c:formatCode>
                <c:ptCount val="3"/>
                <c:pt idx="0">
                  <c:v>12.1</c:v>
                </c:pt>
                <c:pt idx="1">
                  <c:v>20.1</c:v>
                </c:pt>
                <c:pt idx="2">
                  <c:v>30.2</c:v>
                </c:pt>
              </c:numCache>
            </c:numRef>
          </c:val>
        </c:ser>
        <c:ser>
          <c:idx val="1"/>
          <c:order val="1"/>
          <c:tx>
            <c:strRef>
              <c:f>Sheet1!$C$1</c:f>
              <c:strCache>
                <c:ptCount val="1"/>
                <c:pt idx="0">
                  <c:v>Linear autoregression</c:v>
                </c:pt>
              </c:strCache>
            </c:strRef>
          </c:tx>
          <c:spPr>
            <a:solidFill>
              <a:srgbClr val="C5CFD4"/>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Sheet1!$C$2:$C$4</c:f>
              <c:numCache>
                <c:formatCode>General</c:formatCode>
                <c:ptCount val="3"/>
                <c:pt idx="0">
                  <c:v>9.8</c:v>
                </c:pt>
                <c:pt idx="1">
                  <c:v>17.8</c:v>
                </c:pt>
                <c:pt idx="2">
                  <c:v>26.8</c:v>
                </c:pt>
              </c:numCache>
            </c:numRef>
          </c:val>
        </c:ser>
        <c:ser>
          <c:idx val="2"/>
          <c:order val="2"/>
          <c:tx>
            <c:strRef>
              <c:f>Sheet1!$D$1</c:f>
              <c:strCache>
                <c:ptCount val="1"/>
                <c:pt idx="0">
                  <c:v>GRU sequence network</c:v>
                </c:pt>
              </c:strCache>
            </c:strRef>
          </c:tx>
          <c:spPr>
            <a:solidFill>
              <a:srgbClr val="B28A4A"/>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Sheet1!$D$2:$D$4</c:f>
              <c:numCache>
                <c:formatCode>General</c:formatCode>
                <c:ptCount val="3"/>
                <c:pt idx="0">
                  <c:v>8.6</c:v>
                </c:pt>
                <c:pt idx="1">
                  <c:v>14.7</c:v>
                </c:pt>
                <c:pt idx="2">
                  <c:v>20.1</c:v>
                </c:pt>
              </c:numCache>
            </c:numRef>
          </c:val>
        </c:ser>
        <c:ser>
          <c:idx val="3"/>
          <c:order val="3"/>
          <c:tx>
            <c:strRef>
              <c:f>Sheet1!$E$1</c:f>
              <c:strCache>
                <c:ptCount val="1"/>
                <c:pt idx="0">
                  <c:v>Pratirup</c:v>
                </c:pt>
              </c:strCache>
            </c:strRef>
          </c:tx>
          <c:spPr>
            <a:solidFill>
              <a:srgbClr val="0D5F73"/>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Sheet1!$E$2:$E$4</c:f>
              <c:numCache>
                <c:formatCode>General</c:formatCode>
                <c:ptCount val="3"/>
                <c:pt idx="0">
                  <c:v>8.6</c:v>
                </c:pt>
                <c:pt idx="1">
                  <c:v>14.8</c:v>
                </c:pt>
                <c:pt idx="2">
                  <c:v>20.3</c:v>
                </c:pt>
              </c:numCache>
            </c:numRef>
          </c:val>
        </c:ser>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6676F"/>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76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523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32A"/>
                </a:solidFill>
                <a:latin typeface="Calibri"/>
              </a:defRPr>
            </a:pPr>
            <a:r>
              <a:rPr sz="1300" b="0" i="0" u="none" strike="noStrike">
                <a:solidFill>
                  <a:srgbClr val="15232A"/>
                </a:solidFill>
                <a:latin typeface="Calibri"/>
              </a:rPr>
              <a:t>60-min MAE, mg/dL, held-out patients</a:t>
            </a:r>
          </a:p>
        </c:rich>
      </c:tx>
      <c:layout/>
      <c:overlay val="0"/>
    </c:title>
    <c:autoTitleDeleted val="0"/>
    <c:plotArea>
      <c:layout/>
      <c:barChart>
        <c:barDir val="col"/>
        <c:grouping val="clustered"/>
        <c:varyColors val="0"/>
        <c:ser>
          <c:idx val="0"/>
          <c:order val="0"/>
          <c:tx>
            <c:strRef>
              <c:f>Sheet1!$B$1</c:f>
              <c:strCache>
                <c:ptCount val="1"/>
                <c:pt idx="0">
                  <c:v>60-min MAE</c:v>
                </c:pt>
              </c:strCache>
            </c:strRef>
          </c:tx>
          <c:spPr>
            <a:solidFill>
              <a:srgbClr val="5AA3B5"/>
            </a:solidFill>
            <a:effectLst/>
          </c:spPr>
          <c:invertIfNegative val="0"/>
          <c:dLbls>
            <c:numFmt formatCode="0.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dPt>
            <c:idx val="0"/>
            <c:invertIfNegative val="0"/>
            <c:bubble3D val="0"/>
            <c:spPr>
              <a:solidFill>
                <a:srgbClr val="5AA3B5"/>
              </a:solidFill>
              <a:effectLst/>
            </c:spPr>
          </c:dPt>
          <c:dPt>
            <c:idx val="1"/>
            <c:invertIfNegative val="0"/>
            <c:bubble3D val="0"/>
            <c:spPr>
              <a:solidFill>
                <a:srgbClr val="5AA3B5"/>
              </a:solidFill>
              <a:effectLst/>
            </c:spPr>
          </c:dPt>
          <c:dPt>
            <c:idx val="2"/>
            <c:invertIfNegative val="0"/>
            <c:bubble3D val="0"/>
            <c:spPr>
              <a:solidFill>
                <a:srgbClr val="5AA3B5"/>
              </a:solidFill>
              <a:effectLst/>
            </c:spPr>
          </c:dPt>
          <c:dPt>
            <c:idx val="3"/>
            <c:invertIfNegative val="0"/>
            <c:bubble3D val="0"/>
            <c:spPr>
              <a:solidFill>
                <a:srgbClr val="0D5F73"/>
              </a:solidFill>
              <a:effectLst/>
            </c:spPr>
          </c:dPt>
          <c:dPt>
            <c:idx val="4"/>
            <c:invertIfNegative val="0"/>
            <c:bubble3D val="0"/>
            <c:spPr>
              <a:solidFill>
                <a:srgbClr val="0D5F73"/>
              </a:solidFill>
              <a:effectLst/>
            </c:spPr>
          </c:dPt>
          <c:cat>
            <c:multiLvlStrRef>
              <c:f>Sheet1!$A$2:$A$6</c:f>
              <c:multiLvlStrCache>
                <c:ptCount val="5"/>
                <c:lvl>
                  <c:pt idx="0">
                    <c:v>CGM only</c:v>
                  </c:pt>
                  <c:pt idx="1">
                    <c:v>+ meal and drug logs</c:v>
                  </c:pt>
                  <c:pt idx="2">
                    <c:v>+ clinical record</c:v>
                  </c:pt>
                  <c:pt idx="3">
                    <c:v>+ personal history</c:v>
                  </c:pt>
                  <c:pt idx="4">
                    <c:v>+ online self-correction</c:v>
                  </c:pt>
                </c:lvl>
              </c:multiLvlStrCache>
            </c:multiLvlStrRef>
          </c:cat>
          <c:val>
            <c:numRef>
              <c:f>Sheet1!$B$2:$B$6</c:f>
              <c:numCache>
                <c:formatCode>General</c:formatCode>
                <c:ptCount val="5"/>
                <c:pt idx="0">
                  <c:v>16.09</c:v>
                </c:pt>
                <c:pt idx="1">
                  <c:v>15.73</c:v>
                </c:pt>
                <c:pt idx="2">
                  <c:v>15.79</c:v>
                </c:pt>
                <c:pt idx="3">
                  <c:v>14.76</c:v>
                </c:pt>
                <c:pt idx="4">
                  <c:v>14.74</c:v>
                </c:pt>
              </c:numCache>
            </c:numRef>
          </c:val>
        </c:ser>
        <c:dLbls>
          <c:numFmt formatCode="0.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6676F"/>
                </a:solidFill>
                <a:latin typeface="Calibri"/>
              </a:defRPr>
            </a:pPr>
            <a:endParaRPr lang="en-US"/>
          </a:p>
        </c:txPr>
        <c:crossAx val="2094734552"/>
        <c:crosses val="autoZero"/>
        <c:auto val="1"/>
        <c:lblAlgn val="ctr"/>
        <c:noMultiLvlLbl val="1"/>
      </c:catAx>
      <c:valAx>
        <c:axId val="2094734552"/>
        <c:scaling>
          <c:orientation val="minMax"/>
          <c:max val="16.5"/>
          <c:min val="13"/>
        </c:scaling>
        <c:delete val="0"/>
        <c:axPos val="l"/>
        <c:majorGridlines>
          <c:spPr>
            <a:ln w="6350" cap="flat">
              <a:solidFill>
                <a:srgbClr val="E3E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76F"/>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32A"/>
                </a:solidFill>
                <a:latin typeface="Calibri"/>
              </a:defRPr>
            </a:pPr>
            <a:r>
              <a:rPr sz="1300" b="0" i="0" u="none" strike="noStrike">
                <a:solidFill>
                  <a:srgbClr val="15232A"/>
                </a:solidFill>
                <a:latin typeface="Calibri"/>
              </a:rPr>
              <a:t>CGMacros, 60-min MAE, mg/dL</a:t>
            </a:r>
          </a:p>
        </c:rich>
      </c:tx>
      <c:layout/>
      <c:overlay val="0"/>
    </c:title>
    <c:autoTitleDeleted val="0"/>
    <c:plotArea>
      <c:layout/>
      <c:barChart>
        <c:barDir val="col"/>
        <c:grouping val="clustered"/>
        <c:varyColors val="0"/>
        <c:ser>
          <c:idx val="0"/>
          <c:order val="0"/>
          <c:tx>
            <c:strRef>
              <c:f>Sheet1!$B$1</c:f>
              <c:strCache>
                <c:ptCount val="1"/>
                <c:pt idx="0">
                  <c:v>Last value carried forward</c:v>
                </c:pt>
              </c:strCache>
            </c:strRef>
          </c:tx>
          <c:spPr>
            <a:solidFill>
              <a:srgbClr val="9AA9B1"/>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T2D</c:v>
                  </c:pt>
                  <c:pt idx="1">
                    <c:v>Prediabetes</c:v>
                  </c:pt>
                  <c:pt idx="2">
                    <c:v>Healthy</c:v>
                  </c:pt>
                </c:lvl>
              </c:multiLvlStrCache>
            </c:multiLvlStrRef>
          </c:cat>
          <c:val>
            <c:numRef>
              <c:f>Sheet1!$B$2:$B$4</c:f>
              <c:numCache>
                <c:formatCode>General</c:formatCode>
                <c:ptCount val="3"/>
                <c:pt idx="0">
                  <c:v>22.4</c:v>
                </c:pt>
                <c:pt idx="1">
                  <c:v>17</c:v>
                </c:pt>
                <c:pt idx="2">
                  <c:v>12.5</c:v>
                </c:pt>
              </c:numCache>
            </c:numRef>
          </c:val>
        </c:ser>
        <c:ser>
          <c:idx val="1"/>
          <c:order val="1"/>
          <c:tx>
            <c:strRef>
              <c:f>Sheet1!$C$1</c:f>
              <c:strCache>
                <c:ptCount val="1"/>
                <c:pt idx="0">
                  <c:v>Pratirup (frozen, trained in Shanghai)</c:v>
                </c:pt>
              </c:strCache>
            </c:strRef>
          </c:tx>
          <c:spPr>
            <a:solidFill>
              <a:srgbClr val="0D5F73"/>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T2D</c:v>
                  </c:pt>
                  <c:pt idx="1">
                    <c:v>Prediabetes</c:v>
                  </c:pt>
                  <c:pt idx="2">
                    <c:v>Healthy</c:v>
                  </c:pt>
                </c:lvl>
              </c:multiLvlStrCache>
            </c:multiLvlStrRef>
          </c:cat>
          <c:val>
            <c:numRef>
              <c:f>Sheet1!$C$2:$C$4</c:f>
              <c:numCache>
                <c:formatCode>General</c:formatCode>
                <c:ptCount val="3"/>
                <c:pt idx="0">
                  <c:v>16.9</c:v>
                </c:pt>
                <c:pt idx="1">
                  <c:v>14.1</c:v>
                </c:pt>
                <c:pt idx="2">
                  <c:v>12.3</c:v>
                </c:pt>
              </c:numCache>
            </c:numRef>
          </c:val>
        </c:ser>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6676F"/>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76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523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product. Pratirup keeps a continuously updated model of each patient that combines the clinical record with the CGM stream, forecasts the next 30 to 60 minutes, warns of excursions with measured uncertainty, and scores itself against what actually happens. Say up front that it is a research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on one slide. The three numbers are from the locked test set. Everything on the following slides supports or qualifies these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Anjana et al., Lancet Diabetes Endocrinol 2023 and 2022; Battelino et al., Diabetes Care 2019. The ADA 2026 Standards (Rec 7.15) recommend CGM for people with T2D on insulin, and for T2D on other drugs where CGM helps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with the jury: Roche already ships a 2-hour forecast to patients. Our contribution is the clinician-facing twin with record fusion, triage, explanations and a self-scoring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 thresholds come from the international consensus on time in range and were fixed before any model was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dashboard with a model computes a score once. The twin keeps state, updates it every 15 minutes, and learns how wrong it has been for this specific patient. The parity test in the repo checks that the streaming implementation reproduces the benchmarked one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stream: the de-identified clinical record as FHIR R4. Dynamic stream: real CGM and timed logs, replayed or streamed. The engine holds the state; FastAPI and SQLite persist it; the React app is the clinician interface. Evaluation and CGMacros external validation are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allows simulated EHRs, but a real linked record is stronger evidence of fusion than a synthetic record joined to a stranger's CGM.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protocol is what makes the numbers believable. Nothing was tuned on the test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differences mean Pratirup is better. The 120-minute horizon answers the brief's '2 hours in advance' example directly: it is better than the baselines, but its error is large, so we keep it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y-axis starts at 13 mg/dL so the differences are visible; the values are labelled. The record still drives triage, display and subgroup context, but it did not improve short-horizon accuracy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is the share of real outcomes that fell inside the stated 80% interval on unseen patients. Close to 80% means the uncertainty shown on screen 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Sensitivity is per episode. The ≥ 30 min column is the clinically useful one: many detections otherwise come only 15 minutes ahead. AUPRC should be compared with prevalence, which is the score of a random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was frozen; CGMacros was never used to train or tune it. CGMacros is CC BY-NC-SA and is downloaded by script, not redistributed.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demo here. Every value on screen carries its provenance: research record, replayed CGM, model forecast, sensitivity, or live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this ourselves is part of the pitch: every limitation here was found by our own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demand and willingness to pay are hypotheses. The next step is evidence, not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on the protocol, the twin state, or the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rgbClr val="15232A"/>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9144000" cy="274320"/>
          </a:xfrm>
          <a:prstGeom prst="rect">
            <a:avLst/>
          </a:prstGeom>
          <a:noFill/>
          <a:ln/>
        </p:spPr>
        <p:txBody>
          <a:bodyPr wrap="square" lIns="0" tIns="0" rIns="0" bIns="0" rtlCol="0" anchor="ctr"/>
          <a:lstStyle/>
          <a:p>
            <a:pPr indent="0" marL="0">
              <a:buNone/>
            </a:pPr>
            <a:r>
              <a:rPr lang="en-US" sz="900" dirty="0">
                <a:solidFill>
                  <a:srgbClr val="56676F"/>
                </a:solidFill>
                <a:latin typeface="Calibri" pitchFamily="34" charset="0"/>
                <a:ea typeface="Calibri" pitchFamily="34" charset="-122"/>
                <a:cs typeface="Calibri" pitchFamily="34" charset="-120"/>
              </a:rPr>
              <a:t>Pratirup · Team Aflatoon · Scaler School of Technology · research prototype, not a medical device</a:t>
            </a:r>
            <a:endParaRPr lang="en-US" sz="9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A3B4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188720"/>
          </a:xfrm>
          <a:prstGeom prst="rect">
            <a:avLst/>
          </a:prstGeom>
          <a:noFill/>
          <a:ln/>
        </p:spPr>
        <p:txBody>
          <a:bodyPr wrap="square" rtlCol="0"/>
          <a:lstStyle>
            <a:lvl1pPr algn="l" indent="0" marL="0">
              <a:buNone/>
              <a:defRPr lang="en-US" sz="54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188720"/>
          </a:xfrm>
          <a:prstGeom prst="rect">
            <a:avLst/>
          </a:prstGeom>
          <a:noFill/>
          <a:ln/>
        </p:spPr>
        <p:txBody>
          <a:bodyPr wrap="square" lIns="0" tIns="0" rIns="0" bIns="0" rtlCol="0" anchor="b"/>
          <a:lstStyle/>
          <a:p>
            <a:pPr algn="l" indent="0" marL="0">
              <a:buNone/>
            </a:pPr>
            <a:r>
              <a:rPr lang="en-US" sz="5400" b="1" dirty="0">
                <a:solidFill>
                  <a:srgbClr val="FFFFFF"/>
                </a:solidFill>
                <a:latin typeface="Cambria" pitchFamily="34" charset="0"/>
                <a:ea typeface="Cambria" pitchFamily="34" charset="-122"/>
                <a:cs typeface="Cambria" pitchFamily="34" charset="-120"/>
              </a:rPr>
              <a:t>Pratirup</a:t>
            </a:r>
            <a:endParaRPr lang="en-US" sz="5400" dirty="0"/>
          </a:p>
        </p:txBody>
      </p:sp>
      <p:sp>
        <p:nvSpPr>
          <p:cNvPr id="3" name="Text 1"/>
          <p:cNvSpPr txBox="1"/>
          <p:nvPr/>
        </p:nvSpPr>
        <p:spPr>
          <a:xfrm>
            <a:off x="731520" y="3291840"/>
            <a:ext cx="10515600" cy="548640"/>
          </a:xfrm>
          <a:prstGeom prst="rect">
            <a:avLst/>
          </a:prstGeom>
          <a:noFill/>
          <a:ln/>
        </p:spPr>
        <p:txBody>
          <a:bodyPr wrap="square" lIns="0" tIns="0" rIns="0" bIns="0" rtlCol="0" anchor="t"/>
          <a:lstStyle/>
          <a:p>
            <a:pPr indent="0" marL="0">
              <a:buNone/>
            </a:pPr>
            <a:r>
              <a:rPr lang="en-US" sz="2400" dirty="0">
                <a:solidFill>
                  <a:srgbClr val="D7E9EE"/>
                </a:solidFill>
                <a:latin typeface="Cambria" pitchFamily="34" charset="0"/>
                <a:ea typeface="Cambria" pitchFamily="34" charset="-122"/>
                <a:cs typeface="Cambria" pitchFamily="34" charset="-120"/>
              </a:rPr>
              <a:t>A glucose digital twin for type 2 diabetes care teams</a:t>
            </a:r>
            <a:endParaRPr lang="en-US" sz="2400" dirty="0"/>
          </a:p>
        </p:txBody>
      </p:sp>
      <p:sp>
        <p:nvSpPr>
          <p:cNvPr id="4" name="Text 2"/>
          <p:cNvSpPr txBox="1"/>
          <p:nvPr/>
        </p:nvSpPr>
        <p:spPr>
          <a:xfrm>
            <a:off x="731520" y="3886200"/>
            <a:ext cx="10515600" cy="365760"/>
          </a:xfrm>
          <a:prstGeom prst="rect">
            <a:avLst/>
          </a:prstGeom>
          <a:noFill/>
          <a:ln/>
        </p:spPr>
        <p:txBody>
          <a:bodyPr wrap="square" lIns="0" tIns="0" rIns="0" bIns="0" rtlCol="0" anchor="t"/>
          <a:lstStyle/>
          <a:p>
            <a:pPr indent="0" marL="0">
              <a:buNone/>
            </a:pPr>
            <a:r>
              <a:rPr lang="en-US" sz="1500" i="1" dirty="0">
                <a:solidFill>
                  <a:srgbClr val="9CC3CD"/>
                </a:solidFill>
                <a:latin typeface="Calibri" pitchFamily="34" charset="0"/>
                <a:ea typeface="Calibri" pitchFamily="34" charset="-122"/>
                <a:cs typeface="Calibri" pitchFamily="34" charset="-120"/>
              </a:rPr>
              <a:t>प्रतिरूप (pratirūp): counterpart, likeness</a:t>
            </a:r>
            <a:endParaRPr lang="en-US" sz="1500" dirty="0"/>
          </a:p>
        </p:txBody>
      </p:sp>
      <p:sp>
        <p:nvSpPr>
          <p:cNvPr id="5" name="Text 3"/>
          <p:cNvSpPr txBox="1"/>
          <p:nvPr/>
        </p:nvSpPr>
        <p:spPr>
          <a:xfrm>
            <a:off x="731520" y="4800600"/>
            <a:ext cx="10515600" cy="10058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Team Aflatoon · Scaler School of Technology, Bengaluru</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Dhruv Sharma · Pratyush Mishra · Anushika Chauhan</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Happiest Health Digital Twin Challenge 2026</a:t>
            </a:r>
            <a:endParaRPr lang="en-US" sz="1500" dirty="0"/>
          </a:p>
        </p:txBody>
      </p:sp>
      <p:sp>
        <p:nvSpPr>
          <p:cNvPr id="6" name="Text 4"/>
          <p:cNvSpPr txBox="1"/>
          <p:nvPr/>
        </p:nvSpPr>
        <p:spPr>
          <a:xfrm>
            <a:off x="731520" y="6172200"/>
            <a:ext cx="10515600" cy="320040"/>
          </a:xfrm>
          <a:prstGeom prst="rect">
            <a:avLst/>
          </a:prstGeom>
          <a:noFill/>
          <a:ln/>
        </p:spPr>
        <p:txBody>
          <a:bodyPr wrap="square" lIns="0" tIns="0" rIns="0" bIns="0" rtlCol="0" anchor="t"/>
          <a:lstStyle/>
          <a:p>
            <a:pPr indent="0" marL="0">
              <a:buNone/>
            </a:pPr>
            <a:r>
              <a:rPr lang="en-US" sz="1100" dirty="0">
                <a:solidFill>
                  <a:srgbClr val="9CC3CD"/>
                </a:solidFill>
                <a:latin typeface="Calibri" pitchFamily="34" charset="0"/>
                <a:ea typeface="Calibri" pitchFamily="34" charset="-122"/>
                <a:cs typeface="Calibri" pitchFamily="34" charset="-120"/>
              </a:rPr>
              <a:t>Research prototype. Not a medical device. All results are retrospective, on open research data.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What we built and what it achieves</a:t>
            </a:r>
            <a:endParaRPr lang="en-US" sz="3000" dirty="0"/>
          </a:p>
        </p:txBody>
      </p:sp>
      <p:sp>
        <p:nvSpPr>
          <p:cNvPr id="3" name="Text 1"/>
          <p:cNvSpPr txBox="1"/>
          <p:nvPr/>
        </p:nvSpPr>
        <p:spPr>
          <a:xfrm>
            <a:off x="548640" y="1371600"/>
            <a:ext cx="356616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−26%</a:t>
            </a:r>
            <a:endParaRPr lang="en-US" sz="4400" dirty="0"/>
          </a:p>
        </p:txBody>
      </p:sp>
      <p:sp>
        <p:nvSpPr>
          <p:cNvPr id="4" name="Text 2"/>
          <p:cNvSpPr txBox="1"/>
          <p:nvPr/>
        </p:nvSpPr>
        <p:spPr>
          <a:xfrm>
            <a:off x="548640" y="2286000"/>
            <a:ext cx="356616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60-min forecast error vs last value carried forward on 20 unseen patients (95% CI -6.46 to -4.24 mg/dL)</a:t>
            </a:r>
            <a:endParaRPr lang="en-US" sz="1300" dirty="0"/>
          </a:p>
        </p:txBody>
      </p:sp>
      <p:sp>
        <p:nvSpPr>
          <p:cNvPr id="5" name="Text 3"/>
          <p:cNvSpPr txBox="1"/>
          <p:nvPr/>
        </p:nvSpPr>
        <p:spPr>
          <a:xfrm>
            <a:off x="4297680" y="1371600"/>
            <a:ext cx="356616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81%</a:t>
            </a:r>
            <a:endParaRPr lang="en-US" sz="4400" dirty="0"/>
          </a:p>
        </p:txBody>
      </p:sp>
      <p:sp>
        <p:nvSpPr>
          <p:cNvPr id="6" name="Text 4"/>
          <p:cNvSpPr txBox="1"/>
          <p:nvPr/>
        </p:nvSpPr>
        <p:spPr>
          <a:xfrm>
            <a:off x="4297680" y="2286000"/>
            <a:ext cx="356616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outcomes fell inside the 80% prediction interval (60 min): the stated uncertainty is honest</a:t>
            </a:r>
            <a:endParaRPr lang="en-US" sz="1300" dirty="0"/>
          </a:p>
        </p:txBody>
      </p:sp>
      <p:sp>
        <p:nvSpPr>
          <p:cNvPr id="7" name="Text 5"/>
          <p:cNvSpPr txBox="1"/>
          <p:nvPr/>
        </p:nvSpPr>
        <p:spPr>
          <a:xfrm>
            <a:off x="8046720" y="1371600"/>
            <a:ext cx="356616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65%</a:t>
            </a:r>
            <a:endParaRPr lang="en-US" sz="4400" dirty="0"/>
          </a:p>
        </p:txBody>
      </p:sp>
      <p:sp>
        <p:nvSpPr>
          <p:cNvPr id="8" name="Text 6"/>
          <p:cNvSpPr txBox="1"/>
          <p:nvPr/>
        </p:nvSpPr>
        <p:spPr>
          <a:xfrm>
            <a:off x="8046720" y="2286000"/>
            <a:ext cx="356616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rises above 180 mg/dL flagged ≥ 30 min ahead, at 1.51 false alerts per patient-day</a:t>
            </a:r>
            <a:endParaRPr lang="en-US" sz="1300" dirty="0"/>
          </a:p>
        </p:txBody>
      </p:sp>
      <p:sp>
        <p:nvSpPr>
          <p:cNvPr id="9" name="Text 7"/>
          <p:cNvSpPr txBox="1"/>
          <p:nvPr/>
        </p:nvSpPr>
        <p:spPr>
          <a:xfrm>
            <a:off x="548640" y="3749040"/>
            <a:ext cx="11064240" cy="24688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A per-patient twin: clinical record + CGM + medication and meal logs, updated on every reading, scoring every forecast when its outcome arrives</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A clinician worklist, an explainable patient view, a forecast ledger, a what-if labelled as associational, live streaming, FHIR R4 records</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Validated twice: held-out ShanghaiT2DM patients (scored once, locked) and an external US cohort (CGMacros): 60-min MAE 16.9 vs 22.4 mg/dL in T2D</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Open: code, trained models, data pipeline and the scripts that regenerate every number on these slides</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Diabetes in India is common and poorly controlled</a:t>
            </a:r>
            <a:endParaRPr lang="en-US" sz="3000" dirty="0"/>
          </a:p>
        </p:txBody>
      </p:sp>
      <p:sp>
        <p:nvSpPr>
          <p:cNvPr id="3" name="Text 1"/>
          <p:cNvSpPr txBox="1"/>
          <p:nvPr/>
        </p:nvSpPr>
        <p:spPr>
          <a:xfrm>
            <a:off x="548640" y="1325880"/>
            <a:ext cx="274320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101 M</a:t>
            </a:r>
            <a:endParaRPr lang="en-US" sz="4400" dirty="0"/>
          </a:p>
        </p:txBody>
      </p:sp>
      <p:sp>
        <p:nvSpPr>
          <p:cNvPr id="4" name="Text 2"/>
          <p:cNvSpPr txBox="1"/>
          <p:nvPr/>
        </p:nvSpPr>
        <p:spPr>
          <a:xfrm>
            <a:off x="548640" y="2240280"/>
            <a:ext cx="274320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adults with diabetes in India (ICMR-INDIAB-17, 2023)</a:t>
            </a:r>
            <a:endParaRPr lang="en-US" sz="1300" dirty="0"/>
          </a:p>
        </p:txBody>
      </p:sp>
      <p:sp>
        <p:nvSpPr>
          <p:cNvPr id="5" name="Text 3"/>
          <p:cNvSpPr txBox="1"/>
          <p:nvPr/>
        </p:nvSpPr>
        <p:spPr>
          <a:xfrm>
            <a:off x="3474720" y="1325880"/>
            <a:ext cx="274320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136 M</a:t>
            </a:r>
            <a:endParaRPr lang="en-US" sz="4400" dirty="0"/>
          </a:p>
        </p:txBody>
      </p:sp>
      <p:sp>
        <p:nvSpPr>
          <p:cNvPr id="6" name="Text 4"/>
          <p:cNvSpPr txBox="1"/>
          <p:nvPr/>
        </p:nvSpPr>
        <p:spPr>
          <a:xfrm>
            <a:off x="3474720" y="2240280"/>
            <a:ext cx="274320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with prediabetes (same survey)</a:t>
            </a:r>
            <a:endParaRPr lang="en-US" sz="1300" dirty="0"/>
          </a:p>
        </p:txBody>
      </p:sp>
      <p:sp>
        <p:nvSpPr>
          <p:cNvPr id="7" name="Text 5"/>
          <p:cNvSpPr txBox="1"/>
          <p:nvPr/>
        </p:nvSpPr>
        <p:spPr>
          <a:xfrm>
            <a:off x="6400800" y="1325880"/>
            <a:ext cx="2743200" cy="868680"/>
          </a:xfrm>
          <a:prstGeom prst="rect">
            <a:avLst/>
          </a:prstGeom>
          <a:noFill/>
          <a:ln/>
        </p:spPr>
        <p:txBody>
          <a:bodyPr wrap="square" lIns="0" tIns="0" rIns="0" bIns="0" rtlCol="0" anchor="b"/>
          <a:lstStyle/>
          <a:p>
            <a:pPr indent="0" marL="0">
              <a:buNone/>
            </a:pPr>
            <a:r>
              <a:rPr lang="en-US" sz="4400" b="1" dirty="0">
                <a:solidFill>
                  <a:srgbClr val="C0392B"/>
                </a:solidFill>
                <a:latin typeface="Cambria" pitchFamily="34" charset="0"/>
                <a:ea typeface="Cambria" pitchFamily="34" charset="-122"/>
                <a:cs typeface="Cambria" pitchFamily="34" charset="-120"/>
              </a:rPr>
              <a:t>36%</a:t>
            </a:r>
            <a:endParaRPr lang="en-US" sz="4400" dirty="0"/>
          </a:p>
        </p:txBody>
      </p:sp>
      <p:sp>
        <p:nvSpPr>
          <p:cNvPr id="8" name="Text 6"/>
          <p:cNvSpPr txBox="1"/>
          <p:nvPr/>
        </p:nvSpPr>
        <p:spPr>
          <a:xfrm>
            <a:off x="6400800" y="2240280"/>
            <a:ext cx="274320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people with diagnosed diabetes reach HbA1c &lt; 7% (ICMR-INDIAB-13, 2022)</a:t>
            </a:r>
            <a:endParaRPr lang="en-US" sz="1300" dirty="0"/>
          </a:p>
        </p:txBody>
      </p:sp>
      <p:sp>
        <p:nvSpPr>
          <p:cNvPr id="9" name="Text 7"/>
          <p:cNvSpPr txBox="1"/>
          <p:nvPr/>
        </p:nvSpPr>
        <p:spPr>
          <a:xfrm>
            <a:off x="9326880" y="1325880"/>
            <a:ext cx="2377440" cy="868680"/>
          </a:xfrm>
          <a:prstGeom prst="rect">
            <a:avLst/>
          </a:prstGeom>
          <a:noFill/>
          <a:ln/>
        </p:spPr>
        <p:txBody>
          <a:bodyPr wrap="square" lIns="0" tIns="0" rIns="0" bIns="0" rtlCol="0" anchor="b"/>
          <a:lstStyle/>
          <a:p>
            <a:pPr indent="0" marL="0">
              <a:buNone/>
            </a:pPr>
            <a:r>
              <a:rPr lang="en-US" sz="4400" b="1" dirty="0">
                <a:solidFill>
                  <a:srgbClr val="C98A00"/>
                </a:solidFill>
                <a:latin typeface="Cambria" pitchFamily="34" charset="0"/>
                <a:ea typeface="Cambria" pitchFamily="34" charset="-122"/>
                <a:cs typeface="Cambria" pitchFamily="34" charset="-120"/>
              </a:rPr>
              <a:t>&lt; 25%</a:t>
            </a:r>
            <a:endParaRPr lang="en-US" sz="4400" dirty="0"/>
          </a:p>
        </p:txBody>
      </p:sp>
      <p:sp>
        <p:nvSpPr>
          <p:cNvPr id="10" name="Text 8"/>
          <p:cNvSpPr txBox="1"/>
          <p:nvPr/>
        </p:nvSpPr>
        <p:spPr>
          <a:xfrm>
            <a:off x="9326880" y="2240280"/>
            <a:ext cx="237744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consensus target for time above 180 mg/dL (Battelino 2019)</a:t>
            </a:r>
            <a:endParaRPr lang="en-US" sz="1300" dirty="0"/>
          </a:p>
        </p:txBody>
      </p:sp>
      <p:sp>
        <p:nvSpPr>
          <p:cNvPr id="11" name="Shape 9"/>
          <p:cNvSpPr/>
          <p:nvPr/>
        </p:nvSpPr>
        <p:spPr>
          <a:xfrm>
            <a:off x="548640" y="3794760"/>
            <a:ext cx="5394960" cy="1828800"/>
          </a:xfrm>
          <a:prstGeom prst="roundRect">
            <a:avLst>
              <a:gd name="adj" fmla="val 4000"/>
            </a:avLst>
          </a:prstGeom>
          <a:solidFill>
            <a:srgbClr val="F3F6F7"/>
          </a:solidFill>
          <a:ln w="12700">
            <a:solidFill>
              <a:srgbClr val="F3F6F7"/>
            </a:solidFill>
            <a:prstDash val="solid"/>
          </a:ln>
        </p:spPr>
      </p:sp>
      <p:sp>
        <p:nvSpPr>
          <p:cNvPr id="12" name="Text 10"/>
          <p:cNvSpPr txBox="1"/>
          <p:nvPr/>
        </p:nvSpPr>
        <p:spPr>
          <a:xfrm>
            <a:off x="749808" y="395935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How CGM is reviewed today</a:t>
            </a:r>
            <a:endParaRPr lang="en-US" sz="1500" dirty="0"/>
          </a:p>
        </p:txBody>
      </p:sp>
      <p:sp>
        <p:nvSpPr>
          <p:cNvPr id="13" name="Text 11"/>
          <p:cNvSpPr txBox="1"/>
          <p:nvPr/>
        </p:nvSpPr>
        <p:spPr>
          <a:xfrm>
            <a:off x="749808" y="4361688"/>
            <a:ext cx="499262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CGM use is growing in India through clinic-placed and short-term sensors. Clinicians review an ambulatory glucose profile after the fact, at a visit, separately from labs, complications and the drug regimen.</a:t>
            </a:r>
            <a:endParaRPr lang="en-US" sz="1300" dirty="0"/>
          </a:p>
        </p:txBody>
      </p:sp>
      <p:sp>
        <p:nvSpPr>
          <p:cNvPr id="14" name="Shape 12"/>
          <p:cNvSpPr/>
          <p:nvPr/>
        </p:nvSpPr>
        <p:spPr>
          <a:xfrm>
            <a:off x="6217920" y="3794760"/>
            <a:ext cx="5394960" cy="1828800"/>
          </a:xfrm>
          <a:prstGeom prst="roundRect">
            <a:avLst>
              <a:gd name="adj" fmla="val 4000"/>
            </a:avLst>
          </a:prstGeom>
          <a:solidFill>
            <a:srgbClr val="F3F6F7"/>
          </a:solidFill>
          <a:ln w="12700">
            <a:solidFill>
              <a:srgbClr val="F3F6F7"/>
            </a:solidFill>
            <a:prstDash val="solid"/>
          </a:ln>
        </p:spPr>
      </p:sp>
      <p:sp>
        <p:nvSpPr>
          <p:cNvPr id="15" name="Text 13"/>
          <p:cNvSpPr txBox="1"/>
          <p:nvPr/>
        </p:nvSpPr>
        <p:spPr>
          <a:xfrm>
            <a:off x="6419088" y="395935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The gap we address</a:t>
            </a:r>
            <a:endParaRPr lang="en-US" sz="1500" dirty="0"/>
          </a:p>
        </p:txBody>
      </p:sp>
      <p:sp>
        <p:nvSpPr>
          <p:cNvPr id="16" name="Text 14"/>
          <p:cNvSpPr txBox="1"/>
          <p:nvPr/>
        </p:nvSpPr>
        <p:spPr>
          <a:xfrm>
            <a:off x="6419088" y="4361688"/>
            <a:ext cx="499262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Nothing in a typical review combines the record with the live stream, tells the care team who is likely to go high or low in the next hour, or shows how trustworthy such a forecast has been for this patient.</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Forecasting already exists. What is still missing</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743200"/>
                <a:gridCol w="3840480"/>
                <a:gridCol w="2103120"/>
                <a:gridCol w="2377440"/>
              </a:tblGrid>
              <a:tr h="475488">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Product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What it predicts</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Who sees it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Uses clinical record?</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r>
              <a:tr h="475488">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Dexcom G7</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Urgent low within 20 min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Patient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Medtronic Guardian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High / low up to 60 min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Patient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Roche Accu-Chek SmartGuide</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Low in 30 min, 2-h trajectory, night low</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Patient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No (CGM + logged carbs, insulin)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LibreView, Dexcom Clarity, Glooko</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Retrospective reports</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Clinician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0D5F73"/>
                          </a:solidFill>
                          <a:latin typeface="Calibri" pitchFamily="34" charset="0"/>
                          <a:ea typeface="Calibri" pitchFamily="34" charset="-122"/>
                          <a:cs typeface="Calibri" pitchFamily="34" charset="-120"/>
                        </a:rPr>
                        <a:t>Pratirup</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300" b="1" dirty="0">
                          <a:solidFill>
                            <a:srgbClr val="0D5F73"/>
                          </a:solidFill>
                          <a:latin typeface="Calibri" pitchFamily="34" charset="0"/>
                          <a:ea typeface="Calibri" pitchFamily="34" charset="-122"/>
                          <a:cs typeface="Calibri" pitchFamily="34" charset="-120"/>
                        </a:rPr>
                        <a:t>+30 / +60 min (+120 exploratory), P(&gt;180, &gt;250, &lt;70 in 60 min)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300" b="1" dirty="0">
                          <a:solidFill>
                            <a:srgbClr val="0D5F73"/>
                          </a:solidFill>
                          <a:latin typeface="Calibri" pitchFamily="34" charset="0"/>
                          <a:ea typeface="Calibri" pitchFamily="34" charset="-122"/>
                          <a:cs typeface="Calibri" pitchFamily="34" charset="-120"/>
                        </a:rPr>
                        <a:t>Care team, ranked panel</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300" b="1" dirty="0">
                          <a:solidFill>
                            <a:srgbClr val="0D5F73"/>
                          </a:solidFill>
                          <a:latin typeface="Calibri" pitchFamily="34" charset="0"/>
                          <a:ea typeface="Calibri" pitchFamily="34" charset="-122"/>
                          <a:cs typeface="Calibri" pitchFamily="34" charset="-120"/>
                        </a:rPr>
                        <a:t>Yes, plus own error history</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r>
            </a:tbl>
          </a:graphicData>
        </a:graphic>
      </p:graphicFrame>
      <p:sp>
        <p:nvSpPr>
          <p:cNvPr id="4" name="Text 1"/>
          <p:cNvSpPr txBox="1"/>
          <p:nvPr/>
        </p:nvSpPr>
        <p:spPr>
          <a:xfrm>
            <a:off x="548640" y="4572000"/>
            <a:ext cx="11064240" cy="822960"/>
          </a:xfrm>
          <a:prstGeom prst="rect">
            <a:avLst/>
          </a:prstGeom>
          <a:noFill/>
          <a:ln/>
        </p:spPr>
        <p:txBody>
          <a:bodyPr wrap="square" lIns="0" tIns="0" rIns="0" bIns="0" rtlCol="0" anchor="t"/>
          <a:lstStyle/>
          <a:p>
            <a:pPr indent="0" marL="0">
              <a:buNone/>
            </a:pPr>
            <a:r>
              <a:rPr lang="en-US" sz="1600" dirty="0">
                <a:solidFill>
                  <a:srgbClr val="15232A"/>
                </a:solidFill>
                <a:latin typeface="Calibri" pitchFamily="34" charset="0"/>
                <a:ea typeface="Calibri" pitchFamily="34" charset="-122"/>
                <a:cs typeface="Calibri" pitchFamily="34" charset="-120"/>
              </a:rPr>
              <a:t>We do not claim forecasting as our novelty. What we did not find is a clinician-facing view that fuses the record, ranks a panel by imminent risk, explains each forecast and keeps a running score of its own accuracy.</a:t>
            </a:r>
            <a:endParaRPr lang="en-US" sz="1600" dirty="0"/>
          </a:p>
        </p:txBody>
      </p:sp>
      <p:sp>
        <p:nvSpPr>
          <p:cNvPr id="5" name="Text 2"/>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100" dirty="0">
                <a:solidFill>
                  <a:srgbClr val="56676F"/>
                </a:solidFill>
                <a:latin typeface="Calibri" pitchFamily="34" charset="0"/>
                <a:ea typeface="Calibri" pitchFamily="34" charset="-122"/>
                <a:cs typeface="Calibri" pitchFamily="34" charset="-120"/>
              </a:rPr>
              <a:t>Sources: vendor documentation (Dexcom, Medtronic, Roche, Glooko), read Oct 2026. Vendor claims are not independent evidence of clinical benefit.</a:t>
            </a:r>
            <a:endParaRPr lang="en-US" sz="11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Use case: a care team running a 14-day CGM programme</a:t>
            </a:r>
            <a:endParaRPr lang="en-US" sz="3000" dirty="0"/>
          </a:p>
        </p:txBody>
      </p:sp>
      <p:sp>
        <p:nvSpPr>
          <p:cNvPr id="3" name="Shape 1"/>
          <p:cNvSpPr/>
          <p:nvPr/>
        </p:nvSpPr>
        <p:spPr>
          <a:xfrm>
            <a:off x="1325880" y="1417320"/>
            <a:ext cx="548640" cy="548640"/>
          </a:xfrm>
          <a:prstGeom prst="ellipse">
            <a:avLst/>
          </a:prstGeom>
          <a:solidFill>
            <a:srgbClr val="0D5F73"/>
          </a:solidFill>
          <a:ln w="12700">
            <a:solidFill>
              <a:srgbClr val="0D5F73"/>
            </a:solidFill>
            <a:prstDash val="solid"/>
          </a:ln>
        </p:spPr>
      </p:sp>
      <p:sp>
        <p:nvSpPr>
          <p:cNvPr id="4" name="Text 2"/>
          <p:cNvSpPr txBox="1"/>
          <p:nvPr/>
        </p:nvSpPr>
        <p:spPr>
          <a:xfrm>
            <a:off x="1325880"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Shape 3"/>
          <p:cNvSpPr/>
          <p:nvPr/>
        </p:nvSpPr>
        <p:spPr>
          <a:xfrm>
            <a:off x="1920240" y="1691640"/>
            <a:ext cx="1691640" cy="0"/>
          </a:xfrm>
          <a:prstGeom prst="line">
            <a:avLst/>
          </a:prstGeom>
          <a:noFill/>
          <a:ln w="19050">
            <a:solidFill>
              <a:srgbClr val="C5CFD4"/>
            </a:solidFill>
            <a:prstDash val="solid"/>
          </a:ln>
        </p:spPr>
      </p:sp>
      <p:sp>
        <p:nvSpPr>
          <p:cNvPr id="6" name="Text 4"/>
          <p:cNvSpPr txBox="1"/>
          <p:nvPr/>
        </p:nvSpPr>
        <p:spPr>
          <a:xfrm>
            <a:off x="548640"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Wear</a:t>
            </a:r>
            <a:endParaRPr lang="en-US" sz="1700" dirty="0"/>
          </a:p>
        </p:txBody>
      </p:sp>
      <p:sp>
        <p:nvSpPr>
          <p:cNvPr id="7" name="Text 5"/>
          <p:cNvSpPr txBox="1"/>
          <p:nvPr/>
        </p:nvSpPr>
        <p:spPr>
          <a:xfrm>
            <a:off x="594360"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Adult with T2D wears a CGM for 14 days; readings sync every 15 min</a:t>
            </a:r>
            <a:endParaRPr lang="en-US" sz="1300" dirty="0"/>
          </a:p>
        </p:txBody>
      </p:sp>
      <p:sp>
        <p:nvSpPr>
          <p:cNvPr id="8" name="Shape 6"/>
          <p:cNvSpPr/>
          <p:nvPr/>
        </p:nvSpPr>
        <p:spPr>
          <a:xfrm>
            <a:off x="3593592" y="1417320"/>
            <a:ext cx="548640" cy="548640"/>
          </a:xfrm>
          <a:prstGeom prst="ellipse">
            <a:avLst/>
          </a:prstGeom>
          <a:solidFill>
            <a:srgbClr val="0D5F73"/>
          </a:solidFill>
          <a:ln w="12700">
            <a:solidFill>
              <a:srgbClr val="0D5F73"/>
            </a:solidFill>
            <a:prstDash val="solid"/>
          </a:ln>
        </p:spPr>
      </p:sp>
      <p:sp>
        <p:nvSpPr>
          <p:cNvPr id="9" name="Text 7"/>
          <p:cNvSpPr txBox="1"/>
          <p:nvPr/>
        </p:nvSpPr>
        <p:spPr>
          <a:xfrm>
            <a:off x="3593592"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Shape 8"/>
          <p:cNvSpPr/>
          <p:nvPr/>
        </p:nvSpPr>
        <p:spPr>
          <a:xfrm>
            <a:off x="4187952" y="1691640"/>
            <a:ext cx="1691640" cy="0"/>
          </a:xfrm>
          <a:prstGeom prst="line">
            <a:avLst/>
          </a:prstGeom>
          <a:noFill/>
          <a:ln w="19050">
            <a:solidFill>
              <a:srgbClr val="C5CFD4"/>
            </a:solidFill>
            <a:prstDash val="solid"/>
          </a:ln>
        </p:spPr>
      </p:sp>
      <p:sp>
        <p:nvSpPr>
          <p:cNvPr id="11" name="Text 9"/>
          <p:cNvSpPr txBox="1"/>
          <p:nvPr/>
        </p:nvSpPr>
        <p:spPr>
          <a:xfrm>
            <a:off x="2816352"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Update</a:t>
            </a:r>
            <a:endParaRPr lang="en-US" sz="1700" dirty="0"/>
          </a:p>
        </p:txBody>
      </p:sp>
      <p:sp>
        <p:nvSpPr>
          <p:cNvPr id="12" name="Text 10"/>
          <p:cNvSpPr txBox="1"/>
          <p:nvPr/>
        </p:nvSpPr>
        <p:spPr>
          <a:xfrm>
            <a:off x="2862072"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The twin updates its state on every reading and logged meal or dose</a:t>
            </a:r>
            <a:endParaRPr lang="en-US" sz="1300" dirty="0"/>
          </a:p>
        </p:txBody>
      </p:sp>
      <p:sp>
        <p:nvSpPr>
          <p:cNvPr id="13" name="Shape 11"/>
          <p:cNvSpPr/>
          <p:nvPr/>
        </p:nvSpPr>
        <p:spPr>
          <a:xfrm>
            <a:off x="5861304" y="1417320"/>
            <a:ext cx="548640" cy="548640"/>
          </a:xfrm>
          <a:prstGeom prst="ellipse">
            <a:avLst/>
          </a:prstGeom>
          <a:solidFill>
            <a:srgbClr val="0D5F73"/>
          </a:solidFill>
          <a:ln w="12700">
            <a:solidFill>
              <a:srgbClr val="0D5F73"/>
            </a:solidFill>
            <a:prstDash val="solid"/>
          </a:ln>
        </p:spPr>
      </p:sp>
      <p:sp>
        <p:nvSpPr>
          <p:cNvPr id="14" name="Text 12"/>
          <p:cNvSpPr txBox="1"/>
          <p:nvPr/>
        </p:nvSpPr>
        <p:spPr>
          <a:xfrm>
            <a:off x="5861304"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Shape 13"/>
          <p:cNvSpPr/>
          <p:nvPr/>
        </p:nvSpPr>
        <p:spPr>
          <a:xfrm>
            <a:off x="6455664" y="1691640"/>
            <a:ext cx="1691640" cy="0"/>
          </a:xfrm>
          <a:prstGeom prst="line">
            <a:avLst/>
          </a:prstGeom>
          <a:noFill/>
          <a:ln w="19050">
            <a:solidFill>
              <a:srgbClr val="C5CFD4"/>
            </a:solidFill>
            <a:prstDash val="solid"/>
          </a:ln>
        </p:spPr>
      </p:sp>
      <p:sp>
        <p:nvSpPr>
          <p:cNvPr id="16" name="Text 14"/>
          <p:cNvSpPr txBox="1"/>
          <p:nvPr/>
        </p:nvSpPr>
        <p:spPr>
          <a:xfrm>
            <a:off x="5084064"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Triage</a:t>
            </a:r>
            <a:endParaRPr lang="en-US" sz="1700" dirty="0"/>
          </a:p>
        </p:txBody>
      </p:sp>
      <p:sp>
        <p:nvSpPr>
          <p:cNvPr id="17" name="Text 15"/>
          <p:cNvSpPr txBox="1"/>
          <p:nvPr/>
        </p:nvSpPr>
        <p:spPr>
          <a:xfrm>
            <a:off x="5129784"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The worklist ranks patients: low now, predicted low, predicted &gt; 180 or &gt; 250</a:t>
            </a:r>
            <a:endParaRPr lang="en-US" sz="1300" dirty="0"/>
          </a:p>
        </p:txBody>
      </p:sp>
      <p:sp>
        <p:nvSpPr>
          <p:cNvPr id="18" name="Shape 16"/>
          <p:cNvSpPr/>
          <p:nvPr/>
        </p:nvSpPr>
        <p:spPr>
          <a:xfrm>
            <a:off x="8129016" y="1417320"/>
            <a:ext cx="548640" cy="548640"/>
          </a:xfrm>
          <a:prstGeom prst="ellipse">
            <a:avLst/>
          </a:prstGeom>
          <a:solidFill>
            <a:srgbClr val="0D5F73"/>
          </a:solidFill>
          <a:ln w="12700">
            <a:solidFill>
              <a:srgbClr val="0D5F73"/>
            </a:solidFill>
            <a:prstDash val="solid"/>
          </a:ln>
        </p:spPr>
      </p:sp>
      <p:sp>
        <p:nvSpPr>
          <p:cNvPr id="19" name="Text 17"/>
          <p:cNvSpPr txBox="1"/>
          <p:nvPr/>
        </p:nvSpPr>
        <p:spPr>
          <a:xfrm>
            <a:off x="8129016"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Shape 18"/>
          <p:cNvSpPr/>
          <p:nvPr/>
        </p:nvSpPr>
        <p:spPr>
          <a:xfrm>
            <a:off x="8723376" y="1691640"/>
            <a:ext cx="1691640" cy="0"/>
          </a:xfrm>
          <a:prstGeom prst="line">
            <a:avLst/>
          </a:prstGeom>
          <a:noFill/>
          <a:ln w="19050">
            <a:solidFill>
              <a:srgbClr val="C5CFD4"/>
            </a:solidFill>
            <a:prstDash val="solid"/>
          </a:ln>
        </p:spPr>
      </p:sp>
      <p:sp>
        <p:nvSpPr>
          <p:cNvPr id="21" name="Text 19"/>
          <p:cNvSpPr txBox="1"/>
          <p:nvPr/>
        </p:nvSpPr>
        <p:spPr>
          <a:xfrm>
            <a:off x="7351776"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Act</a:t>
            </a:r>
            <a:endParaRPr lang="en-US" sz="1700" dirty="0"/>
          </a:p>
        </p:txBody>
      </p:sp>
      <p:sp>
        <p:nvSpPr>
          <p:cNvPr id="22" name="Text 20"/>
          <p:cNvSpPr txBox="1"/>
          <p:nvPr/>
        </p:nvSpPr>
        <p:spPr>
          <a:xfrm>
            <a:off x="7397496"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The educator reviews the forecast and its reasons, and calls the patient if needed</a:t>
            </a:r>
            <a:endParaRPr lang="en-US" sz="1300" dirty="0"/>
          </a:p>
        </p:txBody>
      </p:sp>
      <p:sp>
        <p:nvSpPr>
          <p:cNvPr id="23" name="Shape 21"/>
          <p:cNvSpPr/>
          <p:nvPr/>
        </p:nvSpPr>
        <p:spPr>
          <a:xfrm>
            <a:off x="10396728" y="1417320"/>
            <a:ext cx="548640" cy="548640"/>
          </a:xfrm>
          <a:prstGeom prst="ellipse">
            <a:avLst/>
          </a:prstGeom>
          <a:solidFill>
            <a:srgbClr val="0D5F73"/>
          </a:solidFill>
          <a:ln w="12700">
            <a:solidFill>
              <a:srgbClr val="0D5F73"/>
            </a:solidFill>
            <a:prstDash val="solid"/>
          </a:ln>
        </p:spPr>
      </p:sp>
      <p:sp>
        <p:nvSpPr>
          <p:cNvPr id="24" name="Text 22"/>
          <p:cNvSpPr txBox="1"/>
          <p:nvPr/>
        </p:nvSpPr>
        <p:spPr>
          <a:xfrm>
            <a:off x="10396728"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5" name="Text 23"/>
          <p:cNvSpPr txBox="1"/>
          <p:nvPr/>
        </p:nvSpPr>
        <p:spPr>
          <a:xfrm>
            <a:off x="9619488"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Review</a:t>
            </a:r>
            <a:endParaRPr lang="en-US" sz="1700" dirty="0"/>
          </a:p>
        </p:txBody>
      </p:sp>
      <p:sp>
        <p:nvSpPr>
          <p:cNvPr id="26" name="Text 24"/>
          <p:cNvSpPr txBox="1"/>
          <p:nvPr/>
        </p:nvSpPr>
        <p:spPr>
          <a:xfrm>
            <a:off x="9665208"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At the visit, the doctor replays any moment: what the twin expected vs what happened</a:t>
            </a:r>
            <a:endParaRPr lang="en-US" sz="1300" dirty="0"/>
          </a:p>
        </p:txBody>
      </p:sp>
      <p:sp>
        <p:nvSpPr>
          <p:cNvPr id="27" name="Shape 25"/>
          <p:cNvSpPr/>
          <p:nvPr/>
        </p:nvSpPr>
        <p:spPr>
          <a:xfrm>
            <a:off x="548640" y="4343400"/>
            <a:ext cx="5394960" cy="1828800"/>
          </a:xfrm>
          <a:prstGeom prst="roundRect">
            <a:avLst>
              <a:gd name="adj" fmla="val 4000"/>
            </a:avLst>
          </a:prstGeom>
          <a:solidFill>
            <a:srgbClr val="F3F6F7"/>
          </a:solidFill>
          <a:ln w="12700">
            <a:solidFill>
              <a:srgbClr val="F3F6F7"/>
            </a:solidFill>
            <a:prstDash val="solid"/>
          </a:ln>
        </p:spPr>
      </p:sp>
      <p:sp>
        <p:nvSpPr>
          <p:cNvPr id="28" name="Text 26"/>
          <p:cNvSpPr txBox="1"/>
          <p:nvPr/>
        </p:nvSpPr>
        <p:spPr>
          <a:xfrm>
            <a:off x="749808" y="450799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Outputs</a:t>
            </a:r>
            <a:endParaRPr lang="en-US" sz="1500" dirty="0"/>
          </a:p>
        </p:txBody>
      </p:sp>
      <p:sp>
        <p:nvSpPr>
          <p:cNvPr id="29" name="Text 27"/>
          <p:cNvSpPr txBox="1"/>
          <p:nvPr/>
        </p:nvSpPr>
        <p:spPr>
          <a:xfrm>
            <a:off x="749808" y="4910328"/>
            <a:ext cx="499262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Primary: glucose at +30 and +60 min with an 80% prediction interval (+120 min exploratory). Secondary: calibrated probability of crossing 180 or 250, or falling below 70 mg/dL within 60 min (≥ 2 consecutive readings).</a:t>
            </a:r>
            <a:endParaRPr lang="en-US" sz="1300" dirty="0"/>
          </a:p>
        </p:txBody>
      </p:sp>
      <p:sp>
        <p:nvSpPr>
          <p:cNvPr id="30" name="Shape 28"/>
          <p:cNvSpPr/>
          <p:nvPr/>
        </p:nvSpPr>
        <p:spPr>
          <a:xfrm>
            <a:off x="6217920" y="4343400"/>
            <a:ext cx="5394960" cy="1828800"/>
          </a:xfrm>
          <a:prstGeom prst="roundRect">
            <a:avLst>
              <a:gd name="adj" fmla="val 4000"/>
            </a:avLst>
          </a:prstGeom>
          <a:solidFill>
            <a:srgbClr val="F3F6F7"/>
          </a:solidFill>
          <a:ln w="12700">
            <a:solidFill>
              <a:srgbClr val="F3F6F7"/>
            </a:solidFill>
            <a:prstDash val="solid"/>
          </a:ln>
        </p:spPr>
      </p:sp>
      <p:sp>
        <p:nvSpPr>
          <p:cNvPr id="31" name="Text 29"/>
          <p:cNvSpPr txBox="1"/>
          <p:nvPr/>
        </p:nvSpPr>
        <p:spPr>
          <a:xfrm>
            <a:off x="6419088" y="450799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Boundaries</a:t>
            </a:r>
            <a:endParaRPr lang="en-US" sz="1500" dirty="0"/>
          </a:p>
        </p:txBody>
      </p:sp>
      <p:sp>
        <p:nvSpPr>
          <p:cNvPr id="32" name="Text 30"/>
          <p:cNvSpPr txBox="1"/>
          <p:nvPr/>
        </p:nvSpPr>
        <p:spPr>
          <a:xfrm>
            <a:off x="6419088" y="4910328"/>
            <a:ext cx="499262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Clinicians make every decision. No dosing, diet or treatment advice. Whether triage improves outcomes is a hypothesis that needs a prospective study.</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What makes it a twin: a state that updates on every reading</a:t>
            </a:r>
            <a:endParaRPr lang="en-US" sz="3000" dirty="0"/>
          </a:p>
        </p:txBody>
      </p:sp>
      <p:sp>
        <p:nvSpPr>
          <p:cNvPr id="3" name="Shape 1"/>
          <p:cNvSpPr/>
          <p:nvPr/>
        </p:nvSpPr>
        <p:spPr>
          <a:xfrm>
            <a:off x="548640" y="1325880"/>
            <a:ext cx="3538728" cy="1572768"/>
          </a:xfrm>
          <a:prstGeom prst="roundRect">
            <a:avLst>
              <a:gd name="adj" fmla="val 4651"/>
            </a:avLst>
          </a:prstGeom>
          <a:solidFill>
            <a:srgbClr val="F3F6F7"/>
          </a:solidFill>
          <a:ln w="12700">
            <a:solidFill>
              <a:srgbClr val="F3F6F7"/>
            </a:solidFill>
            <a:prstDash val="solid"/>
          </a:ln>
        </p:spPr>
      </p:sp>
      <p:sp>
        <p:nvSpPr>
          <p:cNvPr id="4" name="Text 2"/>
          <p:cNvSpPr txBox="1"/>
          <p:nvPr/>
        </p:nvSpPr>
        <p:spPr>
          <a:xfrm>
            <a:off x="749808" y="149047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Clinical context</a:t>
            </a:r>
            <a:endParaRPr lang="en-US" sz="1500" dirty="0"/>
          </a:p>
        </p:txBody>
      </p:sp>
      <p:sp>
        <p:nvSpPr>
          <p:cNvPr id="5" name="Text 3"/>
          <p:cNvSpPr txBox="1"/>
          <p:nvPr/>
        </p:nvSpPr>
        <p:spPr>
          <a:xfrm>
            <a:off x="749808" y="189280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Age, BMI, duration, HbA1c, C-peptide, eGFR, complications, drug classes (FHIR R4)</a:t>
            </a:r>
            <a:endParaRPr lang="en-US" sz="1300" dirty="0"/>
          </a:p>
        </p:txBody>
      </p:sp>
      <p:sp>
        <p:nvSpPr>
          <p:cNvPr id="6" name="Shape 4"/>
          <p:cNvSpPr/>
          <p:nvPr/>
        </p:nvSpPr>
        <p:spPr>
          <a:xfrm>
            <a:off x="2898648" y="1508760"/>
            <a:ext cx="987552" cy="292608"/>
          </a:xfrm>
          <a:prstGeom prst="roundRect">
            <a:avLst>
              <a:gd name="adj" fmla="val 50000"/>
            </a:avLst>
          </a:prstGeom>
          <a:solidFill>
            <a:srgbClr val="FFFFFF"/>
          </a:solidFill>
          <a:ln w="12700">
            <a:solidFill>
              <a:srgbClr val="2E8B57"/>
            </a:solidFill>
            <a:prstDash val="solid"/>
          </a:ln>
        </p:spPr>
      </p:sp>
      <p:sp>
        <p:nvSpPr>
          <p:cNvPr id="7" name="Text 5"/>
          <p:cNvSpPr txBox="1"/>
          <p:nvPr/>
        </p:nvSpPr>
        <p:spPr>
          <a:xfrm>
            <a:off x="2898648" y="1517904"/>
            <a:ext cx="987552"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observed</a:t>
            </a:r>
            <a:endParaRPr lang="en-US" sz="1050" dirty="0"/>
          </a:p>
        </p:txBody>
      </p:sp>
      <p:sp>
        <p:nvSpPr>
          <p:cNvPr id="8" name="Shape 6"/>
          <p:cNvSpPr/>
          <p:nvPr/>
        </p:nvSpPr>
        <p:spPr>
          <a:xfrm>
            <a:off x="4270248" y="1325880"/>
            <a:ext cx="3538728" cy="1572768"/>
          </a:xfrm>
          <a:prstGeom prst="roundRect">
            <a:avLst>
              <a:gd name="adj" fmla="val 4651"/>
            </a:avLst>
          </a:prstGeom>
          <a:solidFill>
            <a:srgbClr val="F3F6F7"/>
          </a:solidFill>
          <a:ln w="12700">
            <a:solidFill>
              <a:srgbClr val="F3F6F7"/>
            </a:solidFill>
            <a:prstDash val="solid"/>
          </a:ln>
        </p:spPr>
      </p:sp>
      <p:sp>
        <p:nvSpPr>
          <p:cNvPr id="9" name="Text 7"/>
          <p:cNvSpPr txBox="1"/>
          <p:nvPr/>
        </p:nvSpPr>
        <p:spPr>
          <a:xfrm>
            <a:off x="4471416" y="149047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Glycaemic state</a:t>
            </a:r>
            <a:endParaRPr lang="en-US" sz="1500" dirty="0"/>
          </a:p>
        </p:txBody>
      </p:sp>
      <p:sp>
        <p:nvSpPr>
          <p:cNvPr id="10" name="Text 8"/>
          <p:cNvSpPr txBox="1"/>
          <p:nvPr/>
        </p:nvSpPr>
        <p:spPr>
          <a:xfrm>
            <a:off x="4471416" y="189280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Kalman level, rate of change and their uncertainty; grows during sensor gaps</a:t>
            </a:r>
            <a:endParaRPr lang="en-US" sz="1300" dirty="0"/>
          </a:p>
        </p:txBody>
      </p:sp>
      <p:sp>
        <p:nvSpPr>
          <p:cNvPr id="11" name="Shape 9"/>
          <p:cNvSpPr/>
          <p:nvPr/>
        </p:nvSpPr>
        <p:spPr>
          <a:xfrm>
            <a:off x="6620256" y="1508760"/>
            <a:ext cx="1065276" cy="292608"/>
          </a:xfrm>
          <a:prstGeom prst="roundRect">
            <a:avLst>
              <a:gd name="adj" fmla="val 50000"/>
            </a:avLst>
          </a:prstGeom>
          <a:solidFill>
            <a:srgbClr val="FFFFFF"/>
          </a:solidFill>
          <a:ln w="12700">
            <a:solidFill>
              <a:srgbClr val="0D5F73"/>
            </a:solidFill>
            <a:prstDash val="solid"/>
          </a:ln>
        </p:spPr>
      </p:sp>
      <p:sp>
        <p:nvSpPr>
          <p:cNvPr id="12" name="Text 10"/>
          <p:cNvSpPr txBox="1"/>
          <p:nvPr/>
        </p:nvSpPr>
        <p:spPr>
          <a:xfrm>
            <a:off x="6620256" y="1517904"/>
            <a:ext cx="1065276"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estimated</a:t>
            </a:r>
            <a:endParaRPr lang="en-US" sz="1050" dirty="0"/>
          </a:p>
        </p:txBody>
      </p:sp>
      <p:sp>
        <p:nvSpPr>
          <p:cNvPr id="13" name="Shape 11"/>
          <p:cNvSpPr/>
          <p:nvPr/>
        </p:nvSpPr>
        <p:spPr>
          <a:xfrm>
            <a:off x="7991856" y="1325880"/>
            <a:ext cx="3538728" cy="1572768"/>
          </a:xfrm>
          <a:prstGeom prst="roundRect">
            <a:avLst>
              <a:gd name="adj" fmla="val 4651"/>
            </a:avLst>
          </a:prstGeom>
          <a:solidFill>
            <a:srgbClr val="F3F6F7"/>
          </a:solidFill>
          <a:ln w="12700">
            <a:solidFill>
              <a:srgbClr val="F3F6F7"/>
            </a:solidFill>
            <a:prstDash val="solid"/>
          </a:ln>
        </p:spPr>
      </p:sp>
      <p:sp>
        <p:nvSpPr>
          <p:cNvPr id="14" name="Text 12"/>
          <p:cNvSpPr txBox="1"/>
          <p:nvPr/>
        </p:nvSpPr>
        <p:spPr>
          <a:xfrm>
            <a:off x="8193024" y="149047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Event context</a:t>
            </a:r>
            <a:endParaRPr lang="en-US" sz="1500" dirty="0"/>
          </a:p>
        </p:txBody>
      </p:sp>
      <p:sp>
        <p:nvSpPr>
          <p:cNvPr id="15" name="Text 13"/>
          <p:cNvSpPr txBox="1"/>
          <p:nvPr/>
        </p:nvSpPr>
        <p:spPr>
          <a:xfrm>
            <a:off x="8193024" y="189280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Time since meals and fast insulin, insulin on board, oral agents, pump rate</a:t>
            </a:r>
            <a:endParaRPr lang="en-US" sz="1300" dirty="0"/>
          </a:p>
        </p:txBody>
      </p:sp>
      <p:sp>
        <p:nvSpPr>
          <p:cNvPr id="16" name="Shape 14"/>
          <p:cNvSpPr/>
          <p:nvPr/>
        </p:nvSpPr>
        <p:spPr>
          <a:xfrm>
            <a:off x="10341864" y="1508760"/>
            <a:ext cx="987552" cy="292608"/>
          </a:xfrm>
          <a:prstGeom prst="roundRect">
            <a:avLst>
              <a:gd name="adj" fmla="val 50000"/>
            </a:avLst>
          </a:prstGeom>
          <a:solidFill>
            <a:srgbClr val="FFFFFF"/>
          </a:solidFill>
          <a:ln w="12700">
            <a:solidFill>
              <a:srgbClr val="2E8B57"/>
            </a:solidFill>
            <a:prstDash val="solid"/>
          </a:ln>
        </p:spPr>
      </p:sp>
      <p:sp>
        <p:nvSpPr>
          <p:cNvPr id="17" name="Text 15"/>
          <p:cNvSpPr txBox="1"/>
          <p:nvPr/>
        </p:nvSpPr>
        <p:spPr>
          <a:xfrm>
            <a:off x="10341864" y="1517904"/>
            <a:ext cx="987552"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observed</a:t>
            </a:r>
            <a:endParaRPr lang="en-US" sz="1050" dirty="0"/>
          </a:p>
        </p:txBody>
      </p:sp>
      <p:sp>
        <p:nvSpPr>
          <p:cNvPr id="18" name="Shape 16"/>
          <p:cNvSpPr/>
          <p:nvPr/>
        </p:nvSpPr>
        <p:spPr>
          <a:xfrm>
            <a:off x="548640" y="3063240"/>
            <a:ext cx="3538728" cy="1572768"/>
          </a:xfrm>
          <a:prstGeom prst="roundRect">
            <a:avLst>
              <a:gd name="adj" fmla="val 4651"/>
            </a:avLst>
          </a:prstGeom>
          <a:solidFill>
            <a:srgbClr val="F3F6F7"/>
          </a:solidFill>
          <a:ln w="12700">
            <a:solidFill>
              <a:srgbClr val="F3F6F7"/>
            </a:solidFill>
            <a:prstDash val="solid"/>
          </a:ln>
        </p:spPr>
      </p:sp>
      <p:sp>
        <p:nvSpPr>
          <p:cNvPr id="19" name="Text 17"/>
          <p:cNvSpPr txBox="1"/>
          <p:nvPr/>
        </p:nvSpPr>
        <p:spPr>
          <a:xfrm>
            <a:off x="749808" y="322783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Personal profile</a:t>
            </a:r>
            <a:endParaRPr lang="en-US" sz="1500" dirty="0"/>
          </a:p>
        </p:txBody>
      </p:sp>
      <p:sp>
        <p:nvSpPr>
          <p:cNvPr id="20" name="Text 18"/>
          <p:cNvSpPr txBox="1"/>
          <p:nvPr/>
        </p:nvSpPr>
        <p:spPr>
          <a:xfrm>
            <a:off x="749808" y="363016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Time in range so far; what this person's glucose usually does at this hour</a:t>
            </a:r>
            <a:endParaRPr lang="en-US" sz="1300" dirty="0"/>
          </a:p>
        </p:txBody>
      </p:sp>
      <p:sp>
        <p:nvSpPr>
          <p:cNvPr id="21" name="Shape 19"/>
          <p:cNvSpPr/>
          <p:nvPr/>
        </p:nvSpPr>
        <p:spPr>
          <a:xfrm>
            <a:off x="2898648" y="3246120"/>
            <a:ext cx="1065276" cy="292608"/>
          </a:xfrm>
          <a:prstGeom prst="roundRect">
            <a:avLst>
              <a:gd name="adj" fmla="val 50000"/>
            </a:avLst>
          </a:prstGeom>
          <a:solidFill>
            <a:srgbClr val="FFFFFF"/>
          </a:solidFill>
          <a:ln w="12700">
            <a:solidFill>
              <a:srgbClr val="0D5F73"/>
            </a:solidFill>
            <a:prstDash val="solid"/>
          </a:ln>
        </p:spPr>
      </p:sp>
      <p:sp>
        <p:nvSpPr>
          <p:cNvPr id="22" name="Text 20"/>
          <p:cNvSpPr txBox="1"/>
          <p:nvPr/>
        </p:nvSpPr>
        <p:spPr>
          <a:xfrm>
            <a:off x="2898648" y="3255264"/>
            <a:ext cx="1065276"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estimated</a:t>
            </a:r>
            <a:endParaRPr lang="en-US" sz="1050" dirty="0"/>
          </a:p>
        </p:txBody>
      </p:sp>
      <p:sp>
        <p:nvSpPr>
          <p:cNvPr id="23" name="Shape 21"/>
          <p:cNvSpPr/>
          <p:nvPr/>
        </p:nvSpPr>
        <p:spPr>
          <a:xfrm>
            <a:off x="4270248" y="3063240"/>
            <a:ext cx="3538728" cy="1572768"/>
          </a:xfrm>
          <a:prstGeom prst="roundRect">
            <a:avLst>
              <a:gd name="adj" fmla="val 4651"/>
            </a:avLst>
          </a:prstGeom>
          <a:solidFill>
            <a:srgbClr val="F3F6F7"/>
          </a:solidFill>
          <a:ln w="12700">
            <a:solidFill>
              <a:srgbClr val="F3F6F7"/>
            </a:solidFill>
            <a:prstDash val="solid"/>
          </a:ln>
        </p:spPr>
      </p:sp>
      <p:sp>
        <p:nvSpPr>
          <p:cNvPr id="24" name="Text 22"/>
          <p:cNvSpPr txBox="1"/>
          <p:nvPr/>
        </p:nvSpPr>
        <p:spPr>
          <a:xfrm>
            <a:off x="4471416" y="322783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Model trust</a:t>
            </a:r>
            <a:endParaRPr lang="en-US" sz="1500" dirty="0"/>
          </a:p>
        </p:txBody>
      </p:sp>
      <p:sp>
        <p:nvSpPr>
          <p:cNvPr id="25" name="Text 23"/>
          <p:cNvSpPr txBox="1"/>
          <p:nvPr/>
        </p:nvSpPr>
        <p:spPr>
          <a:xfrm>
            <a:off x="4471416" y="363016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Running mean of this patient's own resolved forecast errors</a:t>
            </a:r>
            <a:endParaRPr lang="en-US" sz="1300" dirty="0"/>
          </a:p>
        </p:txBody>
      </p:sp>
      <p:sp>
        <p:nvSpPr>
          <p:cNvPr id="26" name="Shape 24"/>
          <p:cNvSpPr/>
          <p:nvPr/>
        </p:nvSpPr>
        <p:spPr>
          <a:xfrm>
            <a:off x="6620256" y="3246120"/>
            <a:ext cx="1065276" cy="292608"/>
          </a:xfrm>
          <a:prstGeom prst="roundRect">
            <a:avLst>
              <a:gd name="adj" fmla="val 50000"/>
            </a:avLst>
          </a:prstGeom>
          <a:solidFill>
            <a:srgbClr val="FFFFFF"/>
          </a:solidFill>
          <a:ln w="12700">
            <a:solidFill>
              <a:srgbClr val="0D5F73"/>
            </a:solidFill>
            <a:prstDash val="solid"/>
          </a:ln>
        </p:spPr>
      </p:sp>
      <p:sp>
        <p:nvSpPr>
          <p:cNvPr id="27" name="Text 25"/>
          <p:cNvSpPr txBox="1"/>
          <p:nvPr/>
        </p:nvSpPr>
        <p:spPr>
          <a:xfrm>
            <a:off x="6620256" y="3255264"/>
            <a:ext cx="1065276"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estimated</a:t>
            </a:r>
            <a:endParaRPr lang="en-US" sz="1050" dirty="0"/>
          </a:p>
        </p:txBody>
      </p:sp>
      <p:sp>
        <p:nvSpPr>
          <p:cNvPr id="28" name="Shape 26"/>
          <p:cNvSpPr/>
          <p:nvPr/>
        </p:nvSpPr>
        <p:spPr>
          <a:xfrm>
            <a:off x="7991856" y="3063240"/>
            <a:ext cx="3538728" cy="1572768"/>
          </a:xfrm>
          <a:prstGeom prst="roundRect">
            <a:avLst>
              <a:gd name="adj" fmla="val 4651"/>
            </a:avLst>
          </a:prstGeom>
          <a:solidFill>
            <a:srgbClr val="F3F6F7"/>
          </a:solidFill>
          <a:ln w="12700">
            <a:solidFill>
              <a:srgbClr val="F3F6F7"/>
            </a:solidFill>
            <a:prstDash val="solid"/>
          </a:ln>
        </p:spPr>
      </p:sp>
      <p:sp>
        <p:nvSpPr>
          <p:cNvPr id="29" name="Text 27"/>
          <p:cNvSpPr txBox="1"/>
          <p:nvPr/>
        </p:nvSpPr>
        <p:spPr>
          <a:xfrm>
            <a:off x="8193024" y="322783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Data quality</a:t>
            </a:r>
            <a:endParaRPr lang="en-US" sz="1500" dirty="0"/>
          </a:p>
        </p:txBody>
      </p:sp>
      <p:sp>
        <p:nvSpPr>
          <p:cNvPr id="30" name="Text 28"/>
          <p:cNvSpPr txBox="1"/>
          <p:nvPr/>
        </p:nvSpPr>
        <p:spPr>
          <a:xfrm>
            <a:off x="8193024" y="363016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Readings in the last 3 h, age of last reading: abstain instead of guessing</a:t>
            </a:r>
            <a:endParaRPr lang="en-US" sz="1300" dirty="0"/>
          </a:p>
        </p:txBody>
      </p:sp>
      <p:sp>
        <p:nvSpPr>
          <p:cNvPr id="31" name="Shape 29"/>
          <p:cNvSpPr/>
          <p:nvPr/>
        </p:nvSpPr>
        <p:spPr>
          <a:xfrm>
            <a:off x="10341864" y="3246120"/>
            <a:ext cx="987552" cy="292608"/>
          </a:xfrm>
          <a:prstGeom prst="roundRect">
            <a:avLst>
              <a:gd name="adj" fmla="val 50000"/>
            </a:avLst>
          </a:prstGeom>
          <a:solidFill>
            <a:srgbClr val="FFFFFF"/>
          </a:solidFill>
          <a:ln w="12700">
            <a:solidFill>
              <a:srgbClr val="2E8B57"/>
            </a:solidFill>
            <a:prstDash val="solid"/>
          </a:ln>
        </p:spPr>
      </p:sp>
      <p:sp>
        <p:nvSpPr>
          <p:cNvPr id="32" name="Text 30"/>
          <p:cNvSpPr txBox="1"/>
          <p:nvPr/>
        </p:nvSpPr>
        <p:spPr>
          <a:xfrm>
            <a:off x="10341864" y="3255264"/>
            <a:ext cx="987552"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observed</a:t>
            </a:r>
            <a:endParaRPr lang="en-US" sz="1050" dirty="0"/>
          </a:p>
        </p:txBody>
      </p:sp>
      <p:sp>
        <p:nvSpPr>
          <p:cNvPr id="33" name="Text 31"/>
          <p:cNvSpPr txBox="1"/>
          <p:nvPr/>
        </p:nvSpPr>
        <p:spPr>
          <a:xfrm>
            <a:off x="548640" y="4983480"/>
            <a:ext cx="11064240" cy="109728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Update loop on each reading: </a:t>
            </a:r>
            <a:pPr indent="0" marL="0">
              <a:buNone/>
            </a:pPr>
            <a:r>
              <a:rPr lang="en-US" sz="1500" dirty="0">
                <a:solidFill>
                  <a:srgbClr val="15232A"/>
                </a:solidFill>
                <a:latin typeface="Calibri" pitchFamily="34" charset="0"/>
                <a:ea typeface="Calibri" pitchFamily="34" charset="-122"/>
                <a:cs typeface="Calibri" pitchFamily="34" charset="-120"/>
              </a:rPr>
              <a:t>validate → Kalman update → resolve forecasts whose time has come → rebuild features from the past only → forecast + interval + risk → write to ledger → re-rank worklist. The streaming twin and the evaluated replay give identical outputs (parity test).</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Architecture (as built)</a:t>
            </a:r>
            <a:endParaRPr lang="en-US" sz="3000" dirty="0"/>
          </a:p>
        </p:txBody>
      </p:sp>
      <p:pic>
        <p:nvPicPr>
          <p:cNvPr id="3" name="Image 0" descr="C:\Codeing\Github\Aflatoon_Scaler-School-of-Technology\docs\architecture.png">    </p:cNvPr>
          <p:cNvPicPr>
            <a:picLocks noChangeAspect="1"/>
          </p:cNvPicPr>
          <p:nvPr/>
        </p:nvPicPr>
        <p:blipFill>
          <a:blip r:embed="rId1"/>
          <a:stretch>
            <a:fillRect/>
          </a:stretch>
        </p:blipFill>
        <p:spPr>
          <a:xfrm>
            <a:off x="1949664" y="1143000"/>
            <a:ext cx="8292367" cy="5166360"/>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Data: the two streams belong to the same patients</a:t>
            </a:r>
            <a:endParaRPr lang="en-US" sz="3000" dirty="0"/>
          </a:p>
        </p:txBody>
      </p:sp>
      <p:sp>
        <p:nvSpPr>
          <p:cNvPr id="3" name="Shape 1"/>
          <p:cNvSpPr/>
          <p:nvPr/>
        </p:nvSpPr>
        <p:spPr>
          <a:xfrm>
            <a:off x="548640" y="1325880"/>
            <a:ext cx="5440680" cy="1828800"/>
          </a:xfrm>
          <a:prstGeom prst="roundRect">
            <a:avLst>
              <a:gd name="adj" fmla="val 4000"/>
            </a:avLst>
          </a:prstGeom>
          <a:solidFill>
            <a:srgbClr val="E1EFF2"/>
          </a:solidFill>
          <a:ln w="12700">
            <a:solidFill>
              <a:srgbClr val="E1EFF2"/>
            </a:solidFill>
            <a:prstDash val="solid"/>
          </a:ln>
        </p:spPr>
      </p:sp>
      <p:sp>
        <p:nvSpPr>
          <p:cNvPr id="4" name="Text 2"/>
          <p:cNvSpPr txBox="1"/>
          <p:nvPr/>
        </p:nvSpPr>
        <p:spPr>
          <a:xfrm>
            <a:off x="74980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ShanghaiT2DM: train, test and demo</a:t>
            </a:r>
            <a:endParaRPr lang="en-US" sz="1500" dirty="0"/>
          </a:p>
        </p:txBody>
      </p:sp>
      <p:sp>
        <p:nvSpPr>
          <p:cNvPr id="5" name="Text 3"/>
          <p:cNvSpPr txBox="1"/>
          <p:nvPr/>
        </p:nvSpPr>
        <p:spPr>
          <a:xfrm>
            <a:off x="749808" y="1892808"/>
            <a:ext cx="503834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100 adults with T2D, 109 recordings of 3–14 days. Libre H CGM every 15 min (112,462 readings). Linked clinical record (33 fields) plus timed insulin, oral-agent, pump and diet logs. Zhao et al., Scientific Data 2023. CC BY 4.0.</a:t>
            </a:r>
            <a:endParaRPr lang="en-US" sz="1300" dirty="0"/>
          </a:p>
        </p:txBody>
      </p:sp>
      <p:sp>
        <p:nvSpPr>
          <p:cNvPr id="6" name="Shape 4"/>
          <p:cNvSpPr/>
          <p:nvPr/>
        </p:nvSpPr>
        <p:spPr>
          <a:xfrm>
            <a:off x="6172200" y="1325880"/>
            <a:ext cx="5440680" cy="1828800"/>
          </a:xfrm>
          <a:prstGeom prst="roundRect">
            <a:avLst>
              <a:gd name="adj" fmla="val 4000"/>
            </a:avLst>
          </a:prstGeom>
          <a:solidFill>
            <a:srgbClr val="F3F6F7"/>
          </a:solidFill>
          <a:ln w="12700">
            <a:solidFill>
              <a:srgbClr val="F3F6F7"/>
            </a:solidFill>
            <a:prstDash val="solid"/>
          </a:ln>
        </p:spPr>
      </p:sp>
      <p:sp>
        <p:nvSpPr>
          <p:cNvPr id="7" name="Text 5"/>
          <p:cNvSpPr txBox="1"/>
          <p:nvPr/>
        </p:nvSpPr>
        <p:spPr>
          <a:xfrm>
            <a:off x="637336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CGMacros: external validation only</a:t>
            </a:r>
            <a:endParaRPr lang="en-US" sz="1500" dirty="0"/>
          </a:p>
        </p:txBody>
      </p:sp>
      <p:sp>
        <p:nvSpPr>
          <p:cNvPr id="8" name="Text 6"/>
          <p:cNvSpPr txBox="1"/>
          <p:nvPr/>
        </p:nvSpPr>
        <p:spPr>
          <a:xfrm>
            <a:off x="6373368" y="1892808"/>
            <a:ext cx="503834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45 US adults (15 healthy, 16 prediabetes, 14 T2D), Libre Pro, Fitbit heart rate and activity, meal times. Free-living. Das et al., Scientific Data 2025 (PhysioNet). CC BY-NC-SA 4.0, not redistributed.</a:t>
            </a:r>
            <a:endParaRPr lang="en-US" sz="1300" dirty="0"/>
          </a:p>
        </p:txBody>
      </p:sp>
      <p:sp>
        <p:nvSpPr>
          <p:cNvPr id="9" name="Text 7"/>
          <p:cNvSpPr txBox="1"/>
          <p:nvPr/>
        </p:nvSpPr>
        <p:spPr>
          <a:xfrm>
            <a:off x="548640" y="3520440"/>
            <a:ext cx="4572000" cy="365760"/>
          </a:xfrm>
          <a:prstGeom prst="rect">
            <a:avLst/>
          </a:prstGeom>
          <a:noFill/>
          <a:ln/>
        </p:spPr>
        <p:txBody>
          <a:bodyPr wrap="square" lIns="0" tIns="0" rIns="0" bIns="0" rtlCol="0" anchor="t"/>
          <a:lstStyle/>
          <a:p>
            <a:pPr indent="0" marL="0">
              <a:buNone/>
            </a:pPr>
            <a:r>
              <a:rPr lang="en-US" sz="1600" b="1" dirty="0">
                <a:solidFill>
                  <a:srgbClr val="C0392B"/>
                </a:solidFill>
                <a:latin typeface="Calibri" pitchFamily="34" charset="0"/>
                <a:ea typeface="Calibri" pitchFamily="34" charset="-122"/>
                <a:cs typeface="Calibri" pitchFamily="34" charset="-120"/>
              </a:rPr>
              <a:t>Rejected</a:t>
            </a:r>
            <a:endParaRPr lang="en-US" sz="1600" dirty="0"/>
          </a:p>
        </p:txBody>
      </p:sp>
      <p:sp>
        <p:nvSpPr>
          <p:cNvPr id="10" name="Text 8"/>
          <p:cNvSpPr txBox="1"/>
          <p:nvPr/>
        </p:nvSpPr>
        <p:spPr>
          <a:xfrm>
            <a:off x="548640" y="3977640"/>
            <a:ext cx="5486400" cy="219456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Synthea + an unrelated CGM dataset: records and readings would belong to different people</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UCI Diabetes #34: type 1 diabetes, finger-prick readings, around 1991</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AI-READI: no redistribution right; fully synthetic physiology: tests only our own assumptions</a:t>
            </a:r>
            <a:endParaRPr lang="en-US" sz="1500" dirty="0"/>
          </a:p>
        </p:txBody>
      </p:sp>
      <p:sp>
        <p:nvSpPr>
          <p:cNvPr id="11" name="Text 9"/>
          <p:cNvSpPr txBox="1"/>
          <p:nvPr/>
        </p:nvSpPr>
        <p:spPr>
          <a:xfrm>
            <a:off x="6172200" y="3520440"/>
            <a:ext cx="4572000" cy="365760"/>
          </a:xfrm>
          <a:prstGeom prst="rect">
            <a:avLst/>
          </a:prstGeom>
          <a:noFill/>
          <a:ln/>
        </p:spPr>
        <p:txBody>
          <a:bodyPr wrap="square" lIns="0" tIns="0" rIns="0" bIns="0" rtlCol="0" anchor="t"/>
          <a:lstStyle/>
          <a:p>
            <a:pPr indent="0" marL="0">
              <a:buNone/>
            </a:pPr>
            <a:r>
              <a:rPr lang="en-US" sz="1600" b="1" dirty="0">
                <a:solidFill>
                  <a:srgbClr val="C98A00"/>
                </a:solidFill>
                <a:latin typeface="Calibri" pitchFamily="34" charset="0"/>
                <a:ea typeface="Calibri" pitchFamily="34" charset="-122"/>
                <a:cs typeface="Calibri" pitchFamily="34" charset="-120"/>
              </a:rPr>
              <a:t>Honest gaps</a:t>
            </a:r>
            <a:endParaRPr lang="en-US" sz="1600" dirty="0"/>
          </a:p>
        </p:txBody>
      </p:sp>
      <p:sp>
        <p:nvSpPr>
          <p:cNvPr id="12" name="Text 10"/>
          <p:cNvSpPr txBox="1"/>
          <p:nvPr/>
        </p:nvSpPr>
        <p:spPr>
          <a:xfrm>
            <a:off x="6172200" y="3977640"/>
            <a:ext cx="5440680" cy="219456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No open Indian CGM dataset exists: Chinese hospital cohort, partly in-hospital</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No genetic markers anywhere: shown as 'not recorded', never invented</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Diet is food weight, not nutrients (carbohydrate-dense-weight heuristic)</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Models and an evaluation protocol fixed before testing</a:t>
            </a:r>
            <a:endParaRPr lang="en-US" sz="3000" dirty="0"/>
          </a:p>
        </p:txBody>
      </p:sp>
      <p:sp>
        <p:nvSpPr>
          <p:cNvPr id="3" name="Shape 1"/>
          <p:cNvSpPr/>
          <p:nvPr/>
        </p:nvSpPr>
        <p:spPr>
          <a:xfrm>
            <a:off x="548640" y="1325880"/>
            <a:ext cx="5440680" cy="4800600"/>
          </a:xfrm>
          <a:prstGeom prst="roundRect">
            <a:avLst>
              <a:gd name="adj" fmla="val 1524"/>
            </a:avLst>
          </a:prstGeom>
          <a:solidFill>
            <a:srgbClr val="F3F6F7"/>
          </a:solidFill>
          <a:ln w="12700">
            <a:solidFill>
              <a:srgbClr val="F3F6F7"/>
            </a:solidFill>
            <a:prstDash val="solid"/>
          </a:ln>
        </p:spPr>
      </p:sp>
      <p:sp>
        <p:nvSpPr>
          <p:cNvPr id="4" name="Text 2"/>
          <p:cNvSpPr txBox="1"/>
          <p:nvPr/>
        </p:nvSpPr>
        <p:spPr>
          <a:xfrm>
            <a:off x="74980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Compared models</a:t>
            </a:r>
            <a:endParaRPr lang="en-US" sz="1500" dirty="0"/>
          </a:p>
        </p:txBody>
      </p:sp>
      <p:sp>
        <p:nvSpPr>
          <p:cNvPr id="5" name="Text 3"/>
          <p:cNvSpPr txBox="1"/>
          <p:nvPr/>
        </p:nvSpPr>
        <p:spPr>
          <a:xfrm>
            <a:off x="749808" y="1892808"/>
            <a:ext cx="5038344" cy="41148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Last value carried forward (persistence)</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Kalman damped trend</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Linear autoregression (ridge)</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GRU sequence network (tuned on development data)</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LightGBM ladder: CGM → + logs → + clinical record → + personal history = Pratirup</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Pratirup + online self-correction</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Average of LightGBM and GRU (reported, not deployed)</a:t>
            </a:r>
            <a:endParaRPr lang="en-US" sz="1300" dirty="0"/>
          </a:p>
          <a:p>
            <a:pPr indent="0" marL="0">
              <a:buNone/>
            </a:pP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Served: LightGBM. It ties the GRU and gives exact per-feature attributions, conformal intervals and fast CPU inference.</a:t>
            </a:r>
            <a:endParaRPr lang="en-US" sz="1300" dirty="0"/>
          </a:p>
        </p:txBody>
      </p:sp>
      <p:sp>
        <p:nvSpPr>
          <p:cNvPr id="6" name="Shape 4"/>
          <p:cNvSpPr/>
          <p:nvPr/>
        </p:nvSpPr>
        <p:spPr>
          <a:xfrm>
            <a:off x="6263640" y="1417320"/>
            <a:ext cx="384048" cy="384048"/>
          </a:xfrm>
          <a:prstGeom prst="ellipse">
            <a:avLst/>
          </a:prstGeom>
          <a:solidFill>
            <a:srgbClr val="0D5F73"/>
          </a:solidFill>
          <a:ln w="12700">
            <a:solidFill>
              <a:srgbClr val="0D5F73"/>
            </a:solidFill>
            <a:prstDash val="solid"/>
          </a:ln>
        </p:spPr>
      </p:sp>
      <p:sp>
        <p:nvSpPr>
          <p:cNvPr id="7" name="Text 5"/>
          <p:cNvSpPr txBox="1"/>
          <p:nvPr/>
        </p:nvSpPr>
        <p:spPr>
          <a:xfrm>
            <a:off x="6263640" y="14173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6812280" y="1371600"/>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Patient-level split</a:t>
            </a:r>
            <a:endParaRPr lang="en-US" sz="1500" dirty="0"/>
          </a:p>
        </p:txBody>
      </p:sp>
      <p:sp>
        <p:nvSpPr>
          <p:cNvPr id="9" name="Text 7"/>
          <p:cNvSpPr txBox="1"/>
          <p:nvPr/>
        </p:nvSpPr>
        <p:spPr>
          <a:xfrm>
            <a:off x="6812280" y="1719072"/>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80 development patients (5 folds, stratified by insulin) and 20 test patients</a:t>
            </a:r>
            <a:endParaRPr lang="en-US" sz="1250" dirty="0"/>
          </a:p>
        </p:txBody>
      </p:sp>
      <p:sp>
        <p:nvSpPr>
          <p:cNvPr id="10" name="Shape 8"/>
          <p:cNvSpPr/>
          <p:nvPr/>
        </p:nvSpPr>
        <p:spPr>
          <a:xfrm>
            <a:off x="6263640" y="2368296"/>
            <a:ext cx="384048" cy="384048"/>
          </a:xfrm>
          <a:prstGeom prst="ellipse">
            <a:avLst/>
          </a:prstGeom>
          <a:solidFill>
            <a:srgbClr val="0D5F73"/>
          </a:solidFill>
          <a:ln w="12700">
            <a:solidFill>
              <a:srgbClr val="0D5F73"/>
            </a:solidFill>
            <a:prstDash val="solid"/>
          </a:ln>
        </p:spPr>
      </p:sp>
      <p:sp>
        <p:nvSpPr>
          <p:cNvPr id="11" name="Text 9"/>
          <p:cNvSpPr txBox="1"/>
          <p:nvPr/>
        </p:nvSpPr>
        <p:spPr>
          <a:xfrm>
            <a:off x="6263640" y="2368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6812280" y="2322576"/>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Every choice on development data</a:t>
            </a:r>
            <a:endParaRPr lang="en-US" sz="1500" dirty="0"/>
          </a:p>
        </p:txBody>
      </p:sp>
      <p:sp>
        <p:nvSpPr>
          <p:cNvPr id="13" name="Text 11"/>
          <p:cNvSpPr txBox="1"/>
          <p:nvPr/>
        </p:nvSpPr>
        <p:spPr>
          <a:xfrm>
            <a:off x="6812280" y="2670048"/>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Kalman, hyperparameters, GRU, conformal adjustment, calibration, alert thresholds</a:t>
            </a:r>
            <a:endParaRPr lang="en-US" sz="1250" dirty="0"/>
          </a:p>
        </p:txBody>
      </p:sp>
      <p:sp>
        <p:nvSpPr>
          <p:cNvPr id="14" name="Shape 12"/>
          <p:cNvSpPr/>
          <p:nvPr/>
        </p:nvSpPr>
        <p:spPr>
          <a:xfrm>
            <a:off x="6263640" y="3319272"/>
            <a:ext cx="384048" cy="384048"/>
          </a:xfrm>
          <a:prstGeom prst="ellipse">
            <a:avLst/>
          </a:prstGeom>
          <a:solidFill>
            <a:srgbClr val="0D5F73"/>
          </a:solidFill>
          <a:ln w="12700">
            <a:solidFill>
              <a:srgbClr val="0D5F73"/>
            </a:solidFill>
            <a:prstDash val="solid"/>
          </a:ln>
        </p:spPr>
      </p:sp>
      <p:sp>
        <p:nvSpPr>
          <p:cNvPr id="15" name="Text 13"/>
          <p:cNvSpPr txBox="1"/>
          <p:nvPr/>
        </p:nvSpPr>
        <p:spPr>
          <a:xfrm>
            <a:off x="6263640" y="33192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6812280" y="3273552"/>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No leakage</a:t>
            </a:r>
            <a:endParaRPr lang="en-US" sz="1500" dirty="0"/>
          </a:p>
        </p:txBody>
      </p:sp>
      <p:sp>
        <p:nvSpPr>
          <p:cNvPr id="17" name="Text 15"/>
          <p:cNvSpPr txBox="1"/>
          <p:nvPr/>
        </p:nvSpPr>
        <p:spPr>
          <a:xfrm>
            <a:off x="6812280" y="3621024"/>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Early stopping on held-out dev patients; a test proves features use only the past</a:t>
            </a:r>
            <a:endParaRPr lang="en-US" sz="1250" dirty="0"/>
          </a:p>
        </p:txBody>
      </p:sp>
      <p:sp>
        <p:nvSpPr>
          <p:cNvPr id="18" name="Shape 16"/>
          <p:cNvSpPr/>
          <p:nvPr/>
        </p:nvSpPr>
        <p:spPr>
          <a:xfrm>
            <a:off x="6263640" y="4270248"/>
            <a:ext cx="384048" cy="384048"/>
          </a:xfrm>
          <a:prstGeom prst="ellipse">
            <a:avLst/>
          </a:prstGeom>
          <a:solidFill>
            <a:srgbClr val="0D5F73"/>
          </a:solidFill>
          <a:ln w="12700">
            <a:solidFill>
              <a:srgbClr val="0D5F73"/>
            </a:solidFill>
            <a:prstDash val="solid"/>
          </a:ln>
        </p:spPr>
      </p:sp>
      <p:sp>
        <p:nvSpPr>
          <p:cNvPr id="19" name="Text 17"/>
          <p:cNvSpPr txBox="1"/>
          <p:nvPr/>
        </p:nvSpPr>
        <p:spPr>
          <a:xfrm>
            <a:off x="6263640" y="4270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6812280" y="4224528"/>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Test scored once</a:t>
            </a:r>
            <a:endParaRPr lang="en-US" sz="1500" dirty="0"/>
          </a:p>
        </p:txBody>
      </p:sp>
      <p:sp>
        <p:nvSpPr>
          <p:cNvPr id="21" name="Text 19"/>
          <p:cNvSpPr txBox="1"/>
          <p:nvPr/>
        </p:nvSpPr>
        <p:spPr>
          <a:xfrm>
            <a:off x="6812280" y="4572000"/>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Locked file records when; reruns need a logged reason</a:t>
            </a:r>
            <a:endParaRPr lang="en-US" sz="1250" dirty="0"/>
          </a:p>
        </p:txBody>
      </p:sp>
      <p:sp>
        <p:nvSpPr>
          <p:cNvPr id="22" name="Shape 20"/>
          <p:cNvSpPr/>
          <p:nvPr/>
        </p:nvSpPr>
        <p:spPr>
          <a:xfrm>
            <a:off x="6263640" y="5221224"/>
            <a:ext cx="384048" cy="384048"/>
          </a:xfrm>
          <a:prstGeom prst="ellipse">
            <a:avLst/>
          </a:prstGeom>
          <a:solidFill>
            <a:srgbClr val="0D5F73"/>
          </a:solidFill>
          <a:ln w="12700">
            <a:solidFill>
              <a:srgbClr val="0D5F73"/>
            </a:solidFill>
            <a:prstDash val="solid"/>
          </a:ln>
        </p:spPr>
      </p:sp>
      <p:sp>
        <p:nvSpPr>
          <p:cNvPr id="23" name="Text 21"/>
          <p:cNvSpPr txBox="1"/>
          <p:nvPr/>
        </p:nvSpPr>
        <p:spPr>
          <a:xfrm>
            <a:off x="6263640" y="52212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txBox="1"/>
          <p:nvPr/>
        </p:nvSpPr>
        <p:spPr>
          <a:xfrm>
            <a:off x="6812280" y="5175504"/>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Uncertainty of results</a:t>
            </a:r>
            <a:endParaRPr lang="en-US" sz="1500" dirty="0"/>
          </a:p>
        </p:txBody>
      </p:sp>
      <p:sp>
        <p:nvSpPr>
          <p:cNvPr id="25" name="Text 23"/>
          <p:cNvSpPr txBox="1"/>
          <p:nvPr/>
        </p:nvSpPr>
        <p:spPr>
          <a:xfrm>
            <a:off x="6812280" y="5522976"/>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Patient-level bootstrap 95% CIs for every comparison</a:t>
            </a:r>
            <a:endParaRPr lang="en-US" sz="12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Forecast accuracy on 20 unseen patients</a:t>
            </a:r>
            <a:endParaRPr lang="en-US" sz="3000" dirty="0"/>
          </a:p>
        </p:txBody>
      </p:sp>
      <p:graphicFrame>
        <p:nvGraphicFramePr>
          <p:cNvPr id="3" name="Chart 0" descr=""/>
          <p:cNvGraphicFramePr/>
          <p:nvPr/>
        </p:nvGraphicFramePr>
        <p:xfrm>
          <a:off x="548640" y="123444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63840" y="1325880"/>
            <a:ext cx="3749040"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vs last value carried forward</a:t>
            </a:r>
            <a:endParaRPr lang="en-US" sz="1500" dirty="0"/>
          </a:p>
        </p:txBody>
      </p:sp>
      <p:sp>
        <p:nvSpPr>
          <p:cNvPr id="5" name="Text 2"/>
          <p:cNvSpPr txBox="1"/>
          <p:nvPr/>
        </p:nvSpPr>
        <p:spPr>
          <a:xfrm>
            <a:off x="7863840" y="1737360"/>
            <a:ext cx="3749040" cy="1371600"/>
          </a:xfrm>
          <a:prstGeom prst="rect">
            <a:avLst/>
          </a:prstGeom>
          <a:noFill/>
          <a:ln/>
        </p:spPr>
        <p:txBody>
          <a:bodyPr wrap="square" lIns="0" tIns="0" rIns="0" bIns="0" rtlCol="0" anchor="t"/>
          <a:lstStyle/>
          <a:p>
            <a:pPr indent="0" marL="0">
              <a:spcAft>
                <a:spcPts val="600"/>
              </a:spcAft>
              <a:buNone/>
            </a:pPr>
            <a:r>
              <a:rPr lang="en-US" sz="1350" dirty="0">
                <a:solidFill>
                  <a:srgbClr val="15232A"/>
                </a:solidFill>
                <a:latin typeface="Calibri" pitchFamily="34" charset="0"/>
                <a:ea typeface="Calibri" pitchFamily="34" charset="-122"/>
                <a:cs typeface="Calibri" pitchFamily="34" charset="-120"/>
              </a:rPr>
              <a:t>+30 min: -3.44 mg/dL (95% CI -4.10 to -2.81)</a:t>
            </a:r>
            <a:endParaRPr lang="en-US" sz="1350" dirty="0"/>
          </a:p>
          <a:p>
            <a:pPr indent="0" marL="0">
              <a:spcAft>
                <a:spcPts val="600"/>
              </a:spcAft>
              <a:buNone/>
            </a:pPr>
            <a:r>
              <a:rPr lang="en-US" sz="1350" dirty="0">
                <a:solidFill>
                  <a:srgbClr val="15232A"/>
                </a:solidFill>
                <a:latin typeface="Calibri" pitchFamily="34" charset="0"/>
                <a:ea typeface="Calibri" pitchFamily="34" charset="-122"/>
                <a:cs typeface="Calibri" pitchFamily="34" charset="-120"/>
              </a:rPr>
              <a:t>+60 min: -5.32 mg/dL (95% CI -6.46 to -4.24)</a:t>
            </a:r>
            <a:endParaRPr lang="en-US" sz="1350" dirty="0"/>
          </a:p>
          <a:p>
            <a:pPr indent="0" marL="0">
              <a:spcAft>
                <a:spcPts val="600"/>
              </a:spcAft>
              <a:buNone/>
            </a:pPr>
            <a:r>
              <a:rPr lang="en-US" sz="1350" dirty="0">
                <a:solidFill>
                  <a:srgbClr val="15232A"/>
                </a:solidFill>
                <a:latin typeface="Calibri" pitchFamily="34" charset="0"/>
                <a:ea typeface="Calibri" pitchFamily="34" charset="-122"/>
                <a:cs typeface="Calibri" pitchFamily="34" charset="-120"/>
              </a:rPr>
              <a:t>+120 min: -9.84 mg/dL (95% CI -11.85 to -8.13)</a:t>
            </a:r>
            <a:endParaRPr lang="en-US" sz="1350" dirty="0"/>
          </a:p>
        </p:txBody>
      </p:sp>
      <p:sp>
        <p:nvSpPr>
          <p:cNvPr id="6" name="Text 3"/>
          <p:cNvSpPr txBox="1"/>
          <p:nvPr/>
        </p:nvSpPr>
        <p:spPr>
          <a:xfrm>
            <a:off x="7863840" y="3246120"/>
            <a:ext cx="3749040"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Clinical safety</a:t>
            </a:r>
            <a:endParaRPr lang="en-US" sz="1500" dirty="0"/>
          </a:p>
        </p:txBody>
      </p:sp>
      <p:sp>
        <p:nvSpPr>
          <p:cNvPr id="7" name="Text 4"/>
          <p:cNvSpPr txBox="1"/>
          <p:nvPr/>
        </p:nvSpPr>
        <p:spPr>
          <a:xfrm>
            <a:off x="7863840" y="3657600"/>
            <a:ext cx="3749040" cy="822960"/>
          </a:xfrm>
          <a:prstGeom prst="rect">
            <a:avLst/>
          </a:prstGeom>
          <a:noFill/>
          <a:ln/>
        </p:spPr>
        <p:txBody>
          <a:bodyPr wrap="square" lIns="0" tIns="0" rIns="0" bIns="0" rtlCol="0" anchor="t"/>
          <a:lstStyle/>
          <a:p>
            <a:pPr indent="0" marL="0">
              <a:buNone/>
            </a:pPr>
            <a:r>
              <a:rPr lang="en-US" sz="1350" dirty="0">
                <a:solidFill>
                  <a:srgbClr val="15232A"/>
                </a:solidFill>
                <a:latin typeface="Calibri" pitchFamily="34" charset="0"/>
                <a:ea typeface="Calibri" pitchFamily="34" charset="-122"/>
                <a:cs typeface="Calibri" pitchFamily="34" charset="-120"/>
              </a:rPr>
              <a:t>Parkes type-2 error grid, zones A+B: 100.0% / 100.0% / 99.4% at 30 / 60 / 120 min</a:t>
            </a:r>
            <a:endParaRPr lang="en-US" sz="1350" dirty="0"/>
          </a:p>
        </p:txBody>
      </p:sp>
      <p:sp>
        <p:nvSpPr>
          <p:cNvPr id="8" name="Text 5"/>
          <p:cNvSpPr txBox="1"/>
          <p:nvPr/>
        </p:nvSpPr>
        <p:spPr>
          <a:xfrm>
            <a:off x="7863840" y="4572000"/>
            <a:ext cx="3749040"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GRU vs Pratirup</a:t>
            </a:r>
            <a:endParaRPr lang="en-US" sz="1500" dirty="0"/>
          </a:p>
        </p:txBody>
      </p:sp>
      <p:sp>
        <p:nvSpPr>
          <p:cNvPr id="9" name="Text 6"/>
          <p:cNvSpPr txBox="1"/>
          <p:nvPr/>
        </p:nvSpPr>
        <p:spPr>
          <a:xfrm>
            <a:off x="7863840" y="4983480"/>
            <a:ext cx="3749040" cy="1188720"/>
          </a:xfrm>
          <a:prstGeom prst="rect">
            <a:avLst/>
          </a:prstGeom>
          <a:noFill/>
          <a:ln/>
        </p:spPr>
        <p:txBody>
          <a:bodyPr wrap="square" lIns="0" tIns="0" rIns="0" bIns="0" rtlCol="0" anchor="t"/>
          <a:lstStyle/>
          <a:p>
            <a:pPr indent="0" marL="0">
              <a:buNone/>
            </a:pPr>
            <a:r>
              <a:rPr lang="en-US" sz="1350" dirty="0">
                <a:solidFill>
                  <a:srgbClr val="15232A"/>
                </a:solidFill>
                <a:latin typeface="Calibri" pitchFamily="34" charset="0"/>
                <a:ea typeface="Calibri" pitchFamily="34" charset="-122"/>
                <a:cs typeface="Calibri" pitchFamily="34" charset="-120"/>
              </a:rPr>
              <a:t>No measurable difference at 60 min: 0.04 mg/dL (95% CI -0.14 to 0.20). We serve the model we can explain.</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What each data stream adds, including what did not help</a:t>
            </a:r>
            <a:endParaRPr lang="en-US" sz="3000" dirty="0"/>
          </a:p>
        </p:txBody>
      </p:sp>
      <p:graphicFrame>
        <p:nvGraphicFramePr>
          <p:cNvPr id="3" name="Chart 0" descr=""/>
          <p:cNvGraphicFramePr/>
          <p:nvPr/>
        </p:nvGraphicFramePr>
        <p:xfrm>
          <a:off x="548640" y="1234440"/>
          <a:ext cx="6583680" cy="4937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52360" y="1325880"/>
            <a:ext cx="4160520" cy="2148840"/>
          </a:xfrm>
          <a:prstGeom prst="roundRect">
            <a:avLst>
              <a:gd name="adj" fmla="val 3404"/>
            </a:avLst>
          </a:prstGeom>
          <a:solidFill>
            <a:srgbClr val="E1EFF2"/>
          </a:solidFill>
          <a:ln w="12700">
            <a:solidFill>
              <a:srgbClr val="E1EFF2"/>
            </a:solidFill>
            <a:prstDash val="solid"/>
          </a:ln>
        </p:spPr>
      </p:sp>
      <p:sp>
        <p:nvSpPr>
          <p:cNvPr id="5" name="Text 2"/>
          <p:cNvSpPr txBox="1"/>
          <p:nvPr/>
        </p:nvSpPr>
        <p:spPr>
          <a:xfrm>
            <a:off x="7653528" y="1490472"/>
            <a:ext cx="375818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Helped most: the patient's own history</a:t>
            </a:r>
            <a:endParaRPr lang="en-US" sz="1500" dirty="0"/>
          </a:p>
        </p:txBody>
      </p:sp>
      <p:sp>
        <p:nvSpPr>
          <p:cNvPr id="6" name="Text 3"/>
          <p:cNvSpPr txBox="1"/>
          <p:nvPr/>
        </p:nvSpPr>
        <p:spPr>
          <a:xfrm>
            <a:off x="7653528" y="1892808"/>
            <a:ext cx="3758184" cy="14630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What this person's glucose usually does at this time of day, learned from their previous days. That is the twin's personal state at work.</a:t>
            </a:r>
            <a:endParaRPr lang="en-US" sz="1300" dirty="0"/>
          </a:p>
        </p:txBody>
      </p:sp>
      <p:sp>
        <p:nvSpPr>
          <p:cNvPr id="7" name="Shape 4"/>
          <p:cNvSpPr/>
          <p:nvPr/>
        </p:nvSpPr>
        <p:spPr>
          <a:xfrm>
            <a:off x="7452360" y="3657600"/>
            <a:ext cx="4160520" cy="2514600"/>
          </a:xfrm>
          <a:prstGeom prst="roundRect">
            <a:avLst>
              <a:gd name="adj" fmla="val 2909"/>
            </a:avLst>
          </a:prstGeom>
          <a:solidFill>
            <a:srgbClr val="F3F6F7"/>
          </a:solidFill>
          <a:ln w="12700">
            <a:solidFill>
              <a:srgbClr val="F3F6F7"/>
            </a:solidFill>
            <a:prstDash val="solid"/>
          </a:ln>
        </p:spPr>
      </p:sp>
      <p:sp>
        <p:nvSpPr>
          <p:cNvPr id="8" name="Text 5"/>
          <p:cNvSpPr txBox="1"/>
          <p:nvPr/>
        </p:nvSpPr>
        <p:spPr>
          <a:xfrm>
            <a:off x="7653528" y="3822192"/>
            <a:ext cx="375818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Did not help measurably</a:t>
            </a:r>
            <a:endParaRPr lang="en-US" sz="1500" dirty="0"/>
          </a:p>
        </p:txBody>
      </p:sp>
      <p:sp>
        <p:nvSpPr>
          <p:cNvPr id="9" name="Text 6"/>
          <p:cNvSpPr txBox="1"/>
          <p:nvPr/>
        </p:nvSpPr>
        <p:spPr>
          <a:xfrm>
            <a:off x="7653528" y="4224528"/>
            <a:ext cx="3758184" cy="18288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Clinical-record fields beyond CGM and logs; online self-correction (-0.02 mg/dL, CI crosses 0); Fitbit heart rate and activity in CGMacros (-0.02 mg/dL, CI crosses 0). We report this rather than hide it.</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Honest uncertainty: the 80% band holds about 80% of the time</a:t>
            </a:r>
            <a:endParaRPr lang="en-US" sz="3000" dirty="0"/>
          </a:p>
        </p:txBody>
      </p:sp>
      <p:sp>
        <p:nvSpPr>
          <p:cNvPr id="3" name="Text 1"/>
          <p:cNvSpPr txBox="1"/>
          <p:nvPr/>
        </p:nvSpPr>
        <p:spPr>
          <a:xfrm>
            <a:off x="548640" y="1371600"/>
            <a:ext cx="347472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81.3%</a:t>
            </a:r>
            <a:endParaRPr lang="en-US" sz="4400" dirty="0"/>
          </a:p>
        </p:txBody>
      </p:sp>
      <p:sp>
        <p:nvSpPr>
          <p:cNvPr id="4" name="Text 2"/>
          <p:cNvSpPr txBox="1"/>
          <p:nvPr/>
        </p:nvSpPr>
        <p:spPr>
          <a:xfrm>
            <a:off x="548640" y="2286000"/>
            <a:ext cx="347472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outcomes inside the 80% interval at +30 min (mean width 27.3 mg/dL)</a:t>
            </a:r>
            <a:endParaRPr lang="en-US" sz="1300" dirty="0"/>
          </a:p>
        </p:txBody>
      </p:sp>
      <p:sp>
        <p:nvSpPr>
          <p:cNvPr id="5" name="Text 3"/>
          <p:cNvSpPr txBox="1"/>
          <p:nvPr/>
        </p:nvSpPr>
        <p:spPr>
          <a:xfrm>
            <a:off x="4297680" y="1371600"/>
            <a:ext cx="347472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80.9%</a:t>
            </a:r>
            <a:endParaRPr lang="en-US" sz="4400" dirty="0"/>
          </a:p>
        </p:txBody>
      </p:sp>
      <p:sp>
        <p:nvSpPr>
          <p:cNvPr id="6" name="Text 4"/>
          <p:cNvSpPr txBox="1"/>
          <p:nvPr/>
        </p:nvSpPr>
        <p:spPr>
          <a:xfrm>
            <a:off x="4297680" y="2286000"/>
            <a:ext cx="347472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outcomes inside the 80% interval at +60 min (mean width 45.6 mg/dL)</a:t>
            </a:r>
            <a:endParaRPr lang="en-US" sz="1300" dirty="0"/>
          </a:p>
        </p:txBody>
      </p:sp>
      <p:sp>
        <p:nvSpPr>
          <p:cNvPr id="7" name="Text 5"/>
          <p:cNvSpPr txBox="1"/>
          <p:nvPr/>
        </p:nvSpPr>
        <p:spPr>
          <a:xfrm>
            <a:off x="8046720" y="1371600"/>
            <a:ext cx="347472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83.5%</a:t>
            </a:r>
            <a:endParaRPr lang="en-US" sz="4400" dirty="0"/>
          </a:p>
        </p:txBody>
      </p:sp>
      <p:sp>
        <p:nvSpPr>
          <p:cNvPr id="8" name="Text 6"/>
          <p:cNvSpPr txBox="1"/>
          <p:nvPr/>
        </p:nvSpPr>
        <p:spPr>
          <a:xfrm>
            <a:off x="8046720" y="2286000"/>
            <a:ext cx="347472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outcomes inside the 80% interval at +120 min (mean width 67.2 mg/dL)</a:t>
            </a:r>
            <a:endParaRPr lang="en-US" sz="1300" dirty="0"/>
          </a:p>
        </p:txBody>
      </p:sp>
      <p:sp>
        <p:nvSpPr>
          <p:cNvPr id="9" name="Shape 7"/>
          <p:cNvSpPr/>
          <p:nvPr/>
        </p:nvSpPr>
        <p:spPr>
          <a:xfrm>
            <a:off x="548640" y="3749040"/>
            <a:ext cx="5394960" cy="1783080"/>
          </a:xfrm>
          <a:prstGeom prst="roundRect">
            <a:avLst>
              <a:gd name="adj" fmla="val 4103"/>
            </a:avLst>
          </a:prstGeom>
          <a:solidFill>
            <a:srgbClr val="E1EFF2"/>
          </a:solidFill>
          <a:ln w="12700">
            <a:solidFill>
              <a:srgbClr val="E1EFF2"/>
            </a:solidFill>
            <a:prstDash val="solid"/>
          </a:ln>
        </p:spPr>
      </p:sp>
      <p:sp>
        <p:nvSpPr>
          <p:cNvPr id="10" name="Text 8"/>
          <p:cNvSpPr txBox="1"/>
          <p:nvPr/>
        </p:nvSpPr>
        <p:spPr>
          <a:xfrm>
            <a:off x="749808" y="391363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How the interval is built</a:t>
            </a:r>
            <a:endParaRPr lang="en-US" sz="1500" dirty="0"/>
          </a:p>
        </p:txBody>
      </p:sp>
      <p:sp>
        <p:nvSpPr>
          <p:cNvPr id="11" name="Text 9"/>
          <p:cNvSpPr txBox="1"/>
          <p:nvPr/>
        </p:nvSpPr>
        <p:spPr>
          <a:xfrm>
            <a:off x="749808" y="4315968"/>
            <a:ext cx="4992624" cy="109728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Quantile models give a raw band; conformal calibration on out-of-fold predictions from development patients widens it just enough to reach 80%. The test patients were never used.</a:t>
            </a:r>
            <a:endParaRPr lang="en-US" sz="1300" dirty="0"/>
          </a:p>
        </p:txBody>
      </p:sp>
      <p:sp>
        <p:nvSpPr>
          <p:cNvPr id="12" name="Shape 10"/>
          <p:cNvSpPr/>
          <p:nvPr/>
        </p:nvSpPr>
        <p:spPr>
          <a:xfrm>
            <a:off x="6217920" y="3749040"/>
            <a:ext cx="5394960" cy="1783080"/>
          </a:xfrm>
          <a:prstGeom prst="roundRect">
            <a:avLst>
              <a:gd name="adj" fmla="val 4103"/>
            </a:avLst>
          </a:prstGeom>
          <a:solidFill>
            <a:srgbClr val="F3F6F7"/>
          </a:solidFill>
          <a:ln w="12700">
            <a:solidFill>
              <a:srgbClr val="F3F6F7"/>
            </a:solidFill>
            <a:prstDash val="solid"/>
          </a:ln>
        </p:spPr>
      </p:sp>
      <p:sp>
        <p:nvSpPr>
          <p:cNvPr id="13" name="Text 11"/>
          <p:cNvSpPr txBox="1"/>
          <p:nvPr/>
        </p:nvSpPr>
        <p:spPr>
          <a:xfrm>
            <a:off x="6419088" y="391363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Why it matters clinically</a:t>
            </a:r>
            <a:endParaRPr lang="en-US" sz="1500" dirty="0"/>
          </a:p>
        </p:txBody>
      </p:sp>
      <p:sp>
        <p:nvSpPr>
          <p:cNvPr id="14" name="Text 12"/>
          <p:cNvSpPr txBox="1"/>
          <p:nvPr/>
        </p:nvSpPr>
        <p:spPr>
          <a:xfrm>
            <a:off x="6419088" y="4315968"/>
            <a:ext cx="4992624" cy="109728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A care team can trust the band, not just the line. It held on CGMacros too: 78% in T2D, 81% in prediabetes. Under heavy sensor noise coverage falls (74% at ±10 mg/dL), a known limitation.</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Early warning: more episodes caught, earlier</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1828800"/>
                <a:gridCol w="914400"/>
                <a:gridCol w="1188720"/>
                <a:gridCol w="1325880"/>
                <a:gridCol w="822960"/>
                <a:gridCol w="1417320"/>
                <a:gridCol w="1463040"/>
              </a:tblGrid>
              <a:tr h="411480">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Event within 60 min</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Scorer</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Episodes</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Sensitivity</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 30 min warning</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PPV</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False alerts / patient-day</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AUPRC (prevalence)</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r>
              <a:tr h="411480">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Rise above 180 mg/dL</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Pratirup</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288</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95.5%</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64.9%</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46.9%</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0.55 (0.049)</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11480">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Rate-of-change rule</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89.2%</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47.6%</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40.8%</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1.81</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0.40 (0.049)</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r>
              <a:tr h="411480">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Rise above 250 mg/dL</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Pratirup</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98.1%</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81.5%</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15.6%</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0.55 (0.008)</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11480">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Rate-of-change rule</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98.1%</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77.8%</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12.6%</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1.79</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0.32 (0.008)</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r>
              <a:tr h="411480">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Fall below 70 mg/dL</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Pratirup</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94.7%</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64.5%</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3.08</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0D5F73"/>
                          </a:solidFill>
                          <a:latin typeface="Calibri" pitchFamily="34" charset="0"/>
                          <a:ea typeface="Calibri" pitchFamily="34" charset="-122"/>
                          <a:cs typeface="Calibri" pitchFamily="34" charset="-120"/>
                        </a:rPr>
                        <a:t>0.34 (0.011)</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11480">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Rate-of-change rule</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73.7%</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46.1%</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9.5%</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2.58</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0.12 (0.011)</a:t>
                      </a:r>
                      <a:endParaRPr lang="en-US" sz="1300" dirty="0">
                        <a:latin typeface="Calibri" charset="0"/>
                        <a:ea typeface="Calibri" charset="0"/>
                        <a:cs typeface="Calibri" charset="0"/>
                      </a:endParaRPr>
                    </a:p>
                  </a:txBody>
                  <a:tcPr marL="76200" marR="76200" marT="38100" marB="381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AFBFC"/>
                    </a:solidFill>
                  </a:tcPr>
                </a:tc>
              </a:tr>
            </a:tbl>
          </a:graphicData>
        </a:graphic>
      </p:graphicFrame>
      <p:sp>
        <p:nvSpPr>
          <p:cNvPr id="4" name="Text 1"/>
          <p:cNvSpPr txBox="1"/>
          <p:nvPr/>
        </p:nvSpPr>
        <p:spPr>
          <a:xfrm>
            <a:off x="548640" y="4572000"/>
            <a:ext cx="11064240" cy="1280160"/>
          </a:xfrm>
          <a:prstGeom prst="rect">
            <a:avLst/>
          </a:prstGeom>
          <a:noFill/>
          <a:ln/>
        </p:spPr>
        <p:txBody>
          <a:bodyPr wrap="square" lIns="0" tIns="0" rIns="0" bIns="0" rtlCol="0" anchor="t"/>
          <a:lstStyle/>
          <a:p>
            <a:pPr indent="0" marL="0">
              <a:buNone/>
            </a:pPr>
            <a:r>
              <a:rPr lang="en-US" sz="1500" dirty="0">
                <a:solidFill>
                  <a:srgbClr val="15232A"/>
                </a:solidFill>
                <a:latin typeface="Calibri" pitchFamily="34" charset="0"/>
                <a:ea typeface="Calibri" pitchFamily="34" charset="-122"/>
                <a:cs typeface="Calibri" pitchFamily="34" charset="-120"/>
              </a:rPr>
              <a:t>Thresholds were set on development patients for ≤ 2 false alerts per patient-day, with a 60-min cooldown. On test patients the low-glucose alert overshot (3.08 per day), and the three alert types together produce 7.9 alerts per patient-day: too many for routine use. Next step: one merged alert stream with a shared cooldown, and budgets set with clinicians.</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It transfers: external validation on a US cohort</a:t>
            </a:r>
            <a:endParaRPr lang="en-US" sz="3000" dirty="0"/>
          </a:p>
        </p:txBody>
      </p:sp>
      <p:graphicFrame>
        <p:nvGraphicFramePr>
          <p:cNvPr id="3" name="Chart 0" descr=""/>
          <p:cNvGraphicFramePr/>
          <p:nvPr/>
        </p:nvGraphicFramePr>
        <p:xfrm>
          <a:off x="548640" y="1234440"/>
          <a:ext cx="6583680" cy="4937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52360" y="1325880"/>
            <a:ext cx="4160520" cy="2286000"/>
          </a:xfrm>
          <a:prstGeom prst="roundRect">
            <a:avLst>
              <a:gd name="adj" fmla="val 3200"/>
            </a:avLst>
          </a:prstGeom>
          <a:solidFill>
            <a:srgbClr val="E1EFF2"/>
          </a:solidFill>
          <a:ln w="12700">
            <a:solidFill>
              <a:srgbClr val="E1EFF2"/>
            </a:solidFill>
            <a:prstDash val="solid"/>
          </a:ln>
        </p:spPr>
      </p:sp>
      <p:sp>
        <p:nvSpPr>
          <p:cNvPr id="5" name="Text 2"/>
          <p:cNvSpPr txBox="1"/>
          <p:nvPr/>
        </p:nvSpPr>
        <p:spPr>
          <a:xfrm>
            <a:off x="7653528" y="1490472"/>
            <a:ext cx="375818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Different country, sensor and setting</a:t>
            </a:r>
            <a:endParaRPr lang="en-US" sz="1500" dirty="0"/>
          </a:p>
        </p:txBody>
      </p:sp>
      <p:sp>
        <p:nvSpPr>
          <p:cNvPr id="6" name="Text 3"/>
          <p:cNvSpPr txBox="1"/>
          <p:nvPr/>
        </p:nvSpPr>
        <p:spPr>
          <a:xfrm>
            <a:off x="7653528" y="1892808"/>
            <a:ext cx="3758184" cy="16002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Free-living US adults, Libre Pro, no refitting. Interval coverage stays at 78% in T2D. Rise-above-180 alerts in T2D: 96.7% sensitivity, 53% PPV, 1.38 false alerts per day.</a:t>
            </a:r>
            <a:endParaRPr lang="en-US" sz="1300" dirty="0"/>
          </a:p>
        </p:txBody>
      </p:sp>
      <p:sp>
        <p:nvSpPr>
          <p:cNvPr id="7" name="Shape 4"/>
          <p:cNvSpPr/>
          <p:nvPr/>
        </p:nvSpPr>
        <p:spPr>
          <a:xfrm>
            <a:off x="7452360" y="3794760"/>
            <a:ext cx="4160520" cy="2377440"/>
          </a:xfrm>
          <a:prstGeom prst="roundRect">
            <a:avLst>
              <a:gd name="adj" fmla="val 3077"/>
            </a:avLst>
          </a:prstGeom>
          <a:solidFill>
            <a:srgbClr val="F3F6F7"/>
          </a:solidFill>
          <a:ln w="12700">
            <a:solidFill>
              <a:srgbClr val="F3F6F7"/>
            </a:solidFill>
            <a:prstDash val="solid"/>
          </a:ln>
        </p:spPr>
      </p:sp>
      <p:sp>
        <p:nvSpPr>
          <p:cNvPr id="8" name="Text 5"/>
          <p:cNvSpPr txBox="1"/>
          <p:nvPr/>
        </p:nvSpPr>
        <p:spPr>
          <a:xfrm>
            <a:off x="7653528" y="3959352"/>
            <a:ext cx="375818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Where it does not help</a:t>
            </a:r>
            <a:endParaRPr lang="en-US" sz="1500" dirty="0"/>
          </a:p>
        </p:txBody>
      </p:sp>
      <p:sp>
        <p:nvSpPr>
          <p:cNvPr id="9" name="Text 6"/>
          <p:cNvSpPr txBox="1"/>
          <p:nvPr/>
        </p:nvSpPr>
        <p:spPr>
          <a:xfrm>
            <a:off x="7653528" y="4361688"/>
            <a:ext cx="3758184" cy="16916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In healthy participants the gain over last value is close to zero: expected for a model trained on T2D. Medications and most labs are missing in CGMacros and were passed as missing, never as zero.</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The product: what a care team sees</a:t>
            </a:r>
            <a:endParaRPr lang="en-US" sz="3000" dirty="0"/>
          </a:p>
        </p:txBody>
      </p:sp>
      <p:pic>
        <p:nvPicPr>
          <p:cNvPr id="3" name="Image 0" descr="C:\Codeing\Github\Aflatoon_Scaler-School-of-Technology\docs\screenshots\worklist.png">    </p:cNvPr>
          <p:cNvPicPr>
            <a:picLocks noChangeAspect="1"/>
          </p:cNvPicPr>
          <p:nvPr/>
        </p:nvPicPr>
        <p:blipFill>
          <a:blip r:embed="rId1"/>
          <a:stretch>
            <a:fillRect/>
          </a:stretch>
        </p:blipFill>
        <p:spPr>
          <a:xfrm>
            <a:off x="548640" y="1280160"/>
            <a:ext cx="5440680" cy="3401568"/>
          </a:xfrm>
          <a:prstGeom prst="rect">
            <a:avLst/>
          </a:prstGeom>
        </p:spPr>
      </p:pic>
      <p:sp>
        <p:nvSpPr>
          <p:cNvPr id="4" name="Shape 1"/>
          <p:cNvSpPr/>
          <p:nvPr/>
        </p:nvSpPr>
        <p:spPr>
          <a:xfrm>
            <a:off x="548640" y="1280160"/>
            <a:ext cx="5440680" cy="3401568"/>
          </a:xfrm>
          <a:prstGeom prst="rect">
            <a:avLst/>
          </a:prstGeom>
          <a:ln w="9525">
            <a:solidFill>
              <a:srgbClr val="D9E1E5"/>
            </a:solidFill>
            <a:prstDash val="solid"/>
          </a:ln>
        </p:spPr>
      </p:sp>
      <p:sp>
        <p:nvSpPr>
          <p:cNvPr id="5" name="Text 2"/>
          <p:cNvSpPr txBox="1"/>
          <p:nvPr/>
        </p:nvSpPr>
        <p:spPr>
          <a:xfrm>
            <a:off x="548640" y="4754880"/>
            <a:ext cx="5440680" cy="45720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Worklist: panel ranked by consensus targets and predicted risk</a:t>
            </a:r>
            <a:endParaRPr lang="en-US" sz="1300" dirty="0"/>
          </a:p>
        </p:txBody>
      </p:sp>
      <p:pic>
        <p:nvPicPr>
          <p:cNvPr id="6" name="Image 1" descr="C:\Codeing\Github\Aflatoon_Scaler-School-of-Technology\docs\screenshots\twin.png">    </p:cNvPr>
          <p:cNvPicPr>
            <a:picLocks noChangeAspect="1"/>
          </p:cNvPicPr>
          <p:nvPr/>
        </p:nvPicPr>
        <p:blipFill>
          <a:blip r:embed="rId2"/>
          <a:stretch>
            <a:fillRect/>
          </a:stretch>
        </p:blipFill>
        <p:spPr>
          <a:xfrm>
            <a:off x="6172200" y="1280160"/>
            <a:ext cx="5440680" cy="3401568"/>
          </a:xfrm>
          <a:prstGeom prst="rect">
            <a:avLst/>
          </a:prstGeom>
        </p:spPr>
      </p:pic>
      <p:sp>
        <p:nvSpPr>
          <p:cNvPr id="7" name="Shape 3"/>
          <p:cNvSpPr/>
          <p:nvPr/>
        </p:nvSpPr>
        <p:spPr>
          <a:xfrm>
            <a:off x="6172200" y="1280160"/>
            <a:ext cx="5440680" cy="3401568"/>
          </a:xfrm>
          <a:prstGeom prst="rect">
            <a:avLst/>
          </a:prstGeom>
          <a:ln w="9525">
            <a:solidFill>
              <a:srgbClr val="D9E1E5"/>
            </a:solidFill>
            <a:prstDash val="solid"/>
          </a:ln>
        </p:spPr>
      </p:sp>
      <p:sp>
        <p:nvSpPr>
          <p:cNvPr id="8" name="Text 4"/>
          <p:cNvSpPr txBox="1"/>
          <p:nvPr/>
        </p:nvSpPr>
        <p:spPr>
          <a:xfrm>
            <a:off x="6172200" y="4754880"/>
            <a:ext cx="5440680" cy="45720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Patient twin: forecast band, past forecasts vs reality, drivers</a:t>
            </a:r>
            <a:endParaRPr lang="en-US" sz="1300" dirty="0"/>
          </a:p>
        </p:txBody>
      </p:sp>
      <p:sp>
        <p:nvSpPr>
          <p:cNvPr id="9" name="Shape 5"/>
          <p:cNvSpPr/>
          <p:nvPr/>
        </p:nvSpPr>
        <p:spPr>
          <a:xfrm>
            <a:off x="548640" y="5532120"/>
            <a:ext cx="1531620" cy="292608"/>
          </a:xfrm>
          <a:prstGeom prst="roundRect">
            <a:avLst>
              <a:gd name="adj" fmla="val 50000"/>
            </a:avLst>
          </a:prstGeom>
          <a:solidFill>
            <a:srgbClr val="FFFFFF"/>
          </a:solidFill>
          <a:ln w="12700">
            <a:solidFill>
              <a:srgbClr val="2E8B57"/>
            </a:solidFill>
            <a:prstDash val="solid"/>
          </a:ln>
        </p:spPr>
      </p:sp>
      <p:sp>
        <p:nvSpPr>
          <p:cNvPr id="10" name="Text 6"/>
          <p:cNvSpPr txBox="1"/>
          <p:nvPr/>
        </p:nvSpPr>
        <p:spPr>
          <a:xfrm>
            <a:off x="548640" y="5541264"/>
            <a:ext cx="1531620"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Research record</a:t>
            </a:r>
            <a:endParaRPr lang="en-US" sz="1050" dirty="0"/>
          </a:p>
        </p:txBody>
      </p:sp>
      <p:sp>
        <p:nvSpPr>
          <p:cNvPr id="11" name="Shape 7"/>
          <p:cNvSpPr/>
          <p:nvPr/>
        </p:nvSpPr>
        <p:spPr>
          <a:xfrm>
            <a:off x="2263140" y="5532120"/>
            <a:ext cx="1298448" cy="292608"/>
          </a:xfrm>
          <a:prstGeom prst="roundRect">
            <a:avLst>
              <a:gd name="adj" fmla="val 50000"/>
            </a:avLst>
          </a:prstGeom>
          <a:solidFill>
            <a:srgbClr val="FFFFFF"/>
          </a:solidFill>
          <a:ln w="12700">
            <a:solidFill>
              <a:srgbClr val="2E8B57"/>
            </a:solidFill>
            <a:prstDash val="solid"/>
          </a:ln>
        </p:spPr>
      </p:sp>
      <p:sp>
        <p:nvSpPr>
          <p:cNvPr id="12" name="Text 8"/>
          <p:cNvSpPr txBox="1"/>
          <p:nvPr/>
        </p:nvSpPr>
        <p:spPr>
          <a:xfrm>
            <a:off x="2263140" y="5541264"/>
            <a:ext cx="1298448"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Replayed CGM</a:t>
            </a:r>
            <a:endParaRPr lang="en-US" sz="1050" dirty="0"/>
          </a:p>
        </p:txBody>
      </p:sp>
      <p:sp>
        <p:nvSpPr>
          <p:cNvPr id="13" name="Shape 9"/>
          <p:cNvSpPr/>
          <p:nvPr/>
        </p:nvSpPr>
        <p:spPr>
          <a:xfrm>
            <a:off x="3744468" y="5532120"/>
            <a:ext cx="1453896" cy="292608"/>
          </a:xfrm>
          <a:prstGeom prst="roundRect">
            <a:avLst>
              <a:gd name="adj" fmla="val 50000"/>
            </a:avLst>
          </a:prstGeom>
          <a:solidFill>
            <a:srgbClr val="FFFFFF"/>
          </a:solidFill>
          <a:ln w="12700">
            <a:solidFill>
              <a:srgbClr val="0D5F73"/>
            </a:solidFill>
            <a:prstDash val="solid"/>
          </a:ln>
        </p:spPr>
      </p:sp>
      <p:sp>
        <p:nvSpPr>
          <p:cNvPr id="14" name="Text 10"/>
          <p:cNvSpPr txBox="1"/>
          <p:nvPr/>
        </p:nvSpPr>
        <p:spPr>
          <a:xfrm>
            <a:off x="3744468" y="5541264"/>
            <a:ext cx="1453896"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Model forecast</a:t>
            </a:r>
            <a:endParaRPr lang="en-US" sz="1050" dirty="0"/>
          </a:p>
        </p:txBody>
      </p:sp>
      <p:sp>
        <p:nvSpPr>
          <p:cNvPr id="15" name="Shape 11"/>
          <p:cNvSpPr/>
          <p:nvPr/>
        </p:nvSpPr>
        <p:spPr>
          <a:xfrm>
            <a:off x="5381244" y="5532120"/>
            <a:ext cx="2231136" cy="292608"/>
          </a:xfrm>
          <a:prstGeom prst="roundRect">
            <a:avLst>
              <a:gd name="adj" fmla="val 50000"/>
            </a:avLst>
          </a:prstGeom>
          <a:solidFill>
            <a:srgbClr val="FFFFFF"/>
          </a:solidFill>
          <a:ln w="12700">
            <a:solidFill>
              <a:srgbClr val="C98A00"/>
            </a:solidFill>
            <a:prstDash val="solid"/>
          </a:ln>
        </p:spPr>
      </p:sp>
      <p:sp>
        <p:nvSpPr>
          <p:cNvPr id="16" name="Text 12"/>
          <p:cNvSpPr txBox="1"/>
          <p:nvPr/>
        </p:nvSpPr>
        <p:spPr>
          <a:xfrm>
            <a:off x="5381244" y="5541264"/>
            <a:ext cx="2231136" cy="274320"/>
          </a:xfrm>
          <a:prstGeom prst="rect">
            <a:avLst/>
          </a:prstGeom>
          <a:noFill/>
          <a:ln/>
        </p:spPr>
        <p:txBody>
          <a:bodyPr wrap="square" lIns="0" tIns="0" rIns="0" bIns="0" rtlCol="0" anchor="ctr"/>
          <a:lstStyle/>
          <a:p>
            <a:pPr algn="ctr" indent="0" marL="0">
              <a:buNone/>
            </a:pPr>
            <a:r>
              <a:rPr lang="en-US" sz="1050" dirty="0">
                <a:solidFill>
                  <a:srgbClr val="C98A00"/>
                </a:solidFill>
                <a:latin typeface="Calibri" pitchFamily="34" charset="0"/>
                <a:ea typeface="Calibri" pitchFamily="34" charset="-122"/>
                <a:cs typeface="Calibri" pitchFamily="34" charset="-120"/>
              </a:rPr>
              <a:t>Sensitivity · not causal</a:t>
            </a:r>
            <a:endParaRPr lang="en-US" sz="1050" dirty="0"/>
          </a:p>
        </p:txBody>
      </p:sp>
      <p:sp>
        <p:nvSpPr>
          <p:cNvPr id="17" name="Shape 13"/>
          <p:cNvSpPr/>
          <p:nvPr/>
        </p:nvSpPr>
        <p:spPr>
          <a:xfrm>
            <a:off x="7795260" y="5532120"/>
            <a:ext cx="1220724" cy="292608"/>
          </a:xfrm>
          <a:prstGeom prst="roundRect">
            <a:avLst>
              <a:gd name="adj" fmla="val 50000"/>
            </a:avLst>
          </a:prstGeom>
          <a:solidFill>
            <a:srgbClr val="FFFFFF"/>
          </a:solidFill>
          <a:ln w="12700">
            <a:solidFill>
              <a:srgbClr val="0D5F73"/>
            </a:solidFill>
            <a:prstDash val="solid"/>
          </a:ln>
        </p:spPr>
      </p:sp>
      <p:sp>
        <p:nvSpPr>
          <p:cNvPr id="18" name="Text 14"/>
          <p:cNvSpPr txBox="1"/>
          <p:nvPr/>
        </p:nvSpPr>
        <p:spPr>
          <a:xfrm>
            <a:off x="7795260" y="5541264"/>
            <a:ext cx="1220724"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LIVE stream</a:t>
            </a:r>
            <a:endParaRPr lang="en-US" sz="1050" dirty="0"/>
          </a:p>
        </p:txBody>
      </p:sp>
      <p:sp>
        <p:nvSpPr>
          <p:cNvPr id="19" name="Text 15"/>
          <p:cNvSpPr txBox="1"/>
          <p:nvPr/>
        </p:nvSpPr>
        <p:spPr>
          <a:xfrm>
            <a:off x="548640" y="5943600"/>
            <a:ext cx="11064240" cy="3200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Also: forecast ledger · what-if · FHIR R4 record · live streaming · evidence page</a:t>
            </a:r>
            <a:endParaRPr lang="en-US" sz="12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Limitations we want the jury to know</a:t>
            </a:r>
            <a:endParaRPr lang="en-US" sz="3000" dirty="0"/>
          </a:p>
        </p:txBody>
      </p:sp>
      <p:sp>
        <p:nvSpPr>
          <p:cNvPr id="3" name="Shape 1"/>
          <p:cNvSpPr/>
          <p:nvPr/>
        </p:nvSpPr>
        <p:spPr>
          <a:xfrm>
            <a:off x="548640" y="1325880"/>
            <a:ext cx="5440680" cy="1481328"/>
          </a:xfrm>
          <a:prstGeom prst="roundRect">
            <a:avLst>
              <a:gd name="adj" fmla="val 4938"/>
            </a:avLst>
          </a:prstGeom>
          <a:solidFill>
            <a:srgbClr val="F3F6F7"/>
          </a:solidFill>
          <a:ln w="12700">
            <a:solidFill>
              <a:srgbClr val="F3F6F7"/>
            </a:solidFill>
            <a:prstDash val="solid"/>
          </a:ln>
        </p:spPr>
      </p:sp>
      <p:sp>
        <p:nvSpPr>
          <p:cNvPr id="4" name="Text 2"/>
          <p:cNvSpPr txBox="1"/>
          <p:nvPr/>
        </p:nvSpPr>
        <p:spPr>
          <a:xfrm>
            <a:off x="74980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Population</a:t>
            </a:r>
            <a:endParaRPr lang="en-US" sz="1500" dirty="0"/>
          </a:p>
        </p:txBody>
      </p:sp>
      <p:sp>
        <p:nvSpPr>
          <p:cNvPr id="5" name="Text 3"/>
          <p:cNvSpPr txBox="1"/>
          <p:nvPr/>
        </p:nvSpPr>
        <p:spPr>
          <a:xfrm>
            <a:off x="749808" y="189280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Chinese hospital cohort, 2019–2021, partly in-hospital with regular meal times. Not Indian. External check covers the US, not India.</a:t>
            </a:r>
            <a:endParaRPr lang="en-US" sz="1300" dirty="0"/>
          </a:p>
        </p:txBody>
      </p:sp>
      <p:sp>
        <p:nvSpPr>
          <p:cNvPr id="6" name="Shape 4"/>
          <p:cNvSpPr/>
          <p:nvPr/>
        </p:nvSpPr>
        <p:spPr>
          <a:xfrm>
            <a:off x="6172200" y="1325880"/>
            <a:ext cx="5440680" cy="1481328"/>
          </a:xfrm>
          <a:prstGeom prst="roundRect">
            <a:avLst>
              <a:gd name="adj" fmla="val 4938"/>
            </a:avLst>
          </a:prstGeom>
          <a:solidFill>
            <a:srgbClr val="F3F6F7"/>
          </a:solidFill>
          <a:ln w="12700">
            <a:solidFill>
              <a:srgbClr val="F3F6F7"/>
            </a:solidFill>
            <a:prstDash val="solid"/>
          </a:ln>
        </p:spPr>
      </p:sp>
      <p:sp>
        <p:nvSpPr>
          <p:cNvPr id="7" name="Text 5"/>
          <p:cNvSpPr txBox="1"/>
          <p:nvPr/>
        </p:nvSpPr>
        <p:spPr>
          <a:xfrm>
            <a:off x="637336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Size</a:t>
            </a:r>
            <a:endParaRPr lang="en-US" sz="1500" dirty="0"/>
          </a:p>
        </p:txBody>
      </p:sp>
      <p:sp>
        <p:nvSpPr>
          <p:cNvPr id="8" name="Text 6"/>
          <p:cNvSpPr txBox="1"/>
          <p:nvPr/>
        </p:nvSpPr>
        <p:spPr>
          <a:xfrm>
            <a:off x="6373368" y="189280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100 patients, 3–14 days each; 20 test patients. Hence bootstrap CIs on every claim.</a:t>
            </a:r>
            <a:endParaRPr lang="en-US" sz="1300" dirty="0"/>
          </a:p>
        </p:txBody>
      </p:sp>
      <p:sp>
        <p:nvSpPr>
          <p:cNvPr id="9" name="Shape 7"/>
          <p:cNvSpPr/>
          <p:nvPr/>
        </p:nvSpPr>
        <p:spPr>
          <a:xfrm>
            <a:off x="548640" y="2971800"/>
            <a:ext cx="5440680" cy="1481328"/>
          </a:xfrm>
          <a:prstGeom prst="roundRect">
            <a:avLst>
              <a:gd name="adj" fmla="val 4938"/>
            </a:avLst>
          </a:prstGeom>
          <a:solidFill>
            <a:srgbClr val="F3F6F7"/>
          </a:solidFill>
          <a:ln w="12700">
            <a:solidFill>
              <a:srgbClr val="F3F6F7"/>
            </a:solidFill>
            <a:prstDash val="solid"/>
          </a:ln>
        </p:spPr>
      </p:sp>
      <p:sp>
        <p:nvSpPr>
          <p:cNvPr id="10" name="Text 8"/>
          <p:cNvSpPr txBox="1"/>
          <p:nvPr/>
        </p:nvSpPr>
        <p:spPr>
          <a:xfrm>
            <a:off x="749808" y="313639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Alert load</a:t>
            </a:r>
            <a:endParaRPr lang="en-US" sz="1500" dirty="0"/>
          </a:p>
        </p:txBody>
      </p:sp>
      <p:sp>
        <p:nvSpPr>
          <p:cNvPr id="11" name="Text 9"/>
          <p:cNvSpPr txBox="1"/>
          <p:nvPr/>
        </p:nvSpPr>
        <p:spPr>
          <a:xfrm>
            <a:off x="749808" y="353872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7.9 alerts per patient-day across three types; low-glucose alert above its false-alert budget.</a:t>
            </a:r>
            <a:endParaRPr lang="en-US" sz="1300" dirty="0"/>
          </a:p>
        </p:txBody>
      </p:sp>
      <p:sp>
        <p:nvSpPr>
          <p:cNvPr id="12" name="Shape 10"/>
          <p:cNvSpPr/>
          <p:nvPr/>
        </p:nvSpPr>
        <p:spPr>
          <a:xfrm>
            <a:off x="6172200" y="2971800"/>
            <a:ext cx="5440680" cy="1481328"/>
          </a:xfrm>
          <a:prstGeom prst="roundRect">
            <a:avLst>
              <a:gd name="adj" fmla="val 4938"/>
            </a:avLst>
          </a:prstGeom>
          <a:solidFill>
            <a:srgbClr val="F3F6F7"/>
          </a:solidFill>
          <a:ln w="12700">
            <a:solidFill>
              <a:srgbClr val="F3F6F7"/>
            </a:solidFill>
            <a:prstDash val="solid"/>
          </a:ln>
        </p:spPr>
      </p:sp>
      <p:sp>
        <p:nvSpPr>
          <p:cNvPr id="13" name="Text 11"/>
          <p:cNvSpPr txBox="1"/>
          <p:nvPr/>
        </p:nvSpPr>
        <p:spPr>
          <a:xfrm>
            <a:off x="6373368" y="313639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Sensor noise</a:t>
            </a:r>
            <a:endParaRPr lang="en-US" sz="1500" dirty="0"/>
          </a:p>
        </p:txBody>
      </p:sp>
      <p:sp>
        <p:nvSpPr>
          <p:cNvPr id="14" name="Text 12"/>
          <p:cNvSpPr txBox="1"/>
          <p:nvPr/>
        </p:nvSpPr>
        <p:spPr>
          <a:xfrm>
            <a:off x="6373368" y="353872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With ±10 mg/dL random noise added, the 30-min forecast is worse than last value (19.6 vs 15.2). Libre output is pre-smoothed; noisier devices need noise-augmented training.</a:t>
            </a:r>
            <a:endParaRPr lang="en-US" sz="1300" dirty="0"/>
          </a:p>
        </p:txBody>
      </p:sp>
      <p:sp>
        <p:nvSpPr>
          <p:cNvPr id="15" name="Shape 13"/>
          <p:cNvSpPr/>
          <p:nvPr/>
        </p:nvSpPr>
        <p:spPr>
          <a:xfrm>
            <a:off x="548640" y="4617720"/>
            <a:ext cx="5440680" cy="1481328"/>
          </a:xfrm>
          <a:prstGeom prst="roundRect">
            <a:avLst>
              <a:gd name="adj" fmla="val 4938"/>
            </a:avLst>
          </a:prstGeom>
          <a:solidFill>
            <a:srgbClr val="F3F6F7"/>
          </a:solidFill>
          <a:ln w="12700">
            <a:solidFill>
              <a:srgbClr val="F3F6F7"/>
            </a:solidFill>
            <a:prstDash val="solid"/>
          </a:ln>
        </p:spPr>
      </p:sp>
      <p:sp>
        <p:nvSpPr>
          <p:cNvPr id="16" name="Text 14"/>
          <p:cNvSpPr txBox="1"/>
          <p:nvPr/>
        </p:nvSpPr>
        <p:spPr>
          <a:xfrm>
            <a:off x="749808" y="478231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Causality</a:t>
            </a:r>
            <a:endParaRPr lang="en-US" sz="1500" dirty="0"/>
          </a:p>
        </p:txBody>
      </p:sp>
      <p:sp>
        <p:nvSpPr>
          <p:cNvPr id="17" name="Text 15"/>
          <p:cNvSpPr txBox="1"/>
          <p:nvPr/>
        </p:nvSpPr>
        <p:spPr>
          <a:xfrm>
            <a:off x="749808" y="518464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The what-if shows model sensitivity, not the effect of eating or dosing.</a:t>
            </a:r>
            <a:endParaRPr lang="en-US" sz="1300" dirty="0"/>
          </a:p>
        </p:txBody>
      </p:sp>
      <p:sp>
        <p:nvSpPr>
          <p:cNvPr id="18" name="Shape 16"/>
          <p:cNvSpPr/>
          <p:nvPr/>
        </p:nvSpPr>
        <p:spPr>
          <a:xfrm>
            <a:off x="6172200" y="4617720"/>
            <a:ext cx="5440680" cy="1481328"/>
          </a:xfrm>
          <a:prstGeom prst="roundRect">
            <a:avLst>
              <a:gd name="adj" fmla="val 4938"/>
            </a:avLst>
          </a:prstGeom>
          <a:solidFill>
            <a:srgbClr val="F3F6F7"/>
          </a:solidFill>
          <a:ln w="12700">
            <a:solidFill>
              <a:srgbClr val="F3F6F7"/>
            </a:solidFill>
            <a:prstDash val="solid"/>
          </a:ln>
        </p:spPr>
      </p:sp>
      <p:sp>
        <p:nvSpPr>
          <p:cNvPr id="19" name="Text 17"/>
          <p:cNvSpPr txBox="1"/>
          <p:nvPr/>
        </p:nvSpPr>
        <p:spPr>
          <a:xfrm>
            <a:off x="6373368" y="478231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Evidence level</a:t>
            </a:r>
            <a:endParaRPr lang="en-US" sz="1500" dirty="0"/>
          </a:p>
        </p:txBody>
      </p:sp>
      <p:sp>
        <p:nvSpPr>
          <p:cNvPr id="20" name="Text 18"/>
          <p:cNvSpPr txBox="1"/>
          <p:nvPr/>
        </p:nvSpPr>
        <p:spPr>
          <a:xfrm>
            <a:off x="6373368" y="518464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Retrospective only. No prospective, real-time or outcome study.</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Path to a real product</a:t>
            </a:r>
            <a:endParaRPr lang="en-US" sz="3000" dirty="0"/>
          </a:p>
        </p:txBody>
      </p:sp>
      <p:sp>
        <p:nvSpPr>
          <p:cNvPr id="3" name="Shape 1"/>
          <p:cNvSpPr/>
          <p:nvPr/>
        </p:nvSpPr>
        <p:spPr>
          <a:xfrm>
            <a:off x="548640" y="1325880"/>
            <a:ext cx="3566160" cy="2377440"/>
          </a:xfrm>
          <a:prstGeom prst="roundRect">
            <a:avLst>
              <a:gd name="adj" fmla="val 3077"/>
            </a:avLst>
          </a:prstGeom>
          <a:solidFill>
            <a:srgbClr val="F3F6F7"/>
          </a:solidFill>
          <a:ln w="12700">
            <a:solidFill>
              <a:srgbClr val="F3F6F7"/>
            </a:solidFill>
            <a:prstDash val="solid"/>
          </a:ln>
        </p:spPr>
      </p:sp>
      <p:sp>
        <p:nvSpPr>
          <p:cNvPr id="4" name="Text 2"/>
          <p:cNvSpPr txBox="1"/>
          <p:nvPr/>
        </p:nvSpPr>
        <p:spPr>
          <a:xfrm>
            <a:off x="749808" y="1490472"/>
            <a:ext cx="31638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Who would use and buy it (to validate)</a:t>
            </a:r>
            <a:endParaRPr lang="en-US" sz="1500" dirty="0"/>
          </a:p>
        </p:txBody>
      </p:sp>
      <p:sp>
        <p:nvSpPr>
          <p:cNvPr id="5" name="Text 3"/>
          <p:cNvSpPr txBox="1"/>
          <p:nvPr/>
        </p:nvSpPr>
        <p:spPr>
          <a:xfrm>
            <a:off x="749808" y="1892808"/>
            <a:ext cx="3163824" cy="16916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Diabetes clinic chains and digital-therapeutics programmes already running connected-CGM coaching. Value: triage of coach and educator time. Willingness to pay is untested.</a:t>
            </a:r>
            <a:endParaRPr lang="en-US" sz="1300" dirty="0"/>
          </a:p>
        </p:txBody>
      </p:sp>
      <p:sp>
        <p:nvSpPr>
          <p:cNvPr id="6" name="Shape 4"/>
          <p:cNvSpPr/>
          <p:nvPr/>
        </p:nvSpPr>
        <p:spPr>
          <a:xfrm>
            <a:off x="4315968" y="1325880"/>
            <a:ext cx="3566160" cy="2377440"/>
          </a:xfrm>
          <a:prstGeom prst="roundRect">
            <a:avLst>
              <a:gd name="adj" fmla="val 3077"/>
            </a:avLst>
          </a:prstGeom>
          <a:solidFill>
            <a:srgbClr val="F3F6F7"/>
          </a:solidFill>
          <a:ln w="12700">
            <a:solidFill>
              <a:srgbClr val="F3F6F7"/>
            </a:solidFill>
            <a:prstDash val="solid"/>
          </a:ln>
        </p:spPr>
      </p:sp>
      <p:sp>
        <p:nvSpPr>
          <p:cNvPr id="7" name="Text 5"/>
          <p:cNvSpPr txBox="1"/>
          <p:nvPr/>
        </p:nvSpPr>
        <p:spPr>
          <a:xfrm>
            <a:off x="4517136" y="1490472"/>
            <a:ext cx="31638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What a buyer would require</a:t>
            </a:r>
            <a:endParaRPr lang="en-US" sz="1500" dirty="0"/>
          </a:p>
        </p:txBody>
      </p:sp>
      <p:sp>
        <p:nvSpPr>
          <p:cNvPr id="8" name="Text 6"/>
          <p:cNvSpPr txBox="1"/>
          <p:nvPr/>
        </p:nvSpPr>
        <p:spPr>
          <a:xfrm>
            <a:off x="4517136" y="1892808"/>
            <a:ext cx="3163824" cy="16916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Validation on Indian patients and diets, a prospective pilot with outcome measures, integration with sensor clouds and the clinic EHR (ABDM FHIR).</a:t>
            </a:r>
            <a:endParaRPr lang="en-US" sz="1300" dirty="0"/>
          </a:p>
        </p:txBody>
      </p:sp>
      <p:sp>
        <p:nvSpPr>
          <p:cNvPr id="9" name="Shape 7"/>
          <p:cNvSpPr/>
          <p:nvPr/>
        </p:nvSpPr>
        <p:spPr>
          <a:xfrm>
            <a:off x="8083296" y="1325880"/>
            <a:ext cx="3529584" cy="2377440"/>
          </a:xfrm>
          <a:prstGeom prst="roundRect">
            <a:avLst>
              <a:gd name="adj" fmla="val 3077"/>
            </a:avLst>
          </a:prstGeom>
          <a:solidFill>
            <a:srgbClr val="F3F6F7"/>
          </a:solidFill>
          <a:ln w="12700">
            <a:solidFill>
              <a:srgbClr val="F3F6F7"/>
            </a:solidFill>
            <a:prstDash val="solid"/>
          </a:ln>
        </p:spPr>
      </p:sp>
      <p:sp>
        <p:nvSpPr>
          <p:cNvPr id="10" name="Text 8"/>
          <p:cNvSpPr txBox="1"/>
          <p:nvPr/>
        </p:nvSpPr>
        <p:spPr>
          <a:xfrm>
            <a:off x="8284464" y="1490472"/>
            <a:ext cx="3127248"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Regulation and privacy</a:t>
            </a:r>
            <a:endParaRPr lang="en-US" sz="1500" dirty="0"/>
          </a:p>
        </p:txBody>
      </p:sp>
      <p:sp>
        <p:nvSpPr>
          <p:cNvPr id="11" name="Text 9"/>
          <p:cNvSpPr txBox="1"/>
          <p:nvPr/>
        </p:nvSpPr>
        <p:spPr>
          <a:xfrm>
            <a:off x="8284464" y="1892808"/>
            <a:ext cx="3127248" cy="16916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Likely software as a medical device under India's Medical Devices Rules 2017 (CDSCO draft guidance, Oct 2025). Real data falls under the DPDP Act 2023 and Rules 2025.</a:t>
            </a:r>
            <a:endParaRPr lang="en-US" sz="1300" dirty="0"/>
          </a:p>
        </p:txBody>
      </p:sp>
      <p:sp>
        <p:nvSpPr>
          <p:cNvPr id="12" name="Text 10"/>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700" b="1" dirty="0">
                <a:solidFill>
                  <a:srgbClr val="0D5F73"/>
                </a:solidFill>
                <a:latin typeface="Calibri" pitchFamily="34" charset="0"/>
                <a:ea typeface="Calibri" pitchFamily="34" charset="-122"/>
                <a:cs typeface="Calibri" pitchFamily="34" charset="-120"/>
              </a:rPr>
              <a:t>Next steps</a:t>
            </a:r>
            <a:endParaRPr lang="en-US" sz="1700" dirty="0"/>
          </a:p>
        </p:txBody>
      </p:sp>
      <p:sp>
        <p:nvSpPr>
          <p:cNvPr id="13" name="Text 11"/>
          <p:cNvSpPr txBox="1"/>
          <p:nvPr/>
        </p:nvSpPr>
        <p:spPr>
          <a:xfrm>
            <a:off x="548640" y="4389120"/>
            <a:ext cx="11064240" cy="18288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5232A"/>
                </a:solidFill>
                <a:latin typeface="Calibri" pitchFamily="34" charset="0"/>
                <a:ea typeface="Calibri" pitchFamily="34" charset="-122"/>
                <a:cs typeface="Calibri" pitchFamily="34" charset="-120"/>
              </a:rPr>
              <a:t>Merge the three alert types into one stream with a shared cooldown; set budgets with clinicians</a:t>
            </a:r>
            <a:endParaRPr lang="en-US" sz="1500" dirty="0"/>
          </a:p>
          <a:p>
            <a:pPr marL="203200" indent="-203200">
              <a:spcAft>
                <a:spcPts val="600"/>
              </a:spcAft>
              <a:buSzPct val="100000"/>
              <a:buChar char="•"/>
            </a:pPr>
            <a:r>
              <a:rPr lang="en-US" sz="1400" dirty="0">
                <a:solidFill>
                  <a:srgbClr val="15232A"/>
                </a:solidFill>
                <a:latin typeface="Calibri" pitchFamily="34" charset="0"/>
                <a:ea typeface="Calibri" pitchFamily="34" charset="-122"/>
                <a:cs typeface="Calibri" pitchFamily="34" charset="-120"/>
              </a:rPr>
              <a:t>Noise-augmented training and a noise detector that widens intervals or abstains</a:t>
            </a:r>
            <a:endParaRPr lang="en-US" sz="1500" dirty="0"/>
          </a:p>
          <a:p>
            <a:pPr marL="203200" indent="-203200">
              <a:spcAft>
                <a:spcPts val="600"/>
              </a:spcAft>
              <a:buSzPct val="100000"/>
              <a:buChar char="•"/>
            </a:pPr>
            <a:r>
              <a:rPr lang="en-US" sz="1400" dirty="0">
                <a:solidFill>
                  <a:srgbClr val="15232A"/>
                </a:solidFill>
                <a:latin typeface="Calibri" pitchFamily="34" charset="0"/>
                <a:ea typeface="Calibri" pitchFamily="34" charset="-122"/>
                <a:cs typeface="Calibri" pitchFamily="34" charset="-120"/>
              </a:rPr>
              <a:t>A prospective, observation-only pilot with an Indian diabetes clinic (forecasts hidden from care until validated)</a:t>
            </a:r>
            <a:endParaRPr lang="en-US" sz="1500" dirty="0"/>
          </a:p>
          <a:p>
            <a:pPr marL="203200" indent="-203200">
              <a:spcAft>
                <a:spcPts val="600"/>
              </a:spcAft>
              <a:buSzPct val="100000"/>
              <a:buChar char="•"/>
            </a:pPr>
            <a:r>
              <a:rPr lang="en-US" sz="1400" dirty="0">
                <a:solidFill>
                  <a:srgbClr val="15232A"/>
                </a:solidFill>
                <a:latin typeface="Calibri" pitchFamily="34" charset="0"/>
                <a:ea typeface="Calibri" pitchFamily="34" charset="-122"/>
                <a:cs typeface="Calibri" pitchFamily="34" charset="-120"/>
              </a:rPr>
              <a:t>Interoperability: CGM vendor APIs and ABDM-compliant FHIR exchange</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188720"/>
          </a:xfrm>
          <a:prstGeom prst="rect">
            <a:avLst/>
          </a:prstGeom>
          <a:noFill/>
          <a:ln/>
        </p:spPr>
        <p:txBody>
          <a:bodyPr wrap="square" lIns="0" tIns="0" rIns="0" bIns="0" rtlCol="0" anchor="b"/>
          <a:lstStyle/>
          <a:p>
            <a:pPr algn="l"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3383280"/>
            <a:ext cx="10515600" cy="822960"/>
          </a:xfrm>
          <a:prstGeom prst="rect">
            <a:avLst/>
          </a:prstGeom>
          <a:noFill/>
          <a:ln/>
        </p:spPr>
        <p:txBody>
          <a:bodyPr wrap="square" lIns="0" tIns="0" rIns="0" bIns="0" rtlCol="0" anchor="t"/>
          <a:lstStyle/>
          <a:p>
            <a:pPr indent="0" marL="0">
              <a:buNone/>
            </a:pPr>
            <a:r>
              <a:rPr lang="en-US" sz="1800" dirty="0">
                <a:solidFill>
                  <a:srgbClr val="D7E9EE"/>
                </a:solidFill>
                <a:latin typeface="Calibri" pitchFamily="34" charset="0"/>
                <a:ea typeface="Calibri" pitchFamily="34" charset="-122"/>
                <a:cs typeface="Calibri" pitchFamily="34" charset="-120"/>
              </a:rPr>
              <a:t>Everything shown is in the public repository: code, trained models, the locked test results and the scripts that regenerate every number.</a:t>
            </a:r>
            <a:endParaRPr lang="en-US" sz="1800" dirty="0"/>
          </a:p>
        </p:txBody>
      </p:sp>
      <p:sp>
        <p:nvSpPr>
          <p:cNvPr id="4" name="Text 2"/>
          <p:cNvSpPr txBox="1"/>
          <p:nvPr/>
        </p:nvSpPr>
        <p:spPr>
          <a:xfrm>
            <a:off x="731520" y="4343400"/>
            <a:ext cx="1051560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github.com/Spiritsfuse/pratirup</a:t>
            </a:r>
            <a:endParaRPr lang="en-US" sz="2000" dirty="0"/>
          </a:p>
        </p:txBody>
      </p:sp>
      <p:sp>
        <p:nvSpPr>
          <p:cNvPr id="5" name="Text 3"/>
          <p:cNvSpPr txBox="1"/>
          <p:nvPr/>
        </p:nvSpPr>
        <p:spPr>
          <a:xfrm>
            <a:off x="731520" y="5120640"/>
            <a:ext cx="10515600" cy="365760"/>
          </a:xfrm>
          <a:prstGeom prst="rect">
            <a:avLst/>
          </a:prstGeom>
          <a:noFill/>
          <a:ln/>
        </p:spPr>
        <p:txBody>
          <a:bodyPr wrap="square" lIns="0" tIns="0" rIns="0" bIns="0" rtlCol="0" anchor="t"/>
          <a:lstStyle/>
          <a:p>
            <a:pPr indent="0" marL="0">
              <a:buNone/>
            </a:pPr>
            <a:r>
              <a:rPr lang="en-US" sz="1400" dirty="0">
                <a:solidFill>
                  <a:srgbClr val="9CC3CD"/>
                </a:solidFill>
                <a:latin typeface="Calibri" pitchFamily="34" charset="0"/>
                <a:ea typeface="Calibri" pitchFamily="34" charset="-122"/>
                <a:cs typeface="Calibri" pitchFamily="34" charset="-120"/>
              </a:rPr>
              <a:t>Team Aflatoon · Dhruv Sharma · Pratyush Mishra · Anushika Chauhan · Scaler School of Technology, Bengaluru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Pratirup: a glucose digital twin for type 2 diabetes care teams</dc:title>
  <dc:subject>Happiest Health Digital Twin Challenge 2026</dc:subject>
  <dc:creator>Team Aflatoon, Scaler School of Technology</dc:creator>
  <cp:lastModifiedBy>Team Aflatoon, Scaler School of Technology</cp:lastModifiedBy>
  <cp:revision>1</cp:revision>
  <dcterms:created xsi:type="dcterms:W3CDTF">2026-10-20T19:32:23Z</dcterms:created>
  <dcterms:modified xsi:type="dcterms:W3CDTF">2026-10-20T19:32:23Z</dcterms:modified>
</cp:coreProperties>
</file>