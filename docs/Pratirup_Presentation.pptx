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3.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4.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3799939-6c4e-b7ae-3243-bf28d30a81cb}">
          <p14:sldIdLst>
            <p14:sldId id="256"/>
            <p14:sldId id="257"/>
          </p14:sldIdLst>
        </p14:section>
        <p14:section name="Problem" id="{f2e6c315-e8c7-620f-4934-35323dc144af}">
          <p14:sldIdLst>
            <p14:sldId id="258"/>
            <p14:sldId id="259"/>
            <p14:sldId id="260"/>
          </p14:sldIdLst>
        </p14:section>
        <p14:section name="Solution" id="{b4b9d257-5495-a3e8-c45d-bc215b9d504a}">
          <p14:sldIdLst>
            <p14:sldId id="261"/>
            <p14:sldId id="262"/>
            <p14:sldId id="263"/>
          </p14:sldIdLst>
        </p14:section>
        <p14:section name="Evidence" id="{e493628a-a89d-29a2-8499-397f3cfe5e2a}">
          <p14:sldIdLst>
            <p14:sldId id="264"/>
            <p14:sldId id="265"/>
            <p14:sldId id="266"/>
            <p14:sldId id="267"/>
            <p14:sldId id="268"/>
            <p14:sldId id="269"/>
            <p14:sldId id="270"/>
          </p14:sldIdLst>
        </p14:section>
        <p14:section name="Product" id="{7868e36b-1e17-c806-4f10-38cfda31d33a}">
          <p14:sldIdLst>
            <p14:sldId id="271"/>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5232A"/>
                </a:solidFill>
                <a:latin typeface="Calibri"/>
              </a:defRPr>
            </a:pPr>
            <a:r>
              <a:rPr sz="1300" b="0" i="0" u="none" strike="noStrike">
                <a:solidFill>
                  <a:srgbClr val="15232A"/>
                </a:solidFill>
                <a:latin typeface="Calibri"/>
              </a:rPr>
              <a:t>Mean absolute error, mg/dL (lower is better)</a:t>
            </a:r>
          </a:p>
        </c:rich>
      </c:tx>
      <c:layout/>
      <c:overlay val="0"/>
    </c:title>
    <c:autoTitleDeleted val="0"/>
    <c:plotArea>
      <c:layout/>
      <c:barChart>
        <c:barDir val="col"/>
        <c:grouping val="clustered"/>
        <c:varyColors val="0"/>
        <c:ser>
          <c:idx val="0"/>
          <c:order val="0"/>
          <c:tx>
            <c:strRef>
              <c:f>Sheet1!$B$1</c:f>
              <c:strCache>
                <c:ptCount val="1"/>
                <c:pt idx="0">
                  <c:v>Last value carried forward</c:v>
                </c:pt>
              </c:strCache>
            </c:strRef>
          </c:tx>
          <c:spPr>
            <a:solidFill>
              <a:srgbClr val="9AA9B1"/>
            </a:solidFill>
            <a:effectLst/>
          </c:spPr>
          <c:invertIfNegative val="0"/>
          <c:dLbls>
            <c:numFmt formatCode="0.0" sourceLinked="0"/>
            <c:txPr>
              <a:bodyPr/>
              <a:lstStyle/>
              <a:p>
                <a:pPr>
                  <a:defRPr b="0" i="0" strike="noStrike" sz="1000" u="none">
                    <a:solidFill>
                      <a:srgbClr val="15232A"/>
                    </a:solidFill>
                    <a:latin typeface="Calibri"/>
                  </a:defRPr>
                </a:pPr>
              </a:p>
            </c:txPr>
            <c:showLegendKey val="0"/>
            <c:showVal val="1"/>
            <c:showCatName val="0"/>
            <c:showSerName val="0"/>
            <c:showPercent val="0"/>
            <c:showBubbleSize val="0"/>
            <c:showLeaderLines val="0"/>
          </c:dLbls>
          <c:cat>
            <c:multiLvlStrRef>
              <c:f>Sheet1!$A$2:$A$4</c:f>
              <c:multiLvlStrCache>
                <c:ptCount val="3"/>
                <c:lvl>
                  <c:pt idx="0">
                    <c:v>+30 min</c:v>
                  </c:pt>
                  <c:pt idx="1">
                    <c:v>+60 min</c:v>
                  </c:pt>
                  <c:pt idx="2">
                    <c:v>+120 min (exploratory)</c:v>
                  </c:pt>
                </c:lvl>
              </c:multiLvlStrCache>
            </c:multiLvlStrRef>
          </c:cat>
          <c:val>
            <c:numRef>
              <c:f>Sheet1!$B$2:$B$4</c:f>
              <c:numCache>
                <c:formatCode>General</c:formatCode>
                <c:ptCount val="3"/>
                <c:pt idx="0">
                  <c:v>12.1</c:v>
                </c:pt>
                <c:pt idx="1">
                  <c:v>20.1</c:v>
                </c:pt>
                <c:pt idx="2">
                  <c:v>30.2</c:v>
                </c:pt>
              </c:numCache>
            </c:numRef>
          </c:val>
        </c:ser>
        <c:ser>
          <c:idx val="1"/>
          <c:order val="1"/>
          <c:tx>
            <c:strRef>
              <c:f>Sheet1!$C$1</c:f>
              <c:strCache>
                <c:ptCount val="1"/>
                <c:pt idx="0">
                  <c:v>Chronos-Bolt (zero-shot)</c:v>
                </c:pt>
              </c:strCache>
            </c:strRef>
          </c:tx>
          <c:spPr>
            <a:solidFill>
              <a:srgbClr val="D9B99B"/>
            </a:solidFill>
            <a:effectLst/>
          </c:spPr>
          <c:invertIfNegative val="0"/>
          <c:dLbls>
            <c:numFmt formatCode="0.0" sourceLinked="0"/>
            <c:txPr>
              <a:bodyPr/>
              <a:lstStyle/>
              <a:p>
                <a:pPr>
                  <a:defRPr b="0" i="0" strike="noStrike" sz="1000" u="none">
                    <a:solidFill>
                      <a:srgbClr val="15232A"/>
                    </a:solidFill>
                    <a:latin typeface="Calibri"/>
                  </a:defRPr>
                </a:pPr>
              </a:p>
            </c:txPr>
            <c:showLegendKey val="0"/>
            <c:showVal val="1"/>
            <c:showCatName val="0"/>
            <c:showSerName val="0"/>
            <c:showPercent val="0"/>
            <c:showBubbleSize val="0"/>
            <c:showLeaderLines val="0"/>
          </c:dLbls>
          <c:cat>
            <c:multiLvlStrRef>
              <c:f>Sheet1!$A$2:$A$4</c:f>
              <c:multiLvlStrCache>
                <c:ptCount val="3"/>
                <c:lvl>
                  <c:pt idx="0">
                    <c:v>+30 min</c:v>
                  </c:pt>
                  <c:pt idx="1">
                    <c:v>+60 min</c:v>
                  </c:pt>
                  <c:pt idx="2">
                    <c:v>+120 min (exploratory)</c:v>
                  </c:pt>
                </c:lvl>
              </c:multiLvlStrCache>
            </c:multiLvlStrRef>
          </c:cat>
          <c:val>
            <c:numRef>
              <c:f>Sheet1!$C$2:$C$4</c:f>
              <c:numCache>
                <c:formatCode>General</c:formatCode>
                <c:ptCount val="3"/>
                <c:pt idx="0">
                  <c:v>11.3</c:v>
                </c:pt>
                <c:pt idx="1">
                  <c:v>18.7</c:v>
                </c:pt>
                <c:pt idx="2">
                  <c:v>27.7</c:v>
                </c:pt>
              </c:numCache>
            </c:numRef>
          </c:val>
        </c:ser>
        <c:ser>
          <c:idx val="2"/>
          <c:order val="2"/>
          <c:tx>
            <c:strRef>
              <c:f>Sheet1!$D$1</c:f>
              <c:strCache>
                <c:ptCount val="1"/>
                <c:pt idx="0">
                  <c:v>Linear autoregression</c:v>
                </c:pt>
              </c:strCache>
            </c:strRef>
          </c:tx>
          <c:spPr>
            <a:solidFill>
              <a:srgbClr val="C5CFD4"/>
            </a:solidFill>
            <a:effectLst/>
          </c:spPr>
          <c:invertIfNegative val="0"/>
          <c:dLbls>
            <c:numFmt formatCode="0.0" sourceLinked="0"/>
            <c:txPr>
              <a:bodyPr/>
              <a:lstStyle/>
              <a:p>
                <a:pPr>
                  <a:defRPr b="0" i="0" strike="noStrike" sz="1000" u="none">
                    <a:solidFill>
                      <a:srgbClr val="15232A"/>
                    </a:solidFill>
                    <a:latin typeface="Calibri"/>
                  </a:defRPr>
                </a:pPr>
              </a:p>
            </c:txPr>
            <c:showLegendKey val="0"/>
            <c:showVal val="1"/>
            <c:showCatName val="0"/>
            <c:showSerName val="0"/>
            <c:showPercent val="0"/>
            <c:showBubbleSize val="0"/>
            <c:showLeaderLines val="0"/>
          </c:dLbls>
          <c:cat>
            <c:multiLvlStrRef>
              <c:f>Sheet1!$A$2:$A$4</c:f>
              <c:multiLvlStrCache>
                <c:ptCount val="3"/>
                <c:lvl>
                  <c:pt idx="0">
                    <c:v>+30 min</c:v>
                  </c:pt>
                  <c:pt idx="1">
                    <c:v>+60 min</c:v>
                  </c:pt>
                  <c:pt idx="2">
                    <c:v>+120 min (exploratory)</c:v>
                  </c:pt>
                </c:lvl>
              </c:multiLvlStrCache>
            </c:multiLvlStrRef>
          </c:cat>
          <c:val>
            <c:numRef>
              <c:f>Sheet1!$D$2:$D$4</c:f>
              <c:numCache>
                <c:formatCode>General</c:formatCode>
                <c:ptCount val="3"/>
                <c:pt idx="0">
                  <c:v>9.8</c:v>
                </c:pt>
                <c:pt idx="1">
                  <c:v>17.8</c:v>
                </c:pt>
                <c:pt idx="2">
                  <c:v>26.8</c:v>
                </c:pt>
              </c:numCache>
            </c:numRef>
          </c:val>
        </c:ser>
        <c:ser>
          <c:idx val="3"/>
          <c:order val="3"/>
          <c:tx>
            <c:strRef>
              <c:f>Sheet1!$E$1</c:f>
              <c:strCache>
                <c:ptCount val="1"/>
                <c:pt idx="0">
                  <c:v>GRU sequence network</c:v>
                </c:pt>
              </c:strCache>
            </c:strRef>
          </c:tx>
          <c:spPr>
            <a:solidFill>
              <a:srgbClr val="B28A4A"/>
            </a:solidFill>
            <a:effectLst/>
          </c:spPr>
          <c:invertIfNegative val="0"/>
          <c:dLbls>
            <c:numFmt formatCode="0.0" sourceLinked="0"/>
            <c:txPr>
              <a:bodyPr/>
              <a:lstStyle/>
              <a:p>
                <a:pPr>
                  <a:defRPr b="0" i="0" strike="noStrike" sz="1000" u="none">
                    <a:solidFill>
                      <a:srgbClr val="15232A"/>
                    </a:solidFill>
                    <a:latin typeface="Calibri"/>
                  </a:defRPr>
                </a:pPr>
              </a:p>
            </c:txPr>
            <c:showLegendKey val="0"/>
            <c:showVal val="1"/>
            <c:showCatName val="0"/>
            <c:showSerName val="0"/>
            <c:showPercent val="0"/>
            <c:showBubbleSize val="0"/>
            <c:showLeaderLines val="0"/>
          </c:dLbls>
          <c:cat>
            <c:multiLvlStrRef>
              <c:f>Sheet1!$A$2:$A$4</c:f>
              <c:multiLvlStrCache>
                <c:ptCount val="3"/>
                <c:lvl>
                  <c:pt idx="0">
                    <c:v>+30 min</c:v>
                  </c:pt>
                  <c:pt idx="1">
                    <c:v>+60 min</c:v>
                  </c:pt>
                  <c:pt idx="2">
                    <c:v>+120 min (exploratory)</c:v>
                  </c:pt>
                </c:lvl>
              </c:multiLvlStrCache>
            </c:multiLvlStrRef>
          </c:cat>
          <c:val>
            <c:numRef>
              <c:f>Sheet1!$E$2:$E$4</c:f>
              <c:numCache>
                <c:formatCode>General</c:formatCode>
                <c:ptCount val="3"/>
                <c:pt idx="0">
                  <c:v>8.6</c:v>
                </c:pt>
                <c:pt idx="1">
                  <c:v>14.7</c:v>
                </c:pt>
                <c:pt idx="2">
                  <c:v>20.1</c:v>
                </c:pt>
              </c:numCache>
            </c:numRef>
          </c:val>
        </c:ser>
        <c:ser>
          <c:idx val="4"/>
          <c:order val="4"/>
          <c:tx>
            <c:strRef>
              <c:f>Sheet1!$F$1</c:f>
              <c:strCache>
                <c:ptCount val="1"/>
                <c:pt idx="0">
                  <c:v>Pratirup</c:v>
                </c:pt>
              </c:strCache>
            </c:strRef>
          </c:tx>
          <c:spPr>
            <a:solidFill>
              <a:srgbClr val="0D5F73"/>
            </a:solidFill>
            <a:effectLst/>
          </c:spPr>
          <c:invertIfNegative val="0"/>
          <c:dLbls>
            <c:numFmt formatCode="0.0" sourceLinked="0"/>
            <c:txPr>
              <a:bodyPr/>
              <a:lstStyle/>
              <a:p>
                <a:pPr>
                  <a:defRPr b="0" i="0" strike="noStrike" sz="1000" u="none">
                    <a:solidFill>
                      <a:srgbClr val="15232A"/>
                    </a:solidFill>
                    <a:latin typeface="Calibri"/>
                  </a:defRPr>
                </a:pPr>
              </a:p>
            </c:txPr>
            <c:showLegendKey val="0"/>
            <c:showVal val="1"/>
            <c:showCatName val="0"/>
            <c:showSerName val="0"/>
            <c:showPercent val="0"/>
            <c:showBubbleSize val="0"/>
            <c:showLeaderLines val="0"/>
          </c:dLbls>
          <c:cat>
            <c:multiLvlStrRef>
              <c:f>Sheet1!$A$2:$A$4</c:f>
              <c:multiLvlStrCache>
                <c:ptCount val="3"/>
                <c:lvl>
                  <c:pt idx="0">
                    <c:v>+30 min</c:v>
                  </c:pt>
                  <c:pt idx="1">
                    <c:v>+60 min</c:v>
                  </c:pt>
                  <c:pt idx="2">
                    <c:v>+120 min (exploratory)</c:v>
                  </c:pt>
                </c:lvl>
              </c:multiLvlStrCache>
            </c:multiLvlStrRef>
          </c:cat>
          <c:val>
            <c:numRef>
              <c:f>Sheet1!$F$2:$F$4</c:f>
              <c:numCache>
                <c:formatCode>General</c:formatCode>
                <c:ptCount val="3"/>
                <c:pt idx="0">
                  <c:v>8.8</c:v>
                </c:pt>
                <c:pt idx="1">
                  <c:v>14.9</c:v>
                </c:pt>
                <c:pt idx="2">
                  <c:v>20.5</c:v>
                </c:pt>
              </c:numCache>
            </c:numRef>
          </c:val>
        </c:ser>
        <c:dLbls>
          <c:numFmt formatCode="0.0" sourceLinked="0"/>
          <c:txPr>
            <a:bodyPr/>
            <a:lstStyle/>
            <a:p>
              <a:pPr>
                <a:defRPr b="0" i="0" strike="noStrike" sz="1000" u="none">
                  <a:solidFill>
                    <a:srgbClr val="15232A"/>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6676F"/>
                </a:solidFill>
                <a:latin typeface="Calibri"/>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3E9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6676F"/>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5232A"/>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5232A"/>
                </a:solidFill>
                <a:latin typeface="Calibri"/>
              </a:defRPr>
            </a:pPr>
            <a:r>
              <a:rPr sz="1300" b="0" i="0" u="none" strike="noStrike">
                <a:solidFill>
                  <a:srgbClr val="15232A"/>
                </a:solidFill>
                <a:latin typeface="Calibri"/>
              </a:rPr>
              <a:t>60-min MAE, mg/dL, held-out patients</a:t>
            </a:r>
          </a:p>
        </c:rich>
      </c:tx>
      <c:layout/>
      <c:overlay val="0"/>
    </c:title>
    <c:autoTitleDeleted val="0"/>
    <c:plotArea>
      <c:layout/>
      <c:barChart>
        <c:barDir val="col"/>
        <c:grouping val="clustered"/>
        <c:varyColors val="0"/>
        <c:ser>
          <c:idx val="0"/>
          <c:order val="0"/>
          <c:tx>
            <c:strRef>
              <c:f>Sheet1!$B$1</c:f>
              <c:strCache>
                <c:ptCount val="1"/>
                <c:pt idx="0">
                  <c:v>60-min MAE</c:v>
                </c:pt>
              </c:strCache>
            </c:strRef>
          </c:tx>
          <c:spPr>
            <a:solidFill>
              <a:srgbClr val="5AA3B5"/>
            </a:solidFill>
            <a:effectLst/>
          </c:spPr>
          <c:invertIfNegative val="0"/>
          <c:dLbls>
            <c:numFmt formatCode="0.00" sourceLinked="0"/>
            <c:txPr>
              <a:bodyPr/>
              <a:lstStyle/>
              <a:p>
                <a:pPr>
                  <a:defRPr b="0" i="0" strike="noStrike" sz="1000" u="none">
                    <a:solidFill>
                      <a:srgbClr val="15232A"/>
                    </a:solidFill>
                    <a:latin typeface="Calibri"/>
                  </a:defRPr>
                </a:pPr>
              </a:p>
            </c:txPr>
            <c:showLegendKey val="0"/>
            <c:showVal val="1"/>
            <c:showCatName val="0"/>
            <c:showSerName val="0"/>
            <c:showPercent val="0"/>
            <c:showBubbleSize val="0"/>
            <c:showLeaderLines val="0"/>
          </c:dLbls>
          <c:dPt>
            <c:idx val="0"/>
            <c:invertIfNegative val="0"/>
            <c:bubble3D val="0"/>
            <c:spPr>
              <a:solidFill>
                <a:srgbClr val="5AA3B5"/>
              </a:solidFill>
              <a:effectLst/>
            </c:spPr>
          </c:dPt>
          <c:dPt>
            <c:idx val="1"/>
            <c:invertIfNegative val="0"/>
            <c:bubble3D val="0"/>
            <c:spPr>
              <a:solidFill>
                <a:srgbClr val="5AA3B5"/>
              </a:solidFill>
              <a:effectLst/>
            </c:spPr>
          </c:dPt>
          <c:dPt>
            <c:idx val="2"/>
            <c:invertIfNegative val="0"/>
            <c:bubble3D val="0"/>
            <c:spPr>
              <a:solidFill>
                <a:srgbClr val="5AA3B5"/>
              </a:solidFill>
              <a:effectLst/>
            </c:spPr>
          </c:dPt>
          <c:dPt>
            <c:idx val="3"/>
            <c:invertIfNegative val="0"/>
            <c:bubble3D val="0"/>
            <c:spPr>
              <a:solidFill>
                <a:srgbClr val="0D5F73"/>
              </a:solidFill>
              <a:effectLst/>
            </c:spPr>
          </c:dPt>
          <c:dPt>
            <c:idx val="4"/>
            <c:invertIfNegative val="0"/>
            <c:bubble3D val="0"/>
            <c:spPr>
              <a:solidFill>
                <a:srgbClr val="0D5F73"/>
              </a:solidFill>
              <a:effectLst/>
            </c:spPr>
          </c:dPt>
          <c:cat>
            <c:multiLvlStrRef>
              <c:f>Sheet1!$A$2:$A$6</c:f>
              <c:multiLvlStrCache>
                <c:ptCount val="5"/>
                <c:lvl>
                  <c:pt idx="0">
                    <c:v>CGM only</c:v>
                  </c:pt>
                  <c:pt idx="1">
                    <c:v>+ meal and drug logs</c:v>
                  </c:pt>
                  <c:pt idx="2">
                    <c:v>+ clinical record</c:v>
                  </c:pt>
                  <c:pt idx="3">
                    <c:v>+ personal history</c:v>
                  </c:pt>
                  <c:pt idx="4">
                    <c:v>+ online self-correction</c:v>
                  </c:pt>
                </c:lvl>
              </c:multiLvlStrCache>
            </c:multiLvlStrRef>
          </c:cat>
          <c:val>
            <c:numRef>
              <c:f>Sheet1!$B$2:$B$6</c:f>
              <c:numCache>
                <c:formatCode>General</c:formatCode>
                <c:ptCount val="5"/>
                <c:pt idx="0">
                  <c:v>16.21</c:v>
                </c:pt>
                <c:pt idx="1">
                  <c:v>15.88</c:v>
                </c:pt>
                <c:pt idx="2">
                  <c:v>15.98</c:v>
                </c:pt>
                <c:pt idx="3">
                  <c:v>14.9</c:v>
                </c:pt>
                <c:pt idx="4">
                  <c:v>14.88</c:v>
                </c:pt>
              </c:numCache>
            </c:numRef>
          </c:val>
        </c:ser>
        <c:dLbls>
          <c:numFmt formatCode="0.00" sourceLinked="0"/>
          <c:txPr>
            <a:bodyPr/>
            <a:lstStyle/>
            <a:p>
              <a:pPr>
                <a:defRPr b="0" i="0" strike="noStrike" sz="1000" u="none">
                  <a:solidFill>
                    <a:srgbClr val="15232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6676F"/>
                </a:solidFill>
                <a:latin typeface="Calibri"/>
              </a:defRPr>
            </a:pPr>
            <a:endParaRPr lang="en-US"/>
          </a:p>
        </c:txPr>
        <c:crossAx val="2094734552"/>
        <c:crosses val="autoZero"/>
        <c:auto val="1"/>
        <c:lblAlgn val="ctr"/>
        <c:noMultiLvlLbl val="1"/>
      </c:catAx>
      <c:valAx>
        <c:axId val="2094734552"/>
        <c:scaling>
          <c:orientation val="minMax"/>
          <c:max val="16.5"/>
          <c:min val="13"/>
        </c:scaling>
        <c:delete val="0"/>
        <c:axPos val="l"/>
        <c:majorGridlines>
          <c:spPr>
            <a:ln w="6350" cap="flat">
              <a:solidFill>
                <a:srgbClr val="E3E9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6676F"/>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5232A"/>
                </a:solidFill>
                <a:latin typeface="Calibri"/>
              </a:defRPr>
            </a:pPr>
            <a:r>
              <a:rPr sz="1300" b="0" i="0" u="none" strike="noStrike">
                <a:solidFill>
                  <a:srgbClr val="15232A"/>
                </a:solidFill>
                <a:latin typeface="Calibri"/>
              </a:rPr>
              <a:t>30-min MAE vs added sensor noise (development patients)</a:t>
            </a:r>
          </a:p>
        </c:rich>
      </c:tx>
      <c:layout/>
      <c:overlay val="0"/>
    </c:title>
    <c:autoTitleDeleted val="0"/>
    <c:plotArea>
      <c:layout/>
      <c:lineChart>
        <c:varyColors val="0"/>
        <c:ser>
          <c:idx val="0"/>
          <c:order val="0"/>
          <c:tx>
            <c:strRef>
              <c:f>Sheet1!$B$1</c:f>
              <c:strCache>
                <c:ptCount val="1"/>
                <c:pt idx="0">
                  <c:v>v1 (clean training)</c:v>
                </c:pt>
              </c:strCache>
            </c:strRef>
          </c:tx>
          <c:spPr>
            <a:solidFill>
              <a:srgbClr val="9AA9B1"/>
            </a:solidFill>
            <a:ln w="25400" cap="flat">
              <a:solidFill>
                <a:srgbClr val="9AA9B1"/>
              </a:solidFill>
              <a:prstDash val="solid"/>
              <a:round/>
            </a:ln>
            <a:effectLst/>
          </c:spPr>
          <c:invertIfNegative val="0"/>
          <c:dLbls>
            <c:numFmt formatCode="0.0" sourceLinked="0"/>
            <c:txPr>
              <a:bodyPr/>
              <a:lstStyle/>
              <a:p>
                <a:pPr>
                  <a:defRPr b="0" i="0" strike="noStrike" sz="1000" u="none">
                    <a:solidFill>
                      <a:srgbClr val="15232A"/>
                    </a:solidFill>
                    <a:latin typeface="Calibri"/>
                  </a:defRPr>
                </a:pPr>
              </a:p>
            </c:txPr>
            <c:dLblPos val="t"/>
            <c:showLegendKey val="0"/>
            <c:showVal val="1"/>
            <c:showCatName val="0"/>
            <c:showSerName val="0"/>
            <c:showPercent val="0"/>
            <c:showBubbleSize val="0"/>
            <c:showLeaderLines val="0"/>
          </c:dLbls>
          <c:marker>
            <c:symbol val="circle"/>
            <c:size val="7"/>
            <c:spPr>
              <a:solidFill>
                <a:srgbClr val="9AA9B1"/>
              </a:solidFill>
              <a:ln w="9525" cap="flat">
                <a:solidFill>
                  <a:srgbClr val="9AA9B1"/>
                </a:solidFill>
                <a:prstDash val="solid"/>
                <a:round/>
              </a:ln>
              <a:effectLst/>
            </c:spPr>
          </c:marker>
          <c:cat>
            <c:multiLvlStrRef>
              <c:f>Sheet1!$A$2:$A$5</c:f>
              <c:multiLvlStrCache>
                <c:ptCount val="4"/>
                <c:lvl>
                  <c:pt idx="0">
                    <c:v>SD 0</c:v>
                  </c:pt>
                  <c:pt idx="1">
                    <c:v>SD 5</c:v>
                  </c:pt>
                  <c:pt idx="2">
                    <c:v>SD 10</c:v>
                  </c:pt>
                  <c:pt idx="3">
                    <c:v>SD 20</c:v>
                  </c:pt>
                </c:lvl>
              </c:multiLvlStrCache>
            </c:multiLvlStrRef>
          </c:cat>
          <c:val>
            <c:numRef>
              <c:f>Sheet1!$B$2:$B$5</c:f>
              <c:numCache>
                <c:formatCode>General</c:formatCode>
                <c:ptCount val="4"/>
                <c:pt idx="0">
                  <c:v>8.8</c:v>
                </c:pt>
                <c:pt idx="1">
                  <c:v>13.3</c:v>
                </c:pt>
                <c:pt idx="2">
                  <c:v>19.8</c:v>
                </c:pt>
                <c:pt idx="3">
                  <c:v>29.9</c:v>
                </c:pt>
              </c:numCache>
            </c:numRef>
          </c:val>
          <c:smooth val="0"/>
        </c:ser>
        <c:ser>
          <c:idx val="1"/>
          <c:order val="1"/>
          <c:tx>
            <c:strRef>
              <c:f>Sheet1!$C$1</c:f>
              <c:strCache>
                <c:ptCount val="1"/>
                <c:pt idx="0">
                  <c:v>v2 (noise-augmented)</c:v>
                </c:pt>
              </c:strCache>
            </c:strRef>
          </c:tx>
          <c:spPr>
            <a:solidFill>
              <a:srgbClr val="0D5F73"/>
            </a:solidFill>
            <a:ln w="25400" cap="flat">
              <a:solidFill>
                <a:srgbClr val="0D5F73"/>
              </a:solidFill>
              <a:prstDash val="solid"/>
              <a:round/>
            </a:ln>
            <a:effectLst/>
          </c:spPr>
          <c:invertIfNegative val="0"/>
          <c:dLbls>
            <c:numFmt formatCode="0.0" sourceLinked="0"/>
            <c:txPr>
              <a:bodyPr/>
              <a:lstStyle/>
              <a:p>
                <a:pPr>
                  <a:defRPr b="0" i="0" strike="noStrike" sz="1000" u="none">
                    <a:solidFill>
                      <a:srgbClr val="15232A"/>
                    </a:solidFill>
                    <a:latin typeface="Calibri"/>
                  </a:defRPr>
                </a:pPr>
              </a:p>
            </c:txPr>
            <c:dLblPos val="t"/>
            <c:showLegendKey val="0"/>
            <c:showVal val="1"/>
            <c:showCatName val="0"/>
            <c:showSerName val="0"/>
            <c:showPercent val="0"/>
            <c:showBubbleSize val="0"/>
            <c:showLeaderLines val="0"/>
          </c:dLbls>
          <c:marker>
            <c:symbol val="circle"/>
            <c:size val="7"/>
            <c:spPr>
              <a:solidFill>
                <a:srgbClr val="0D5F73"/>
              </a:solidFill>
              <a:ln w="9525" cap="flat">
                <a:solidFill>
                  <a:srgbClr val="0D5F73"/>
                </a:solidFill>
                <a:prstDash val="solid"/>
                <a:round/>
              </a:ln>
              <a:effectLst/>
            </c:spPr>
          </c:marker>
          <c:cat>
            <c:multiLvlStrRef>
              <c:f>Sheet1!$A$2:$A$5</c:f>
              <c:multiLvlStrCache>
                <c:ptCount val="4"/>
                <c:lvl>
                  <c:pt idx="0">
                    <c:v>SD 0</c:v>
                  </c:pt>
                  <c:pt idx="1">
                    <c:v>SD 5</c:v>
                  </c:pt>
                  <c:pt idx="2">
                    <c:v>SD 10</c:v>
                  </c:pt>
                  <c:pt idx="3">
                    <c:v>SD 20</c:v>
                  </c:pt>
                </c:lvl>
              </c:multiLvlStrCache>
            </c:multiLvlStrRef>
          </c:cat>
          <c:val>
            <c:numRef>
              <c:f>Sheet1!$C$2:$C$5</c:f>
              <c:numCache>
                <c:formatCode>General</c:formatCode>
                <c:ptCount val="4"/>
                <c:pt idx="0">
                  <c:v>9</c:v>
                </c:pt>
                <c:pt idx="1">
                  <c:v>11.1</c:v>
                </c:pt>
                <c:pt idx="2">
                  <c:v>13.6</c:v>
                </c:pt>
                <c:pt idx="3">
                  <c:v>20.4</c:v>
                </c:pt>
              </c:numCache>
            </c:numRef>
          </c:val>
          <c:smooth val="0"/>
        </c:ser>
        <c:ser>
          <c:idx val="2"/>
          <c:order val="2"/>
          <c:tx>
            <c:strRef>
              <c:f>Sheet1!$D$1</c:f>
              <c:strCache>
                <c:ptCount val="1"/>
                <c:pt idx="0">
                  <c:v>Last value carried forward</c:v>
                </c:pt>
              </c:strCache>
            </c:strRef>
          </c:tx>
          <c:spPr>
            <a:solidFill>
              <a:srgbClr val="C5CFD4"/>
            </a:solidFill>
            <a:ln w="25400" cap="flat">
              <a:solidFill>
                <a:srgbClr val="C5CFD4"/>
              </a:solidFill>
              <a:prstDash val="solid"/>
              <a:round/>
            </a:ln>
            <a:effectLst/>
          </c:spPr>
          <c:invertIfNegative val="0"/>
          <c:dLbls>
            <c:numFmt formatCode="0.0" sourceLinked="0"/>
            <c:txPr>
              <a:bodyPr/>
              <a:lstStyle/>
              <a:p>
                <a:pPr>
                  <a:defRPr b="0" i="0" strike="noStrike" sz="1000" u="none">
                    <a:solidFill>
                      <a:srgbClr val="15232A"/>
                    </a:solidFill>
                    <a:latin typeface="Calibri"/>
                  </a:defRPr>
                </a:pPr>
              </a:p>
            </c:txPr>
            <c:dLblPos val="t"/>
            <c:showLegendKey val="0"/>
            <c:showVal val="1"/>
            <c:showCatName val="0"/>
            <c:showSerName val="0"/>
            <c:showPercent val="0"/>
            <c:showBubbleSize val="0"/>
            <c:showLeaderLines val="0"/>
          </c:dLbls>
          <c:marker>
            <c:symbol val="circle"/>
            <c:size val="7"/>
            <c:spPr>
              <a:solidFill>
                <a:srgbClr val="C5CFD4"/>
              </a:solidFill>
              <a:ln w="9525" cap="flat">
                <a:solidFill>
                  <a:srgbClr val="C5CFD4"/>
                </a:solidFill>
                <a:prstDash val="solid"/>
                <a:round/>
              </a:ln>
              <a:effectLst/>
            </c:spPr>
          </c:marker>
          <c:cat>
            <c:multiLvlStrRef>
              <c:f>Sheet1!$A$2:$A$5</c:f>
              <c:multiLvlStrCache>
                <c:ptCount val="4"/>
                <c:lvl>
                  <c:pt idx="0">
                    <c:v>SD 0</c:v>
                  </c:pt>
                  <c:pt idx="1">
                    <c:v>SD 5</c:v>
                  </c:pt>
                  <c:pt idx="2">
                    <c:v>SD 10</c:v>
                  </c:pt>
                  <c:pt idx="3">
                    <c:v>SD 20</c:v>
                  </c:pt>
                </c:lvl>
              </c:multiLvlStrCache>
            </c:multiLvlStrRef>
          </c:cat>
          <c:val>
            <c:numRef>
              <c:f>Sheet1!$D$2:$D$5</c:f>
              <c:numCache>
                <c:formatCode>General</c:formatCode>
                <c:ptCount val="4"/>
                <c:pt idx="0">
                  <c:v>12</c:v>
                </c:pt>
                <c:pt idx="1">
                  <c:v>12.9</c:v>
                </c:pt>
                <c:pt idx="2">
                  <c:v>14.9</c:v>
                </c:pt>
                <c:pt idx="3">
                  <c:v>20.5</c:v>
                </c:pt>
              </c:numCache>
            </c:numRef>
          </c:val>
          <c:smooth val="0"/>
        </c:ser>
        <c:dLbls>
          <c:numFmt formatCode="0.0" sourceLinked="0"/>
          <c:txPr>
            <a:bodyPr/>
            <a:lstStyle/>
            <a:p>
              <a:pPr>
                <a:defRPr b="0" i="0" strike="noStrike" sz="1000" u="none">
                  <a:solidFill>
                    <a:srgbClr val="15232A"/>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6676F"/>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E9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6676F"/>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5232A"/>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5232A"/>
                </a:solidFill>
                <a:latin typeface="Calibri"/>
              </a:defRPr>
            </a:pPr>
            <a:r>
              <a:rPr sz="1300" b="0" i="0" u="none" strike="noStrike">
                <a:solidFill>
                  <a:srgbClr val="15232A"/>
                </a:solidFill>
                <a:latin typeface="Calibri"/>
              </a:rPr>
              <a:t>CGMacros, 60-min MAE, mg/dL</a:t>
            </a:r>
          </a:p>
        </c:rich>
      </c:tx>
      <c:layout/>
      <c:overlay val="0"/>
    </c:title>
    <c:autoTitleDeleted val="0"/>
    <c:plotArea>
      <c:layout/>
      <c:barChart>
        <c:barDir val="col"/>
        <c:grouping val="clustered"/>
        <c:varyColors val="0"/>
        <c:ser>
          <c:idx val="0"/>
          <c:order val="0"/>
          <c:tx>
            <c:strRef>
              <c:f>Sheet1!$B$1</c:f>
              <c:strCache>
                <c:ptCount val="1"/>
                <c:pt idx="0">
                  <c:v>Last value carried forward</c:v>
                </c:pt>
              </c:strCache>
            </c:strRef>
          </c:tx>
          <c:spPr>
            <a:solidFill>
              <a:srgbClr val="9AA9B1"/>
            </a:solidFill>
            <a:effectLst/>
          </c:spPr>
          <c:invertIfNegative val="0"/>
          <c:dLbls>
            <c:numFmt formatCode="0.0" sourceLinked="0"/>
            <c:txPr>
              <a:bodyPr/>
              <a:lstStyle/>
              <a:p>
                <a:pPr>
                  <a:defRPr b="0" i="0" strike="noStrike" sz="1000" u="none">
                    <a:solidFill>
                      <a:srgbClr val="15232A"/>
                    </a:solidFill>
                    <a:latin typeface="Calibri"/>
                  </a:defRPr>
                </a:pPr>
              </a:p>
            </c:txPr>
            <c:showLegendKey val="0"/>
            <c:showVal val="1"/>
            <c:showCatName val="0"/>
            <c:showSerName val="0"/>
            <c:showPercent val="0"/>
            <c:showBubbleSize val="0"/>
            <c:showLeaderLines val="0"/>
          </c:dLbls>
          <c:cat>
            <c:multiLvlStrRef>
              <c:f>Sheet1!$A$2:$A$4</c:f>
              <c:multiLvlStrCache>
                <c:ptCount val="3"/>
                <c:lvl>
                  <c:pt idx="0">
                    <c:v>T2D</c:v>
                  </c:pt>
                  <c:pt idx="1">
                    <c:v>Prediabetes</c:v>
                  </c:pt>
                  <c:pt idx="2">
                    <c:v>Healthy</c:v>
                  </c:pt>
                </c:lvl>
              </c:multiLvlStrCache>
            </c:multiLvlStrRef>
          </c:cat>
          <c:val>
            <c:numRef>
              <c:f>Sheet1!$B$2:$B$4</c:f>
              <c:numCache>
                <c:formatCode>General</c:formatCode>
                <c:ptCount val="3"/>
                <c:pt idx="0">
                  <c:v>22.4</c:v>
                </c:pt>
                <c:pt idx="1">
                  <c:v>17</c:v>
                </c:pt>
                <c:pt idx="2">
                  <c:v>12.5</c:v>
                </c:pt>
              </c:numCache>
            </c:numRef>
          </c:val>
        </c:ser>
        <c:ser>
          <c:idx val="1"/>
          <c:order val="1"/>
          <c:tx>
            <c:strRef>
              <c:f>Sheet1!$C$1</c:f>
              <c:strCache>
                <c:ptCount val="1"/>
                <c:pt idx="0">
                  <c:v>Pratirup (frozen, trained in Shanghai)</c:v>
                </c:pt>
              </c:strCache>
            </c:strRef>
          </c:tx>
          <c:spPr>
            <a:solidFill>
              <a:srgbClr val="0D5F73"/>
            </a:solidFill>
            <a:effectLst/>
          </c:spPr>
          <c:invertIfNegative val="0"/>
          <c:dLbls>
            <c:numFmt formatCode="0.0" sourceLinked="0"/>
            <c:txPr>
              <a:bodyPr/>
              <a:lstStyle/>
              <a:p>
                <a:pPr>
                  <a:defRPr b="0" i="0" strike="noStrike" sz="1000" u="none">
                    <a:solidFill>
                      <a:srgbClr val="15232A"/>
                    </a:solidFill>
                    <a:latin typeface="Calibri"/>
                  </a:defRPr>
                </a:pPr>
              </a:p>
            </c:txPr>
            <c:showLegendKey val="0"/>
            <c:showVal val="1"/>
            <c:showCatName val="0"/>
            <c:showSerName val="0"/>
            <c:showPercent val="0"/>
            <c:showBubbleSize val="0"/>
            <c:showLeaderLines val="0"/>
          </c:dLbls>
          <c:cat>
            <c:multiLvlStrRef>
              <c:f>Sheet1!$A$2:$A$4</c:f>
              <c:multiLvlStrCache>
                <c:ptCount val="3"/>
                <c:lvl>
                  <c:pt idx="0">
                    <c:v>T2D</c:v>
                  </c:pt>
                  <c:pt idx="1">
                    <c:v>Prediabetes</c:v>
                  </c:pt>
                  <c:pt idx="2">
                    <c:v>Healthy</c:v>
                  </c:pt>
                </c:lvl>
              </c:multiLvlStrCache>
            </c:multiLvlStrRef>
          </c:cat>
          <c:val>
            <c:numRef>
              <c:f>Sheet1!$C$2:$C$4</c:f>
              <c:numCache>
                <c:formatCode>General</c:formatCode>
                <c:ptCount val="3"/>
                <c:pt idx="0">
                  <c:v>17.2</c:v>
                </c:pt>
                <c:pt idx="1">
                  <c:v>14.3</c:v>
                </c:pt>
                <c:pt idx="2">
                  <c:v>12.5</c:v>
                </c:pt>
              </c:numCache>
            </c:numRef>
          </c:val>
        </c:ser>
        <c:dLbls>
          <c:numFmt formatCode="0.0" sourceLinked="0"/>
          <c:txPr>
            <a:bodyPr/>
            <a:lstStyle/>
            <a:p>
              <a:pPr>
                <a:defRPr b="0" i="0" strike="noStrike" sz="1000" u="none">
                  <a:solidFill>
                    <a:srgbClr val="15232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6676F"/>
                </a:solidFill>
                <a:latin typeface="Calibri"/>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3E9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6676F"/>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5232A"/>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product. Pratirup keeps a continuously updated model of each patient that combines the clinical record with the CGM stream, forecasts the next 30 to 60 minutes, warns of excursions with measured uncertainty, and scores itself against what actually happens. Say up front that it is a research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story on one slide. The three numbers are from the locked test set. Everything on the following slides supports or qualifies these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Anjana et al., Lancet Diabetes Endocrinol 2023 and 2022; Battelino et al., Diabetes Care 2019. The ADA 2026 Standards (Rec 7.15) recommend CGM for people with T2D on insulin, and for T2D on other drugs where CGM helps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with the jury: Roche already ships a 2-hour forecast to patients. Our contribution is the clinician-facing twin with record fusion, triage, explanations and a self-scoring ledger.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Event thresholds come from the international consensus on time in range and were fixed before any model was trained.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dashboard with a model computes a score once. The twin keeps state, updates it every 15 minutes, and learns how wrong it has been for this specific patient. The parity test in the repo checks that the streaming implementation reproduces the benchmarked one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Static stream: the de-identified clinical record as FHIR R4. Dynamic stream: real CGM and timed logs, replayed or streamed. The engine holds the state; FastAPI and SQLite persist it; the React app is the clinician interface. Evaluation and CGMacros external validation are offline.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allows simulated EHRs, but a real linked record is stronger evidence of fusion than a synthetic record joined to a stranger's CGM.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protocol is what makes the numbers believable. Nothing was tuned on the test patients.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Negative differences mean Pratirup is better. The 120-minute horizon answers the brief's '2 hours in advance' example directly: it is better than the baselines, but its error is large, so we keep it exploratory.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y-axis starts at 13 mg/dL so the differences are visible; the values are labelled. The record still drives triage, display and subgroup context, but it did not improve short-horizon accuracy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Coverage is the share of real outcomes that fell inside the stated 80% interval on unseen patients. Close to 80% means the uncertainty shown on screen is 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Alarm fatigue is a documented safety problem in monitoring. A care team that ignores alerts gets nothing from even a perfect model, so we optimised for a usable alert load, not maximum sensitivity.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v1 test exposed two weaknesses: sensitivity to sensor noise and an unusable alert load. We fixed both using development data only, then re-scored the test set once and logged why. Clean accuracy dropped 1 to 2.4 percent depending on horizon; noisy accuracy improved about 30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was frozen; CGMacros was never used to train or tune it. CGMacros is CC BY-NC-SA and is downloaded by script, not redistributed.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live demo here. Every value on screen carries its provenance: research record, replayed CGM, model forecast, sensitivity, or live 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Saying this ourselves is part of the pitch: every limitation here was found by our own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 demand and willingness to pay are hypotheses. The next step is evidence, not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questions on the protocol, the twin state, or the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000" b="1" dirty="0">
                <a:solidFill>
                  <a:srgbClr val="15232A"/>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nvSpPr>
        <p:spPr>
          <a:xfrm>
            <a:off x="548640" y="6419088"/>
            <a:ext cx="9144000" cy="274320"/>
          </a:xfrm>
          <a:prstGeom prst="rect">
            <a:avLst/>
          </a:prstGeom>
          <a:noFill/>
          <a:ln/>
        </p:spPr>
        <p:txBody>
          <a:bodyPr wrap="square" lIns="0" tIns="0" rIns="0" bIns="0" rtlCol="0" anchor="ctr"/>
          <a:lstStyle/>
          <a:p>
            <a:pPr indent="0" marL="0">
              <a:buNone/>
            </a:pPr>
            <a:r>
              <a:rPr lang="en-US" sz="900" dirty="0">
                <a:solidFill>
                  <a:srgbClr val="56676F"/>
                </a:solidFill>
                <a:latin typeface="Calibri" pitchFamily="34" charset="0"/>
                <a:ea typeface="Calibri" pitchFamily="34" charset="-122"/>
                <a:cs typeface="Calibri" pitchFamily="34" charset="-120"/>
              </a:rPr>
              <a:t>Pratirup · Team Aflatoon · Scaler School of Technology · research prototype, not a medical device</a:t>
            </a:r>
            <a:endParaRPr lang="en-US" sz="9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6676F"/>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A3B4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188720"/>
          </a:xfrm>
          <a:prstGeom prst="rect">
            <a:avLst/>
          </a:prstGeom>
          <a:noFill/>
          <a:ln/>
        </p:spPr>
        <p:txBody>
          <a:bodyPr wrap="square" rtlCol="0"/>
          <a:lstStyle>
            <a:lvl1pPr algn="l" indent="0" marL="0">
              <a:buNone/>
              <a:defRPr lang="en-US" sz="5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5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6676F"/>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188720"/>
          </a:xfrm>
          <a:prstGeom prst="rect">
            <a:avLst/>
          </a:prstGeom>
          <a:noFill/>
          <a:ln/>
        </p:spPr>
        <p:txBody>
          <a:bodyPr wrap="square" lIns="0" tIns="0" rIns="0" bIns="0" rtlCol="0" anchor="b"/>
          <a:lstStyle/>
          <a:p>
            <a:pPr algn="l" indent="0" marL="0">
              <a:buNone/>
            </a:pPr>
            <a:r>
              <a:rPr lang="en-US" sz="5400" b="1" dirty="0">
                <a:solidFill>
                  <a:srgbClr val="FFFFFF"/>
                </a:solidFill>
                <a:latin typeface="Cambria" pitchFamily="34" charset="0"/>
                <a:ea typeface="Cambria" pitchFamily="34" charset="-122"/>
                <a:cs typeface="Cambria" pitchFamily="34" charset="-120"/>
              </a:rPr>
              <a:t>Pratirup</a:t>
            </a:r>
            <a:endParaRPr lang="en-US" sz="5400" dirty="0"/>
          </a:p>
        </p:txBody>
      </p:sp>
      <p:sp>
        <p:nvSpPr>
          <p:cNvPr id="3" name="Text 1"/>
          <p:cNvSpPr txBox="1"/>
          <p:nvPr/>
        </p:nvSpPr>
        <p:spPr>
          <a:xfrm>
            <a:off x="731520" y="3291840"/>
            <a:ext cx="10515600" cy="548640"/>
          </a:xfrm>
          <a:prstGeom prst="rect">
            <a:avLst/>
          </a:prstGeom>
          <a:noFill/>
          <a:ln/>
        </p:spPr>
        <p:txBody>
          <a:bodyPr wrap="square" lIns="0" tIns="0" rIns="0" bIns="0" rtlCol="0" anchor="t"/>
          <a:lstStyle/>
          <a:p>
            <a:pPr indent="0" marL="0">
              <a:buNone/>
            </a:pPr>
            <a:r>
              <a:rPr lang="en-US" sz="2400" dirty="0">
                <a:solidFill>
                  <a:srgbClr val="D7E9EE"/>
                </a:solidFill>
                <a:latin typeface="Cambria" pitchFamily="34" charset="0"/>
                <a:ea typeface="Cambria" pitchFamily="34" charset="-122"/>
                <a:cs typeface="Cambria" pitchFamily="34" charset="-120"/>
              </a:rPr>
              <a:t>A glucose digital twin for type 2 diabetes care teams</a:t>
            </a:r>
            <a:endParaRPr lang="en-US" sz="2400" dirty="0"/>
          </a:p>
        </p:txBody>
      </p:sp>
      <p:sp>
        <p:nvSpPr>
          <p:cNvPr id="4" name="Text 2"/>
          <p:cNvSpPr txBox="1"/>
          <p:nvPr/>
        </p:nvSpPr>
        <p:spPr>
          <a:xfrm>
            <a:off x="731520" y="3886200"/>
            <a:ext cx="10515600" cy="365760"/>
          </a:xfrm>
          <a:prstGeom prst="rect">
            <a:avLst/>
          </a:prstGeom>
          <a:noFill/>
          <a:ln/>
        </p:spPr>
        <p:txBody>
          <a:bodyPr wrap="square" lIns="0" tIns="0" rIns="0" bIns="0" rtlCol="0" anchor="t"/>
          <a:lstStyle/>
          <a:p>
            <a:pPr indent="0" marL="0">
              <a:buNone/>
            </a:pPr>
            <a:r>
              <a:rPr lang="en-US" sz="1500" i="1" dirty="0">
                <a:solidFill>
                  <a:srgbClr val="9CC3CD"/>
                </a:solidFill>
                <a:latin typeface="Calibri" pitchFamily="34" charset="0"/>
                <a:ea typeface="Calibri" pitchFamily="34" charset="-122"/>
                <a:cs typeface="Calibri" pitchFamily="34" charset="-120"/>
              </a:rPr>
              <a:t>प्रतिरूप (pratirūp): counterpart, likeness</a:t>
            </a:r>
            <a:endParaRPr lang="en-US" sz="1500" dirty="0"/>
          </a:p>
        </p:txBody>
      </p:sp>
      <p:sp>
        <p:nvSpPr>
          <p:cNvPr id="5" name="Text 3"/>
          <p:cNvSpPr txBox="1"/>
          <p:nvPr/>
        </p:nvSpPr>
        <p:spPr>
          <a:xfrm>
            <a:off x="731520" y="4800600"/>
            <a:ext cx="10515600" cy="10058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Team Aflatoon · Scaler School of Technology, Bengaluru</a:t>
            </a:r>
            <a:endParaRPr lang="en-US" sz="1500" dirty="0"/>
          </a:p>
          <a:p>
            <a:pPr indent="0" marL="0">
              <a:buNone/>
            </a:pPr>
            <a:r>
              <a:rPr lang="en-US" sz="1500" dirty="0">
                <a:solidFill>
                  <a:srgbClr val="FFFFFF"/>
                </a:solidFill>
                <a:latin typeface="Calibri" pitchFamily="34" charset="0"/>
                <a:ea typeface="Calibri" pitchFamily="34" charset="-122"/>
                <a:cs typeface="Calibri" pitchFamily="34" charset="-120"/>
              </a:rPr>
              <a:t>Dhruv Sharma · Pratyush Mishra · Anushika Chauhan</a:t>
            </a:r>
            <a:endParaRPr lang="en-US" sz="1500" dirty="0"/>
          </a:p>
          <a:p>
            <a:pPr indent="0" marL="0">
              <a:buNone/>
            </a:pPr>
            <a:r>
              <a:rPr lang="en-US" sz="1500" dirty="0">
                <a:solidFill>
                  <a:srgbClr val="FFFFFF"/>
                </a:solidFill>
                <a:latin typeface="Calibri" pitchFamily="34" charset="0"/>
                <a:ea typeface="Calibri" pitchFamily="34" charset="-122"/>
                <a:cs typeface="Calibri" pitchFamily="34" charset="-120"/>
              </a:rPr>
              <a:t>Happiest Health Digital Twin Challenge 2026</a:t>
            </a:r>
            <a:endParaRPr lang="en-US" sz="1500" dirty="0"/>
          </a:p>
        </p:txBody>
      </p:sp>
      <p:sp>
        <p:nvSpPr>
          <p:cNvPr id="6" name="Text 4"/>
          <p:cNvSpPr txBox="1"/>
          <p:nvPr/>
        </p:nvSpPr>
        <p:spPr>
          <a:xfrm>
            <a:off x="731520" y="6172200"/>
            <a:ext cx="10515600" cy="320040"/>
          </a:xfrm>
          <a:prstGeom prst="rect">
            <a:avLst/>
          </a:prstGeom>
          <a:noFill/>
          <a:ln/>
        </p:spPr>
        <p:txBody>
          <a:bodyPr wrap="square" lIns="0" tIns="0" rIns="0" bIns="0" rtlCol="0" anchor="t"/>
          <a:lstStyle/>
          <a:p>
            <a:pPr indent="0" marL="0">
              <a:buNone/>
            </a:pPr>
            <a:r>
              <a:rPr lang="en-US" sz="1100" dirty="0">
                <a:solidFill>
                  <a:srgbClr val="9CC3CD"/>
                </a:solidFill>
                <a:latin typeface="Calibri" pitchFamily="34" charset="0"/>
                <a:ea typeface="Calibri" pitchFamily="34" charset="-122"/>
                <a:cs typeface="Calibri" pitchFamily="34" charset="-120"/>
              </a:rPr>
              <a:t>Research prototype. Not a medical device. All results are retrospective, on open research data.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rgbClr val="15232A"/>
                </a:solidFill>
                <a:latin typeface="Cambria" pitchFamily="34" charset="0"/>
                <a:ea typeface="Cambria" pitchFamily="34" charset="-122"/>
                <a:cs typeface="Cambria" pitchFamily="34" charset="-120"/>
              </a:rPr>
              <a:t>What we built and what it achieves</a:t>
            </a:r>
            <a:endParaRPr lang="en-US" sz="3000" dirty="0"/>
          </a:p>
        </p:txBody>
      </p:sp>
      <p:sp>
        <p:nvSpPr>
          <p:cNvPr id="3" name="Text 1"/>
          <p:cNvSpPr txBox="1"/>
          <p:nvPr/>
        </p:nvSpPr>
        <p:spPr>
          <a:xfrm>
            <a:off x="548640" y="1371600"/>
            <a:ext cx="3566160" cy="868680"/>
          </a:xfrm>
          <a:prstGeom prst="rect">
            <a:avLst/>
          </a:prstGeom>
          <a:noFill/>
          <a:ln/>
        </p:spPr>
        <p:txBody>
          <a:bodyPr wrap="square" lIns="0" tIns="0" rIns="0" bIns="0" rtlCol="0" anchor="b"/>
          <a:lstStyle/>
          <a:p>
            <a:pPr indent="0" marL="0">
              <a:buNone/>
            </a:pPr>
            <a:r>
              <a:rPr lang="en-US" sz="4400" b="1" dirty="0">
                <a:solidFill>
                  <a:srgbClr val="0D5F73"/>
                </a:solidFill>
                <a:latin typeface="Cambria" pitchFamily="34" charset="0"/>
                <a:ea typeface="Cambria" pitchFamily="34" charset="-122"/>
                <a:cs typeface="Cambria" pitchFamily="34" charset="-120"/>
              </a:rPr>
              <a:t>−26%</a:t>
            </a:r>
            <a:endParaRPr lang="en-US" sz="4400" dirty="0"/>
          </a:p>
        </p:txBody>
      </p:sp>
      <p:sp>
        <p:nvSpPr>
          <p:cNvPr id="4" name="Text 2"/>
          <p:cNvSpPr txBox="1"/>
          <p:nvPr/>
        </p:nvSpPr>
        <p:spPr>
          <a:xfrm>
            <a:off x="548640" y="2286000"/>
            <a:ext cx="3566160" cy="822960"/>
          </a:xfrm>
          <a:prstGeom prst="rect">
            <a:avLst/>
          </a:prstGeom>
          <a:noFill/>
          <a:ln/>
        </p:spPr>
        <p:txBody>
          <a:bodyPr wrap="square" lIns="0" tIns="0" rIns="0" bIns="0" rtlCol="0" anchor="t"/>
          <a:lstStyle/>
          <a:p>
            <a:pPr indent="0" marL="0">
              <a:buNone/>
            </a:pPr>
            <a:r>
              <a:rPr lang="en-US" sz="1300" dirty="0">
                <a:solidFill>
                  <a:srgbClr val="56676F"/>
                </a:solidFill>
                <a:latin typeface="Calibri" pitchFamily="34" charset="0"/>
                <a:ea typeface="Calibri" pitchFamily="34" charset="-122"/>
                <a:cs typeface="Calibri" pitchFamily="34" charset="-120"/>
              </a:rPr>
              <a:t>60-min forecast error vs last value carried forward on 20 unseen patients (95% CI -6.30 to -4.12 mg/dL)</a:t>
            </a:r>
            <a:endParaRPr lang="en-US" sz="1300" dirty="0"/>
          </a:p>
        </p:txBody>
      </p:sp>
      <p:sp>
        <p:nvSpPr>
          <p:cNvPr id="5" name="Text 3"/>
          <p:cNvSpPr txBox="1"/>
          <p:nvPr/>
        </p:nvSpPr>
        <p:spPr>
          <a:xfrm>
            <a:off x="4297680" y="1371600"/>
            <a:ext cx="3566160" cy="868680"/>
          </a:xfrm>
          <a:prstGeom prst="rect">
            <a:avLst/>
          </a:prstGeom>
          <a:noFill/>
          <a:ln/>
        </p:spPr>
        <p:txBody>
          <a:bodyPr wrap="square" lIns="0" tIns="0" rIns="0" bIns="0" rtlCol="0" anchor="b"/>
          <a:lstStyle/>
          <a:p>
            <a:pPr indent="0" marL="0">
              <a:buNone/>
            </a:pPr>
            <a:r>
              <a:rPr lang="en-US" sz="4400" b="1" dirty="0">
                <a:solidFill>
                  <a:srgbClr val="0D5F73"/>
                </a:solidFill>
                <a:latin typeface="Cambria" pitchFamily="34" charset="0"/>
                <a:ea typeface="Cambria" pitchFamily="34" charset="-122"/>
                <a:cs typeface="Cambria" pitchFamily="34" charset="-120"/>
              </a:rPr>
              <a:t>81%</a:t>
            </a:r>
            <a:endParaRPr lang="en-US" sz="4400" dirty="0"/>
          </a:p>
        </p:txBody>
      </p:sp>
      <p:sp>
        <p:nvSpPr>
          <p:cNvPr id="6" name="Text 4"/>
          <p:cNvSpPr txBox="1"/>
          <p:nvPr/>
        </p:nvSpPr>
        <p:spPr>
          <a:xfrm>
            <a:off x="4297680" y="2286000"/>
            <a:ext cx="3566160" cy="822960"/>
          </a:xfrm>
          <a:prstGeom prst="rect">
            <a:avLst/>
          </a:prstGeom>
          <a:noFill/>
          <a:ln/>
        </p:spPr>
        <p:txBody>
          <a:bodyPr wrap="square" lIns="0" tIns="0" rIns="0" bIns="0" rtlCol="0" anchor="t"/>
          <a:lstStyle/>
          <a:p>
            <a:pPr indent="0" marL="0">
              <a:buNone/>
            </a:pPr>
            <a:r>
              <a:rPr lang="en-US" sz="1300" dirty="0">
                <a:solidFill>
                  <a:srgbClr val="56676F"/>
                </a:solidFill>
                <a:latin typeface="Calibri" pitchFamily="34" charset="0"/>
                <a:ea typeface="Calibri" pitchFamily="34" charset="-122"/>
                <a:cs typeface="Calibri" pitchFamily="34" charset="-120"/>
              </a:rPr>
              <a:t>of outcomes fell inside the 80% prediction interval (60 min): the stated uncertainty is honest</a:t>
            </a:r>
            <a:endParaRPr lang="en-US" sz="1300" dirty="0"/>
          </a:p>
        </p:txBody>
      </p:sp>
      <p:sp>
        <p:nvSpPr>
          <p:cNvPr id="7" name="Text 5"/>
          <p:cNvSpPr txBox="1"/>
          <p:nvPr/>
        </p:nvSpPr>
        <p:spPr>
          <a:xfrm>
            <a:off x="8046720" y="1371600"/>
            <a:ext cx="3566160" cy="868680"/>
          </a:xfrm>
          <a:prstGeom prst="rect">
            <a:avLst/>
          </a:prstGeom>
          <a:noFill/>
          <a:ln/>
        </p:spPr>
        <p:txBody>
          <a:bodyPr wrap="square" lIns="0" tIns="0" rIns="0" bIns="0" rtlCol="0" anchor="b"/>
          <a:lstStyle/>
          <a:p>
            <a:pPr indent="0" marL="0">
              <a:buNone/>
            </a:pPr>
            <a:r>
              <a:rPr lang="en-US" sz="4400" b="1" dirty="0">
                <a:solidFill>
                  <a:srgbClr val="0D5F73"/>
                </a:solidFill>
                <a:latin typeface="Cambria" pitchFamily="34" charset="0"/>
                <a:ea typeface="Cambria" pitchFamily="34" charset="-122"/>
                <a:cs typeface="Cambria" pitchFamily="34" charset="-120"/>
              </a:rPr>
              <a:t>83%</a:t>
            </a:r>
            <a:endParaRPr lang="en-US" sz="4400" dirty="0"/>
          </a:p>
        </p:txBody>
      </p:sp>
      <p:sp>
        <p:nvSpPr>
          <p:cNvPr id="8" name="Text 6"/>
          <p:cNvSpPr txBox="1"/>
          <p:nvPr/>
        </p:nvSpPr>
        <p:spPr>
          <a:xfrm>
            <a:off x="8046720" y="2286000"/>
            <a:ext cx="3566160" cy="822960"/>
          </a:xfrm>
          <a:prstGeom prst="rect">
            <a:avLst/>
          </a:prstGeom>
          <a:noFill/>
          <a:ln/>
        </p:spPr>
        <p:txBody>
          <a:bodyPr wrap="square" lIns="0" tIns="0" rIns="0" bIns="0" rtlCol="0" anchor="t"/>
          <a:lstStyle/>
          <a:p>
            <a:pPr indent="0" marL="0">
              <a:buNone/>
            </a:pPr>
            <a:r>
              <a:rPr lang="en-US" sz="1300" dirty="0">
                <a:solidFill>
                  <a:srgbClr val="56676F"/>
                </a:solidFill>
                <a:latin typeface="Calibri" pitchFamily="34" charset="0"/>
                <a:ea typeface="Calibri" pitchFamily="34" charset="-122"/>
                <a:cs typeface="Calibri" pitchFamily="34" charset="-120"/>
              </a:rPr>
              <a:t>of hypoglycaemia episodes flagged in advance, with 1.9 alerts per patient-day in total (v1: 7.9)</a:t>
            </a:r>
            <a:endParaRPr lang="en-US" sz="1300" dirty="0"/>
          </a:p>
        </p:txBody>
      </p:sp>
      <p:sp>
        <p:nvSpPr>
          <p:cNvPr id="9" name="Text 7"/>
          <p:cNvSpPr txBox="1"/>
          <p:nvPr/>
        </p:nvSpPr>
        <p:spPr>
          <a:xfrm>
            <a:off x="548640" y="3749040"/>
            <a:ext cx="11064240" cy="246888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5232A"/>
                </a:solidFill>
                <a:latin typeface="Calibri" pitchFamily="34" charset="0"/>
                <a:ea typeface="Calibri" pitchFamily="34" charset="-122"/>
                <a:cs typeface="Calibri" pitchFamily="34" charset="-120"/>
              </a:rPr>
              <a:t>A per-patient twin: clinical record + CGM + medication and meal logs, updated on every reading, scoring every forecast when its outcome arrives; v2 is robust to sensor noise</a:t>
            </a:r>
            <a:endParaRPr lang="en-US" sz="1500" dirty="0"/>
          </a:p>
          <a:p>
            <a:pPr marL="203200" indent="-203200">
              <a:spcAft>
                <a:spcPts val="600"/>
              </a:spcAft>
              <a:buSzPct val="100000"/>
              <a:buChar char="•"/>
            </a:pPr>
            <a:r>
              <a:rPr lang="en-US" sz="1500" dirty="0">
                <a:solidFill>
                  <a:srgbClr val="15232A"/>
                </a:solidFill>
                <a:latin typeface="Calibri" pitchFamily="34" charset="0"/>
                <a:ea typeface="Calibri" pitchFamily="34" charset="-122"/>
                <a:cs typeface="Calibri" pitchFamily="34" charset="-120"/>
              </a:rPr>
              <a:t>A clinician worklist, an explainable patient view, a forecast ledger, a what-if labelled as associational, live streaming, FHIR R4 records</a:t>
            </a:r>
            <a:endParaRPr lang="en-US" sz="1500" dirty="0"/>
          </a:p>
          <a:p>
            <a:pPr marL="203200" indent="-203200">
              <a:spcAft>
                <a:spcPts val="600"/>
              </a:spcAft>
              <a:buSzPct val="100000"/>
              <a:buChar char="•"/>
            </a:pPr>
            <a:r>
              <a:rPr lang="en-US" sz="1500" dirty="0">
                <a:solidFill>
                  <a:srgbClr val="15232A"/>
                </a:solidFill>
                <a:latin typeface="Calibri" pitchFamily="34" charset="0"/>
                <a:ea typeface="Calibri" pitchFamily="34" charset="-122"/>
                <a:cs typeface="Calibri" pitchFamily="34" charset="-120"/>
              </a:rPr>
              <a:t>Validated twice: held-out ShanghaiT2DM patients (scored once, locked) and an external US cohort (CGMacros): 60-min MAE 17.2 vs 22.4 mg/dL in T2D</a:t>
            </a:r>
            <a:endParaRPr lang="en-US" sz="1500" dirty="0"/>
          </a:p>
          <a:p>
            <a:pPr marL="203200" indent="-203200">
              <a:spcAft>
                <a:spcPts val="600"/>
              </a:spcAft>
              <a:buSzPct val="100000"/>
              <a:buChar char="•"/>
            </a:pPr>
            <a:r>
              <a:rPr lang="en-US" sz="1500" dirty="0">
                <a:solidFill>
                  <a:srgbClr val="15232A"/>
                </a:solidFill>
                <a:latin typeface="Calibri" pitchFamily="34" charset="0"/>
                <a:ea typeface="Calibri" pitchFamily="34" charset="-122"/>
                <a:cs typeface="Calibri" pitchFamily="34" charset="-120"/>
              </a:rPr>
              <a:t>Open: code, trained models, data pipeline and the scripts that regenerate every number on these slides</a:t>
            </a:r>
            <a:endParaRPr lang="en-US" sz="15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6676F"/>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rgbClr val="15232A"/>
                </a:solidFill>
                <a:latin typeface="Cambria" pitchFamily="34" charset="0"/>
                <a:ea typeface="Cambria" pitchFamily="34" charset="-122"/>
                <a:cs typeface="Cambria" pitchFamily="34" charset="-120"/>
              </a:rPr>
              <a:t>Diabetes in India is common and poorly controlled</a:t>
            </a:r>
            <a:endParaRPr lang="en-US" sz="3000" dirty="0"/>
          </a:p>
        </p:txBody>
      </p:sp>
      <p:sp>
        <p:nvSpPr>
          <p:cNvPr id="3" name="Text 1"/>
          <p:cNvSpPr txBox="1"/>
          <p:nvPr/>
        </p:nvSpPr>
        <p:spPr>
          <a:xfrm>
            <a:off x="548640" y="1325880"/>
            <a:ext cx="2743200" cy="868680"/>
          </a:xfrm>
          <a:prstGeom prst="rect">
            <a:avLst/>
          </a:prstGeom>
          <a:noFill/>
          <a:ln/>
        </p:spPr>
        <p:txBody>
          <a:bodyPr wrap="square" lIns="0" tIns="0" rIns="0" bIns="0" rtlCol="0" anchor="b"/>
          <a:lstStyle/>
          <a:p>
            <a:pPr indent="0" marL="0">
              <a:buNone/>
            </a:pPr>
            <a:r>
              <a:rPr lang="en-US" sz="4400" b="1" dirty="0">
                <a:solidFill>
                  <a:srgbClr val="0D5F73"/>
                </a:solidFill>
                <a:latin typeface="Cambria" pitchFamily="34" charset="0"/>
                <a:ea typeface="Cambria" pitchFamily="34" charset="-122"/>
                <a:cs typeface="Cambria" pitchFamily="34" charset="-120"/>
              </a:rPr>
              <a:t>101 M</a:t>
            </a:r>
            <a:endParaRPr lang="en-US" sz="4400" dirty="0"/>
          </a:p>
        </p:txBody>
      </p:sp>
      <p:sp>
        <p:nvSpPr>
          <p:cNvPr id="4" name="Text 2"/>
          <p:cNvSpPr txBox="1"/>
          <p:nvPr/>
        </p:nvSpPr>
        <p:spPr>
          <a:xfrm>
            <a:off x="548640" y="2240280"/>
            <a:ext cx="2743200" cy="822960"/>
          </a:xfrm>
          <a:prstGeom prst="rect">
            <a:avLst/>
          </a:prstGeom>
          <a:noFill/>
          <a:ln/>
        </p:spPr>
        <p:txBody>
          <a:bodyPr wrap="square" lIns="0" tIns="0" rIns="0" bIns="0" rtlCol="0" anchor="t"/>
          <a:lstStyle/>
          <a:p>
            <a:pPr indent="0" marL="0">
              <a:buNone/>
            </a:pPr>
            <a:r>
              <a:rPr lang="en-US" sz="1300" dirty="0">
                <a:solidFill>
                  <a:srgbClr val="56676F"/>
                </a:solidFill>
                <a:latin typeface="Calibri" pitchFamily="34" charset="0"/>
                <a:ea typeface="Calibri" pitchFamily="34" charset="-122"/>
                <a:cs typeface="Calibri" pitchFamily="34" charset="-120"/>
              </a:rPr>
              <a:t>adults with diabetes in India (ICMR-INDIAB-17, 2023)</a:t>
            </a:r>
            <a:endParaRPr lang="en-US" sz="1300" dirty="0"/>
          </a:p>
        </p:txBody>
      </p:sp>
      <p:sp>
        <p:nvSpPr>
          <p:cNvPr id="5" name="Text 3"/>
          <p:cNvSpPr txBox="1"/>
          <p:nvPr/>
        </p:nvSpPr>
        <p:spPr>
          <a:xfrm>
            <a:off x="3474720" y="1325880"/>
            <a:ext cx="2743200" cy="868680"/>
          </a:xfrm>
          <a:prstGeom prst="rect">
            <a:avLst/>
          </a:prstGeom>
          <a:noFill/>
          <a:ln/>
        </p:spPr>
        <p:txBody>
          <a:bodyPr wrap="square" lIns="0" tIns="0" rIns="0" bIns="0" rtlCol="0" anchor="b"/>
          <a:lstStyle/>
          <a:p>
            <a:pPr indent="0" marL="0">
              <a:buNone/>
            </a:pPr>
            <a:r>
              <a:rPr lang="en-US" sz="4400" b="1" dirty="0">
                <a:solidFill>
                  <a:srgbClr val="0D5F73"/>
                </a:solidFill>
                <a:latin typeface="Cambria" pitchFamily="34" charset="0"/>
                <a:ea typeface="Cambria" pitchFamily="34" charset="-122"/>
                <a:cs typeface="Cambria" pitchFamily="34" charset="-120"/>
              </a:rPr>
              <a:t>136 M</a:t>
            </a:r>
            <a:endParaRPr lang="en-US" sz="4400" dirty="0"/>
          </a:p>
        </p:txBody>
      </p:sp>
      <p:sp>
        <p:nvSpPr>
          <p:cNvPr id="6" name="Text 4"/>
          <p:cNvSpPr txBox="1"/>
          <p:nvPr/>
        </p:nvSpPr>
        <p:spPr>
          <a:xfrm>
            <a:off x="3474720" y="2240280"/>
            <a:ext cx="2743200" cy="822960"/>
          </a:xfrm>
          <a:prstGeom prst="rect">
            <a:avLst/>
          </a:prstGeom>
          <a:noFill/>
          <a:ln/>
        </p:spPr>
        <p:txBody>
          <a:bodyPr wrap="square" lIns="0" tIns="0" rIns="0" bIns="0" rtlCol="0" anchor="t"/>
          <a:lstStyle/>
          <a:p>
            <a:pPr indent="0" marL="0">
              <a:buNone/>
            </a:pPr>
            <a:r>
              <a:rPr lang="en-US" sz="1300" dirty="0">
                <a:solidFill>
                  <a:srgbClr val="56676F"/>
                </a:solidFill>
                <a:latin typeface="Calibri" pitchFamily="34" charset="0"/>
                <a:ea typeface="Calibri" pitchFamily="34" charset="-122"/>
                <a:cs typeface="Calibri" pitchFamily="34" charset="-120"/>
              </a:rPr>
              <a:t>with prediabetes (same survey)</a:t>
            </a:r>
            <a:endParaRPr lang="en-US" sz="1300" dirty="0"/>
          </a:p>
        </p:txBody>
      </p:sp>
      <p:sp>
        <p:nvSpPr>
          <p:cNvPr id="7" name="Text 5"/>
          <p:cNvSpPr txBox="1"/>
          <p:nvPr/>
        </p:nvSpPr>
        <p:spPr>
          <a:xfrm>
            <a:off x="6400800" y="1325880"/>
            <a:ext cx="2743200" cy="868680"/>
          </a:xfrm>
          <a:prstGeom prst="rect">
            <a:avLst/>
          </a:prstGeom>
          <a:noFill/>
          <a:ln/>
        </p:spPr>
        <p:txBody>
          <a:bodyPr wrap="square" lIns="0" tIns="0" rIns="0" bIns="0" rtlCol="0" anchor="b"/>
          <a:lstStyle/>
          <a:p>
            <a:pPr indent="0" marL="0">
              <a:buNone/>
            </a:pPr>
            <a:r>
              <a:rPr lang="en-US" sz="4400" b="1" dirty="0">
                <a:solidFill>
                  <a:srgbClr val="C0392B"/>
                </a:solidFill>
                <a:latin typeface="Cambria" pitchFamily="34" charset="0"/>
                <a:ea typeface="Cambria" pitchFamily="34" charset="-122"/>
                <a:cs typeface="Cambria" pitchFamily="34" charset="-120"/>
              </a:rPr>
              <a:t>36%</a:t>
            </a:r>
            <a:endParaRPr lang="en-US" sz="4400" dirty="0"/>
          </a:p>
        </p:txBody>
      </p:sp>
      <p:sp>
        <p:nvSpPr>
          <p:cNvPr id="8" name="Text 6"/>
          <p:cNvSpPr txBox="1"/>
          <p:nvPr/>
        </p:nvSpPr>
        <p:spPr>
          <a:xfrm>
            <a:off x="6400800" y="2240280"/>
            <a:ext cx="2743200" cy="822960"/>
          </a:xfrm>
          <a:prstGeom prst="rect">
            <a:avLst/>
          </a:prstGeom>
          <a:noFill/>
          <a:ln/>
        </p:spPr>
        <p:txBody>
          <a:bodyPr wrap="square" lIns="0" tIns="0" rIns="0" bIns="0" rtlCol="0" anchor="t"/>
          <a:lstStyle/>
          <a:p>
            <a:pPr indent="0" marL="0">
              <a:buNone/>
            </a:pPr>
            <a:r>
              <a:rPr lang="en-US" sz="1300" dirty="0">
                <a:solidFill>
                  <a:srgbClr val="56676F"/>
                </a:solidFill>
                <a:latin typeface="Calibri" pitchFamily="34" charset="0"/>
                <a:ea typeface="Calibri" pitchFamily="34" charset="-122"/>
                <a:cs typeface="Calibri" pitchFamily="34" charset="-120"/>
              </a:rPr>
              <a:t>of people with diagnosed diabetes reach HbA1c &lt; 7% (ICMR-INDIAB-13, 2022)</a:t>
            </a:r>
            <a:endParaRPr lang="en-US" sz="1300" dirty="0"/>
          </a:p>
        </p:txBody>
      </p:sp>
      <p:sp>
        <p:nvSpPr>
          <p:cNvPr id="9" name="Text 7"/>
          <p:cNvSpPr txBox="1"/>
          <p:nvPr/>
        </p:nvSpPr>
        <p:spPr>
          <a:xfrm>
            <a:off x="9326880" y="1325880"/>
            <a:ext cx="2377440" cy="868680"/>
          </a:xfrm>
          <a:prstGeom prst="rect">
            <a:avLst/>
          </a:prstGeom>
          <a:noFill/>
          <a:ln/>
        </p:spPr>
        <p:txBody>
          <a:bodyPr wrap="square" lIns="0" tIns="0" rIns="0" bIns="0" rtlCol="0" anchor="b"/>
          <a:lstStyle/>
          <a:p>
            <a:pPr indent="0" marL="0">
              <a:buNone/>
            </a:pPr>
            <a:r>
              <a:rPr lang="en-US" sz="4400" b="1" dirty="0">
                <a:solidFill>
                  <a:srgbClr val="C98A00"/>
                </a:solidFill>
                <a:latin typeface="Cambria" pitchFamily="34" charset="0"/>
                <a:ea typeface="Cambria" pitchFamily="34" charset="-122"/>
                <a:cs typeface="Cambria" pitchFamily="34" charset="-120"/>
              </a:rPr>
              <a:t>&lt; 25%</a:t>
            </a:r>
            <a:endParaRPr lang="en-US" sz="4400" dirty="0"/>
          </a:p>
        </p:txBody>
      </p:sp>
      <p:sp>
        <p:nvSpPr>
          <p:cNvPr id="10" name="Text 8"/>
          <p:cNvSpPr txBox="1"/>
          <p:nvPr/>
        </p:nvSpPr>
        <p:spPr>
          <a:xfrm>
            <a:off x="9326880" y="2240280"/>
            <a:ext cx="2377440" cy="822960"/>
          </a:xfrm>
          <a:prstGeom prst="rect">
            <a:avLst/>
          </a:prstGeom>
          <a:noFill/>
          <a:ln/>
        </p:spPr>
        <p:txBody>
          <a:bodyPr wrap="square" lIns="0" tIns="0" rIns="0" bIns="0" rtlCol="0" anchor="t"/>
          <a:lstStyle/>
          <a:p>
            <a:pPr indent="0" marL="0">
              <a:buNone/>
            </a:pPr>
            <a:r>
              <a:rPr lang="en-US" sz="1300" dirty="0">
                <a:solidFill>
                  <a:srgbClr val="56676F"/>
                </a:solidFill>
                <a:latin typeface="Calibri" pitchFamily="34" charset="0"/>
                <a:ea typeface="Calibri" pitchFamily="34" charset="-122"/>
                <a:cs typeface="Calibri" pitchFamily="34" charset="-120"/>
              </a:rPr>
              <a:t>consensus target for time above 180 mg/dL (Battelino 2019)</a:t>
            </a:r>
            <a:endParaRPr lang="en-US" sz="1300" dirty="0"/>
          </a:p>
        </p:txBody>
      </p:sp>
      <p:sp>
        <p:nvSpPr>
          <p:cNvPr id="11" name="Shape 9"/>
          <p:cNvSpPr/>
          <p:nvPr/>
        </p:nvSpPr>
        <p:spPr>
          <a:xfrm>
            <a:off x="548640" y="3794760"/>
            <a:ext cx="5394960" cy="1828800"/>
          </a:xfrm>
          <a:prstGeom prst="roundRect">
            <a:avLst>
              <a:gd name="adj" fmla="val 4000"/>
            </a:avLst>
          </a:prstGeom>
          <a:solidFill>
            <a:srgbClr val="F3F6F7"/>
          </a:solidFill>
          <a:ln w="12700">
            <a:solidFill>
              <a:srgbClr val="F3F6F7"/>
            </a:solidFill>
            <a:prstDash val="solid"/>
          </a:ln>
        </p:spPr>
      </p:sp>
      <p:sp>
        <p:nvSpPr>
          <p:cNvPr id="12" name="Text 10"/>
          <p:cNvSpPr txBox="1"/>
          <p:nvPr/>
        </p:nvSpPr>
        <p:spPr>
          <a:xfrm>
            <a:off x="749808" y="3959352"/>
            <a:ext cx="4992624" cy="365760"/>
          </a:xfrm>
          <a:prstGeom prst="rect">
            <a:avLst/>
          </a:prstGeom>
          <a:noFill/>
          <a:ln/>
        </p:spPr>
        <p:txBody>
          <a:bodyPr wrap="square" lIns="0" tIns="0" rIns="0" bIns="0" rtlCol="0" anchor="t"/>
          <a:lstStyle/>
          <a:p>
            <a:pPr indent="0" marL="0">
              <a:buNone/>
            </a:pPr>
            <a:r>
              <a:rPr lang="en-US" sz="1500" b="1" dirty="0">
                <a:solidFill>
                  <a:srgbClr val="0D5F73"/>
                </a:solidFill>
                <a:latin typeface="Calibri" pitchFamily="34" charset="0"/>
                <a:ea typeface="Calibri" pitchFamily="34" charset="-122"/>
                <a:cs typeface="Calibri" pitchFamily="34" charset="-120"/>
              </a:rPr>
              <a:t>How CGM is reviewed today</a:t>
            </a:r>
            <a:endParaRPr lang="en-US" sz="1500" dirty="0"/>
          </a:p>
        </p:txBody>
      </p:sp>
      <p:sp>
        <p:nvSpPr>
          <p:cNvPr id="13" name="Text 11"/>
          <p:cNvSpPr txBox="1"/>
          <p:nvPr/>
        </p:nvSpPr>
        <p:spPr>
          <a:xfrm>
            <a:off x="749808" y="4361688"/>
            <a:ext cx="4992624" cy="1143000"/>
          </a:xfrm>
          <a:prstGeom prst="rect">
            <a:avLst/>
          </a:prstGeom>
          <a:noFill/>
          <a:ln/>
        </p:spPr>
        <p:txBody>
          <a:bodyPr wrap="square" lIns="0" tIns="0" rIns="0" bIns="0" rtlCol="0" anchor="t"/>
          <a:lstStyle/>
          <a:p>
            <a:pPr indent="0" marL="0">
              <a:buNone/>
            </a:pPr>
            <a:r>
              <a:rPr lang="en-US" sz="1300" dirty="0">
                <a:solidFill>
                  <a:srgbClr val="15232A"/>
                </a:solidFill>
                <a:latin typeface="Calibri" pitchFamily="34" charset="0"/>
                <a:ea typeface="Calibri" pitchFamily="34" charset="-122"/>
                <a:cs typeface="Calibri" pitchFamily="34" charset="-120"/>
              </a:rPr>
              <a:t>CGM use is growing in India through clinic-placed and short-term sensors. Clinicians review an ambulatory glucose profile after the fact, at a visit, separately from labs, complications and the drug regimen.</a:t>
            </a:r>
            <a:endParaRPr lang="en-US" sz="1300" dirty="0"/>
          </a:p>
        </p:txBody>
      </p:sp>
      <p:sp>
        <p:nvSpPr>
          <p:cNvPr id="14" name="Shape 12"/>
          <p:cNvSpPr/>
          <p:nvPr/>
        </p:nvSpPr>
        <p:spPr>
          <a:xfrm>
            <a:off x="6217920" y="3794760"/>
            <a:ext cx="5394960" cy="1828800"/>
          </a:xfrm>
          <a:prstGeom prst="roundRect">
            <a:avLst>
              <a:gd name="adj" fmla="val 4000"/>
            </a:avLst>
          </a:prstGeom>
          <a:solidFill>
            <a:srgbClr val="F3F6F7"/>
          </a:solidFill>
          <a:ln w="12700">
            <a:solidFill>
              <a:srgbClr val="F3F6F7"/>
            </a:solidFill>
            <a:prstDash val="solid"/>
          </a:ln>
        </p:spPr>
      </p:sp>
      <p:sp>
        <p:nvSpPr>
          <p:cNvPr id="15" name="Text 13"/>
          <p:cNvSpPr txBox="1"/>
          <p:nvPr/>
        </p:nvSpPr>
        <p:spPr>
          <a:xfrm>
            <a:off x="6419088" y="3959352"/>
            <a:ext cx="4992624" cy="365760"/>
          </a:xfrm>
          <a:prstGeom prst="rect">
            <a:avLst/>
          </a:prstGeom>
          <a:noFill/>
          <a:ln/>
        </p:spPr>
        <p:txBody>
          <a:bodyPr wrap="square" lIns="0" tIns="0" rIns="0" bIns="0" rtlCol="0" anchor="t"/>
          <a:lstStyle/>
          <a:p>
            <a:pPr indent="0" marL="0">
              <a:buNone/>
            </a:pPr>
            <a:r>
              <a:rPr lang="en-US" sz="1500" b="1" dirty="0">
                <a:solidFill>
                  <a:srgbClr val="0D5F73"/>
                </a:solidFill>
                <a:latin typeface="Calibri" pitchFamily="34" charset="0"/>
                <a:ea typeface="Calibri" pitchFamily="34" charset="-122"/>
                <a:cs typeface="Calibri" pitchFamily="34" charset="-120"/>
              </a:rPr>
              <a:t>The gap we address</a:t>
            </a:r>
            <a:endParaRPr lang="en-US" sz="1500" dirty="0"/>
          </a:p>
        </p:txBody>
      </p:sp>
      <p:sp>
        <p:nvSpPr>
          <p:cNvPr id="16" name="Text 14"/>
          <p:cNvSpPr txBox="1"/>
          <p:nvPr/>
        </p:nvSpPr>
        <p:spPr>
          <a:xfrm>
            <a:off x="6419088" y="4361688"/>
            <a:ext cx="4992624" cy="1143000"/>
          </a:xfrm>
          <a:prstGeom prst="rect">
            <a:avLst/>
          </a:prstGeom>
          <a:noFill/>
          <a:ln/>
        </p:spPr>
        <p:txBody>
          <a:bodyPr wrap="square" lIns="0" tIns="0" rIns="0" bIns="0" rtlCol="0" anchor="t"/>
          <a:lstStyle/>
          <a:p>
            <a:pPr indent="0" marL="0">
              <a:buNone/>
            </a:pPr>
            <a:r>
              <a:rPr lang="en-US" sz="1300" dirty="0">
                <a:solidFill>
                  <a:srgbClr val="15232A"/>
                </a:solidFill>
                <a:latin typeface="Calibri" pitchFamily="34" charset="0"/>
                <a:ea typeface="Calibri" pitchFamily="34" charset="-122"/>
                <a:cs typeface="Calibri" pitchFamily="34" charset="-120"/>
              </a:rPr>
              <a:t>Nothing in a typical review combines the record with the live stream, tells the care team who is likely to go high or low in the next hour, or shows how trustworthy such a forecast has been for this patient.</a:t>
            </a:r>
            <a:endParaRPr lang="en-US" sz="13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6676F"/>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rgbClr val="15232A"/>
                </a:solidFill>
                <a:latin typeface="Cambria" pitchFamily="34" charset="0"/>
                <a:ea typeface="Cambria" pitchFamily="34" charset="-122"/>
                <a:cs typeface="Cambria" pitchFamily="34" charset="-120"/>
              </a:rPr>
              <a:t>Forecasting already exists. What is still missing</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743200"/>
                <a:gridCol w="3840480"/>
                <a:gridCol w="2103120"/>
                <a:gridCol w="2377440"/>
              </a:tblGrid>
              <a:tr h="475488">
                <a:tc>
                  <a:txBody>
                    <a:bodyPr/>
                    <a:lstStyle/>
                    <a:p>
                      <a:pPr indent="0" marL="0">
                        <a:buNone/>
                      </a:pPr>
                      <a:r>
                        <a:rPr lang="en-US" sz="1300" b="1" dirty="0">
                          <a:solidFill>
                            <a:srgbClr val="15232A"/>
                          </a:solidFill>
                          <a:latin typeface="Calibri" pitchFamily="34" charset="0"/>
                          <a:ea typeface="Calibri" pitchFamily="34" charset="-122"/>
                          <a:cs typeface="Calibri" pitchFamily="34" charset="-120"/>
                        </a:rPr>
                        <a:t>Product</a:t>
                      </a:r>
                      <a:endParaRPr lang="en-US" sz="1300" dirty="0">
                        <a:latin typeface="Calibri" charset="0"/>
                        <a:ea typeface="Calibri" charset="0"/>
                        <a:cs typeface="Calibri" charset="0"/>
                      </a:endParaRPr>
                    </a:p>
                  </a:txBody>
                  <a:tcPr marL="101600" marR="101600" marT="50800" marB="50800" anchor="ctr">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F3F6F7"/>
                    </a:solidFill>
                  </a:tcPr>
                </a:tc>
                <a:tc>
                  <a:txBody>
                    <a:bodyPr/>
                    <a:lstStyle/>
                    <a:p>
                      <a:pPr indent="0" marL="0">
                        <a:buNone/>
                      </a:pPr>
                      <a:r>
                        <a:rPr lang="en-US" sz="1300" b="1" dirty="0">
                          <a:solidFill>
                            <a:srgbClr val="15232A"/>
                          </a:solidFill>
                          <a:latin typeface="Calibri" pitchFamily="34" charset="0"/>
                          <a:ea typeface="Calibri" pitchFamily="34" charset="-122"/>
                          <a:cs typeface="Calibri" pitchFamily="34" charset="-120"/>
                        </a:rPr>
                        <a:t>What it predicts</a:t>
                      </a:r>
                      <a:endParaRPr lang="en-US" sz="1300" dirty="0">
                        <a:latin typeface="Calibri" charset="0"/>
                        <a:ea typeface="Calibri" charset="0"/>
                        <a:cs typeface="Calibri" charset="0"/>
                      </a:endParaRPr>
                    </a:p>
                  </a:txBody>
                  <a:tcPr marL="101600" marR="101600" marT="50800" marB="50800" anchor="ctr">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F3F6F7"/>
                    </a:solidFill>
                  </a:tcPr>
                </a:tc>
                <a:tc>
                  <a:txBody>
                    <a:bodyPr/>
                    <a:lstStyle/>
                    <a:p>
                      <a:pPr indent="0" marL="0">
                        <a:buNone/>
                      </a:pPr>
                      <a:r>
                        <a:rPr lang="en-US" sz="1300" b="1" dirty="0">
                          <a:solidFill>
                            <a:srgbClr val="15232A"/>
                          </a:solidFill>
                          <a:latin typeface="Calibri" pitchFamily="34" charset="0"/>
                          <a:ea typeface="Calibri" pitchFamily="34" charset="-122"/>
                          <a:cs typeface="Calibri" pitchFamily="34" charset="-120"/>
                        </a:rPr>
                        <a:t>Who sees it</a:t>
                      </a:r>
                      <a:endParaRPr lang="en-US" sz="1300" dirty="0">
                        <a:latin typeface="Calibri" charset="0"/>
                        <a:ea typeface="Calibri" charset="0"/>
                        <a:cs typeface="Calibri" charset="0"/>
                      </a:endParaRPr>
                    </a:p>
                  </a:txBody>
                  <a:tcPr marL="101600" marR="101600" marT="50800" marB="50800" anchor="ctr">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F3F6F7"/>
                    </a:solidFill>
                  </a:tcPr>
                </a:tc>
                <a:tc>
                  <a:txBody>
                    <a:bodyPr/>
                    <a:lstStyle/>
                    <a:p>
                      <a:pPr indent="0" marL="0">
                        <a:buNone/>
                      </a:pPr>
                      <a:r>
                        <a:rPr lang="en-US" sz="1300" b="1" dirty="0">
                          <a:solidFill>
                            <a:srgbClr val="15232A"/>
                          </a:solidFill>
                          <a:latin typeface="Calibri" pitchFamily="34" charset="0"/>
                          <a:ea typeface="Calibri" pitchFamily="34" charset="-122"/>
                          <a:cs typeface="Calibri" pitchFamily="34" charset="-120"/>
                        </a:rPr>
                        <a:t>Uses clinical record?</a:t>
                      </a:r>
                      <a:endParaRPr lang="en-US" sz="1300" dirty="0">
                        <a:latin typeface="Calibri" charset="0"/>
                        <a:ea typeface="Calibri" charset="0"/>
                        <a:cs typeface="Calibri" charset="0"/>
                      </a:endParaRPr>
                    </a:p>
                  </a:txBody>
                  <a:tcPr marL="101600" marR="101600" marT="50800" marB="50800" anchor="ctr">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F3F6F7"/>
                    </a:solidFill>
                  </a:tcPr>
                </a:tc>
              </a:tr>
              <a:tr h="475488">
                <a:tc>
                  <a:txBody>
                    <a:bodyPr/>
                    <a:lstStyle/>
                    <a:p>
                      <a:pPr indent="0" marL="0">
                        <a:buNone/>
                      </a:pPr>
                      <a:r>
                        <a:rPr lang="en-US" sz="1300" dirty="0">
                          <a:solidFill>
                            <a:srgbClr val="15232A"/>
                          </a:solidFill>
                          <a:latin typeface="Calibri" pitchFamily="34" charset="0"/>
                          <a:ea typeface="Calibri" pitchFamily="34" charset="-122"/>
                          <a:cs typeface="Calibri" pitchFamily="34" charset="-120"/>
                        </a:rPr>
                        <a:t>Dexcom G7</a:t>
                      </a:r>
                      <a:endParaRPr lang="en-US" sz="1300" dirty="0">
                        <a:latin typeface="Calibri" charset="0"/>
                        <a:ea typeface="Calibri" charset="0"/>
                        <a:cs typeface="Calibri" charset="0"/>
                      </a:endParaRPr>
                    </a:p>
                  </a:txBody>
                  <a:tcPr marL="101600" marR="101600" marT="50800" marB="50800" anchor="ctr">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FFFFFF"/>
                    </a:solidFill>
                  </a:tcPr>
                </a:tc>
                <a:tc>
                  <a:txBody>
                    <a:bodyPr/>
                    <a:lstStyle/>
                    <a:p>
                      <a:pPr indent="0" marL="0">
                        <a:buNone/>
                      </a:pPr>
                      <a:r>
                        <a:rPr lang="en-US" sz="1300" dirty="0">
                          <a:solidFill>
                            <a:srgbClr val="15232A"/>
                          </a:solidFill>
                          <a:latin typeface="Calibri" pitchFamily="34" charset="0"/>
                          <a:ea typeface="Calibri" pitchFamily="34" charset="-122"/>
                          <a:cs typeface="Calibri" pitchFamily="34" charset="-120"/>
                        </a:rPr>
                        <a:t>Urgent low within 20 min</a:t>
                      </a:r>
                      <a:endParaRPr lang="en-US" sz="1300" dirty="0">
                        <a:latin typeface="Calibri" charset="0"/>
                        <a:ea typeface="Calibri" charset="0"/>
                        <a:cs typeface="Calibri" charset="0"/>
                      </a:endParaRPr>
                    </a:p>
                  </a:txBody>
                  <a:tcPr marL="101600" marR="101600" marT="50800" marB="50800" anchor="ctr">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FFFFFF"/>
                    </a:solidFill>
                  </a:tcPr>
                </a:tc>
                <a:tc>
                  <a:txBody>
                    <a:bodyPr/>
                    <a:lstStyle/>
                    <a:p>
                      <a:pPr indent="0" marL="0">
                        <a:buNone/>
                      </a:pPr>
                      <a:r>
                        <a:rPr lang="en-US" sz="1300" dirty="0">
                          <a:solidFill>
                            <a:srgbClr val="15232A"/>
                          </a:solidFill>
                          <a:latin typeface="Calibri" pitchFamily="34" charset="0"/>
                          <a:ea typeface="Calibri" pitchFamily="34" charset="-122"/>
                          <a:cs typeface="Calibri" pitchFamily="34" charset="-120"/>
                        </a:rPr>
                        <a:t>Patient</a:t>
                      </a:r>
                      <a:endParaRPr lang="en-US" sz="1300" dirty="0">
                        <a:latin typeface="Calibri" charset="0"/>
                        <a:ea typeface="Calibri" charset="0"/>
                        <a:cs typeface="Calibri" charset="0"/>
                      </a:endParaRPr>
                    </a:p>
                  </a:txBody>
                  <a:tcPr marL="101600" marR="101600" marT="50800" marB="50800" anchor="ctr">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FFFFFF"/>
                    </a:solidFill>
                  </a:tcPr>
                </a:tc>
                <a:tc>
                  <a:txBody>
                    <a:bodyPr/>
                    <a:lstStyle/>
                    <a:p>
                      <a:pPr indent="0" marL="0">
                        <a:buNone/>
                      </a:pPr>
                      <a:r>
                        <a:rPr lang="en-US" sz="1300" dirty="0">
                          <a:solidFill>
                            <a:srgbClr val="15232A"/>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101600" marR="101600" marT="50800" marB="50800" anchor="ctr">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5232A"/>
                          </a:solidFill>
                          <a:latin typeface="Calibri" pitchFamily="34" charset="0"/>
                          <a:ea typeface="Calibri" pitchFamily="34" charset="-122"/>
                          <a:cs typeface="Calibri" pitchFamily="34" charset="-120"/>
                        </a:rPr>
                        <a:t>Medtronic Guardian</a:t>
                      </a:r>
                      <a:endParaRPr lang="en-US" sz="1300" dirty="0">
                        <a:latin typeface="Calibri" charset="0"/>
                        <a:ea typeface="Calibri" charset="0"/>
                        <a:cs typeface="Calibri" charset="0"/>
                      </a:endParaRPr>
                    </a:p>
                  </a:txBody>
                  <a:tcPr marL="101600" marR="101600" marT="50800" marB="50800" anchor="ctr">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FFFFFF"/>
                    </a:solidFill>
                  </a:tcPr>
                </a:tc>
                <a:tc>
                  <a:txBody>
                    <a:bodyPr/>
                    <a:lstStyle/>
                    <a:p>
                      <a:pPr indent="0" marL="0">
                        <a:buNone/>
                      </a:pPr>
                      <a:r>
                        <a:rPr lang="en-US" sz="1300" dirty="0">
                          <a:solidFill>
                            <a:srgbClr val="15232A"/>
                          </a:solidFill>
                          <a:latin typeface="Calibri" pitchFamily="34" charset="0"/>
                          <a:ea typeface="Calibri" pitchFamily="34" charset="-122"/>
                          <a:cs typeface="Calibri" pitchFamily="34" charset="-120"/>
                        </a:rPr>
                        <a:t>High / low up to 60 min</a:t>
                      </a:r>
                      <a:endParaRPr lang="en-US" sz="1300" dirty="0">
                        <a:latin typeface="Calibri" charset="0"/>
                        <a:ea typeface="Calibri" charset="0"/>
                        <a:cs typeface="Calibri" charset="0"/>
                      </a:endParaRPr>
                    </a:p>
                  </a:txBody>
                  <a:tcPr marL="101600" marR="101600" marT="50800" marB="50800" anchor="ctr">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FFFFFF"/>
                    </a:solidFill>
                  </a:tcPr>
                </a:tc>
                <a:tc>
                  <a:txBody>
                    <a:bodyPr/>
                    <a:lstStyle/>
                    <a:p>
                      <a:pPr indent="0" marL="0">
                        <a:buNone/>
                      </a:pPr>
                      <a:r>
                        <a:rPr lang="en-US" sz="1300" dirty="0">
                          <a:solidFill>
                            <a:srgbClr val="15232A"/>
                          </a:solidFill>
                          <a:latin typeface="Calibri" pitchFamily="34" charset="0"/>
                          <a:ea typeface="Calibri" pitchFamily="34" charset="-122"/>
                          <a:cs typeface="Calibri" pitchFamily="34" charset="-120"/>
                        </a:rPr>
                        <a:t>Patient</a:t>
                      </a:r>
                      <a:endParaRPr lang="en-US" sz="1300" dirty="0">
                        <a:latin typeface="Calibri" charset="0"/>
                        <a:ea typeface="Calibri" charset="0"/>
                        <a:cs typeface="Calibri" charset="0"/>
                      </a:endParaRPr>
                    </a:p>
                  </a:txBody>
                  <a:tcPr marL="101600" marR="101600" marT="50800" marB="50800" anchor="ctr">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FFFFFF"/>
                    </a:solidFill>
                  </a:tcPr>
                </a:tc>
                <a:tc>
                  <a:txBody>
                    <a:bodyPr/>
                    <a:lstStyle/>
                    <a:p>
                      <a:pPr indent="0" marL="0">
                        <a:buNone/>
                      </a:pPr>
                      <a:r>
                        <a:rPr lang="en-US" sz="1300" dirty="0">
                          <a:solidFill>
                            <a:srgbClr val="15232A"/>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101600" marR="101600" marT="50800" marB="50800" anchor="ctr">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5232A"/>
                          </a:solidFill>
                          <a:latin typeface="Calibri" pitchFamily="34" charset="0"/>
                          <a:ea typeface="Calibri" pitchFamily="34" charset="-122"/>
                          <a:cs typeface="Calibri" pitchFamily="34" charset="-120"/>
                        </a:rPr>
                        <a:t>Roche Accu-Chek SmartGuide</a:t>
                      </a:r>
                      <a:endParaRPr lang="en-US" sz="1300" dirty="0">
                        <a:latin typeface="Calibri" charset="0"/>
                        <a:ea typeface="Calibri" charset="0"/>
                        <a:cs typeface="Calibri" charset="0"/>
                      </a:endParaRPr>
                    </a:p>
                  </a:txBody>
                  <a:tcPr marL="101600" marR="101600" marT="50800" marB="50800" anchor="ctr">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FFFFFF"/>
                    </a:solidFill>
                  </a:tcPr>
                </a:tc>
                <a:tc>
                  <a:txBody>
                    <a:bodyPr/>
                    <a:lstStyle/>
                    <a:p>
                      <a:pPr indent="0" marL="0">
                        <a:buNone/>
                      </a:pPr>
                      <a:r>
                        <a:rPr lang="en-US" sz="1300" dirty="0">
                          <a:solidFill>
                            <a:srgbClr val="15232A"/>
                          </a:solidFill>
                          <a:latin typeface="Calibri" pitchFamily="34" charset="0"/>
                          <a:ea typeface="Calibri" pitchFamily="34" charset="-122"/>
                          <a:cs typeface="Calibri" pitchFamily="34" charset="-120"/>
                        </a:rPr>
                        <a:t>Low in 30 min, 2-h trajectory, night low</a:t>
                      </a:r>
                      <a:endParaRPr lang="en-US" sz="1300" dirty="0">
                        <a:latin typeface="Calibri" charset="0"/>
                        <a:ea typeface="Calibri" charset="0"/>
                        <a:cs typeface="Calibri" charset="0"/>
                      </a:endParaRPr>
                    </a:p>
                  </a:txBody>
                  <a:tcPr marL="101600" marR="101600" marT="50800" marB="50800" anchor="ctr">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FFFFFF"/>
                    </a:solidFill>
                  </a:tcPr>
                </a:tc>
                <a:tc>
                  <a:txBody>
                    <a:bodyPr/>
                    <a:lstStyle/>
                    <a:p>
                      <a:pPr indent="0" marL="0">
                        <a:buNone/>
                      </a:pPr>
                      <a:r>
                        <a:rPr lang="en-US" sz="1300" dirty="0">
                          <a:solidFill>
                            <a:srgbClr val="15232A"/>
                          </a:solidFill>
                          <a:latin typeface="Calibri" pitchFamily="34" charset="0"/>
                          <a:ea typeface="Calibri" pitchFamily="34" charset="-122"/>
                          <a:cs typeface="Calibri" pitchFamily="34" charset="-120"/>
                        </a:rPr>
                        <a:t>Patient</a:t>
                      </a:r>
                      <a:endParaRPr lang="en-US" sz="1300" dirty="0">
                        <a:latin typeface="Calibri" charset="0"/>
                        <a:ea typeface="Calibri" charset="0"/>
                        <a:cs typeface="Calibri" charset="0"/>
                      </a:endParaRPr>
                    </a:p>
                  </a:txBody>
                  <a:tcPr marL="101600" marR="101600" marT="50800" marB="50800" anchor="ctr">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FFFFFF"/>
                    </a:solidFill>
                  </a:tcPr>
                </a:tc>
                <a:tc>
                  <a:txBody>
                    <a:bodyPr/>
                    <a:lstStyle/>
                    <a:p>
                      <a:pPr indent="0" marL="0">
                        <a:buNone/>
                      </a:pPr>
                      <a:r>
                        <a:rPr lang="en-US" sz="1300" dirty="0">
                          <a:solidFill>
                            <a:srgbClr val="15232A"/>
                          </a:solidFill>
                          <a:latin typeface="Calibri" pitchFamily="34" charset="0"/>
                          <a:ea typeface="Calibri" pitchFamily="34" charset="-122"/>
                          <a:cs typeface="Calibri" pitchFamily="34" charset="-120"/>
                        </a:rPr>
                        <a:t>No (CGM + logged carbs, insulin)</a:t>
                      </a:r>
                      <a:endParaRPr lang="en-US" sz="1300" dirty="0">
                        <a:latin typeface="Calibri" charset="0"/>
                        <a:ea typeface="Calibri" charset="0"/>
                        <a:cs typeface="Calibri" charset="0"/>
                      </a:endParaRPr>
                    </a:p>
                  </a:txBody>
                  <a:tcPr marL="101600" marR="101600" marT="50800" marB="50800" anchor="ctr">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5232A"/>
                          </a:solidFill>
                          <a:latin typeface="Calibri" pitchFamily="34" charset="0"/>
                          <a:ea typeface="Calibri" pitchFamily="34" charset="-122"/>
                          <a:cs typeface="Calibri" pitchFamily="34" charset="-120"/>
                        </a:rPr>
                        <a:t>LibreView, Dexcom Clarity, Glooko</a:t>
                      </a:r>
                      <a:endParaRPr lang="en-US" sz="1300" dirty="0">
                        <a:latin typeface="Calibri" charset="0"/>
                        <a:ea typeface="Calibri" charset="0"/>
                        <a:cs typeface="Calibri" charset="0"/>
                      </a:endParaRPr>
                    </a:p>
                  </a:txBody>
                  <a:tcPr marL="101600" marR="101600" marT="50800" marB="50800" anchor="ctr">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FFFFFF"/>
                    </a:solidFill>
                  </a:tcPr>
                </a:tc>
                <a:tc>
                  <a:txBody>
                    <a:bodyPr/>
                    <a:lstStyle/>
                    <a:p>
                      <a:pPr indent="0" marL="0">
                        <a:buNone/>
                      </a:pPr>
                      <a:r>
                        <a:rPr lang="en-US" sz="1300" dirty="0">
                          <a:solidFill>
                            <a:srgbClr val="15232A"/>
                          </a:solidFill>
                          <a:latin typeface="Calibri" pitchFamily="34" charset="0"/>
                          <a:ea typeface="Calibri" pitchFamily="34" charset="-122"/>
                          <a:cs typeface="Calibri" pitchFamily="34" charset="-120"/>
                        </a:rPr>
                        <a:t>Retrospective reports</a:t>
                      </a:r>
                      <a:endParaRPr lang="en-US" sz="1300" dirty="0">
                        <a:latin typeface="Calibri" charset="0"/>
                        <a:ea typeface="Calibri" charset="0"/>
                        <a:cs typeface="Calibri" charset="0"/>
                      </a:endParaRPr>
                    </a:p>
                  </a:txBody>
                  <a:tcPr marL="101600" marR="101600" marT="50800" marB="50800" anchor="ctr">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FFFFFF"/>
                    </a:solidFill>
                  </a:tcPr>
                </a:tc>
                <a:tc>
                  <a:txBody>
                    <a:bodyPr/>
                    <a:lstStyle/>
                    <a:p>
                      <a:pPr indent="0" marL="0">
                        <a:buNone/>
                      </a:pPr>
                      <a:r>
                        <a:rPr lang="en-US" sz="1300" dirty="0">
                          <a:solidFill>
                            <a:srgbClr val="15232A"/>
                          </a:solidFill>
                          <a:latin typeface="Calibri" pitchFamily="34" charset="0"/>
                          <a:ea typeface="Calibri" pitchFamily="34" charset="-122"/>
                          <a:cs typeface="Calibri" pitchFamily="34" charset="-120"/>
                        </a:rPr>
                        <a:t>Clinician</a:t>
                      </a:r>
                      <a:endParaRPr lang="en-US" sz="1300" dirty="0">
                        <a:latin typeface="Calibri" charset="0"/>
                        <a:ea typeface="Calibri" charset="0"/>
                        <a:cs typeface="Calibri" charset="0"/>
                      </a:endParaRPr>
                    </a:p>
                  </a:txBody>
                  <a:tcPr marL="101600" marR="101600" marT="50800" marB="50800" anchor="ctr">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FFFFFF"/>
                    </a:solidFill>
                  </a:tcPr>
                </a:tc>
                <a:tc>
                  <a:txBody>
                    <a:bodyPr/>
                    <a:lstStyle/>
                    <a:p>
                      <a:pPr indent="0" marL="0">
                        <a:buNone/>
                      </a:pPr>
                      <a:r>
                        <a:rPr lang="en-US" sz="1300" dirty="0">
                          <a:solidFill>
                            <a:srgbClr val="15232A"/>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101600" marR="101600" marT="50800" marB="50800" anchor="ctr">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0D5F73"/>
                          </a:solidFill>
                          <a:latin typeface="Calibri" pitchFamily="34" charset="0"/>
                          <a:ea typeface="Calibri" pitchFamily="34" charset="-122"/>
                          <a:cs typeface="Calibri" pitchFamily="34" charset="-120"/>
                        </a:rPr>
                        <a:t>Pratirup</a:t>
                      </a:r>
                      <a:endParaRPr lang="en-US" sz="1300" dirty="0">
                        <a:latin typeface="Calibri" charset="0"/>
                        <a:ea typeface="Calibri" charset="0"/>
                        <a:cs typeface="Calibri" charset="0"/>
                      </a:endParaRPr>
                    </a:p>
                  </a:txBody>
                  <a:tcPr marL="101600" marR="101600" marT="50800" marB="50800" anchor="ctr">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E1EFF2"/>
                    </a:solidFill>
                  </a:tcPr>
                </a:tc>
                <a:tc>
                  <a:txBody>
                    <a:bodyPr/>
                    <a:lstStyle/>
                    <a:p>
                      <a:pPr indent="0" marL="0">
                        <a:buNone/>
                      </a:pPr>
                      <a:r>
                        <a:rPr lang="en-US" sz="1300" b="1" dirty="0">
                          <a:solidFill>
                            <a:srgbClr val="0D5F73"/>
                          </a:solidFill>
                          <a:latin typeface="Calibri" pitchFamily="34" charset="0"/>
                          <a:ea typeface="Calibri" pitchFamily="34" charset="-122"/>
                          <a:cs typeface="Calibri" pitchFamily="34" charset="-120"/>
                        </a:rPr>
                        <a:t>+30 / +60 min (+120 exploratory), P(&gt;180, &gt;250, &lt;70 in 60 min)</a:t>
                      </a:r>
                      <a:endParaRPr lang="en-US" sz="1300" dirty="0">
                        <a:latin typeface="Calibri" charset="0"/>
                        <a:ea typeface="Calibri" charset="0"/>
                        <a:cs typeface="Calibri" charset="0"/>
                      </a:endParaRPr>
                    </a:p>
                  </a:txBody>
                  <a:tcPr marL="101600" marR="101600" marT="50800" marB="50800" anchor="ctr">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E1EFF2"/>
                    </a:solidFill>
                  </a:tcPr>
                </a:tc>
                <a:tc>
                  <a:txBody>
                    <a:bodyPr/>
                    <a:lstStyle/>
                    <a:p>
                      <a:pPr indent="0" marL="0">
                        <a:buNone/>
                      </a:pPr>
                      <a:r>
                        <a:rPr lang="en-US" sz="1300" b="1" dirty="0">
                          <a:solidFill>
                            <a:srgbClr val="0D5F73"/>
                          </a:solidFill>
                          <a:latin typeface="Calibri" pitchFamily="34" charset="0"/>
                          <a:ea typeface="Calibri" pitchFamily="34" charset="-122"/>
                          <a:cs typeface="Calibri" pitchFamily="34" charset="-120"/>
                        </a:rPr>
                        <a:t>Care team, ranked panel</a:t>
                      </a:r>
                      <a:endParaRPr lang="en-US" sz="1300" dirty="0">
                        <a:latin typeface="Calibri" charset="0"/>
                        <a:ea typeface="Calibri" charset="0"/>
                        <a:cs typeface="Calibri" charset="0"/>
                      </a:endParaRPr>
                    </a:p>
                  </a:txBody>
                  <a:tcPr marL="101600" marR="101600" marT="50800" marB="50800" anchor="ctr">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E1EFF2"/>
                    </a:solidFill>
                  </a:tcPr>
                </a:tc>
                <a:tc>
                  <a:txBody>
                    <a:bodyPr/>
                    <a:lstStyle/>
                    <a:p>
                      <a:pPr indent="0" marL="0">
                        <a:buNone/>
                      </a:pPr>
                      <a:r>
                        <a:rPr lang="en-US" sz="1300" b="1" dirty="0">
                          <a:solidFill>
                            <a:srgbClr val="0D5F73"/>
                          </a:solidFill>
                          <a:latin typeface="Calibri" pitchFamily="34" charset="0"/>
                          <a:ea typeface="Calibri" pitchFamily="34" charset="-122"/>
                          <a:cs typeface="Calibri" pitchFamily="34" charset="-120"/>
                        </a:rPr>
                        <a:t>Yes, plus own error history</a:t>
                      </a:r>
                      <a:endParaRPr lang="en-US" sz="1300" dirty="0">
                        <a:latin typeface="Calibri" charset="0"/>
                        <a:ea typeface="Calibri" charset="0"/>
                        <a:cs typeface="Calibri" charset="0"/>
                      </a:endParaRPr>
                    </a:p>
                  </a:txBody>
                  <a:tcPr marL="101600" marR="101600" marT="50800" marB="50800" anchor="ctr">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E1EFF2"/>
                    </a:solidFill>
                  </a:tcPr>
                </a:tc>
              </a:tr>
            </a:tbl>
          </a:graphicData>
        </a:graphic>
      </p:graphicFrame>
      <p:sp>
        <p:nvSpPr>
          <p:cNvPr id="4" name="Text 1"/>
          <p:cNvSpPr txBox="1"/>
          <p:nvPr/>
        </p:nvSpPr>
        <p:spPr>
          <a:xfrm>
            <a:off x="548640" y="4572000"/>
            <a:ext cx="11064240" cy="822960"/>
          </a:xfrm>
          <a:prstGeom prst="rect">
            <a:avLst/>
          </a:prstGeom>
          <a:noFill/>
          <a:ln/>
        </p:spPr>
        <p:txBody>
          <a:bodyPr wrap="square" lIns="0" tIns="0" rIns="0" bIns="0" rtlCol="0" anchor="t"/>
          <a:lstStyle/>
          <a:p>
            <a:pPr indent="0" marL="0">
              <a:buNone/>
            </a:pPr>
            <a:r>
              <a:rPr lang="en-US" sz="1600" dirty="0">
                <a:solidFill>
                  <a:srgbClr val="15232A"/>
                </a:solidFill>
                <a:latin typeface="Calibri" pitchFamily="34" charset="0"/>
                <a:ea typeface="Calibri" pitchFamily="34" charset="-122"/>
                <a:cs typeface="Calibri" pitchFamily="34" charset="-120"/>
              </a:rPr>
              <a:t>We do not claim forecasting as our novelty. What we did not find is a clinician-facing view that fuses the record, ranks a panel by imminent risk, explains each forecast and keeps a running score of its own accuracy.</a:t>
            </a:r>
            <a:endParaRPr lang="en-US" sz="1600" dirty="0"/>
          </a:p>
        </p:txBody>
      </p:sp>
      <p:sp>
        <p:nvSpPr>
          <p:cNvPr id="5" name="Text 2"/>
          <p:cNvSpPr txBox="1"/>
          <p:nvPr/>
        </p:nvSpPr>
        <p:spPr>
          <a:xfrm>
            <a:off x="548640" y="5760720"/>
            <a:ext cx="11064240" cy="365760"/>
          </a:xfrm>
          <a:prstGeom prst="rect">
            <a:avLst/>
          </a:prstGeom>
          <a:noFill/>
          <a:ln/>
        </p:spPr>
        <p:txBody>
          <a:bodyPr wrap="square" lIns="0" tIns="0" rIns="0" bIns="0" rtlCol="0" anchor="t"/>
          <a:lstStyle/>
          <a:p>
            <a:pPr indent="0" marL="0">
              <a:buNone/>
            </a:pPr>
            <a:r>
              <a:rPr lang="en-US" sz="1100" dirty="0">
                <a:solidFill>
                  <a:srgbClr val="56676F"/>
                </a:solidFill>
                <a:latin typeface="Calibri" pitchFamily="34" charset="0"/>
                <a:ea typeface="Calibri" pitchFamily="34" charset="-122"/>
                <a:cs typeface="Calibri" pitchFamily="34" charset="-120"/>
              </a:rPr>
              <a:t>Sources: vendor documentation (Dexcom, Medtronic, Roche, Glooko), read Oct 2026. Vendor claims are not independent evidence of clinical benefit.</a:t>
            </a:r>
            <a:endParaRPr lang="en-US" sz="11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6676F"/>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rgbClr val="15232A"/>
                </a:solidFill>
                <a:latin typeface="Cambria" pitchFamily="34" charset="0"/>
                <a:ea typeface="Cambria" pitchFamily="34" charset="-122"/>
                <a:cs typeface="Cambria" pitchFamily="34" charset="-120"/>
              </a:rPr>
              <a:t>Use case: a care team running a 14-day CGM programme</a:t>
            </a:r>
            <a:endParaRPr lang="en-US" sz="3000" dirty="0"/>
          </a:p>
        </p:txBody>
      </p:sp>
      <p:sp>
        <p:nvSpPr>
          <p:cNvPr id="3" name="Shape 1"/>
          <p:cNvSpPr/>
          <p:nvPr/>
        </p:nvSpPr>
        <p:spPr>
          <a:xfrm>
            <a:off x="1325880" y="1417320"/>
            <a:ext cx="548640" cy="548640"/>
          </a:xfrm>
          <a:prstGeom prst="ellipse">
            <a:avLst/>
          </a:prstGeom>
          <a:solidFill>
            <a:srgbClr val="0D5F73"/>
          </a:solidFill>
          <a:ln w="12700">
            <a:solidFill>
              <a:srgbClr val="0D5F73"/>
            </a:solidFill>
            <a:prstDash val="solid"/>
          </a:ln>
        </p:spPr>
      </p:sp>
      <p:sp>
        <p:nvSpPr>
          <p:cNvPr id="4" name="Text 2"/>
          <p:cNvSpPr txBox="1"/>
          <p:nvPr/>
        </p:nvSpPr>
        <p:spPr>
          <a:xfrm>
            <a:off x="1325880" y="14173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5" name="Shape 3"/>
          <p:cNvSpPr/>
          <p:nvPr/>
        </p:nvSpPr>
        <p:spPr>
          <a:xfrm>
            <a:off x="1920240" y="1691640"/>
            <a:ext cx="1691640" cy="0"/>
          </a:xfrm>
          <a:prstGeom prst="line">
            <a:avLst/>
          </a:prstGeom>
          <a:noFill/>
          <a:ln w="19050">
            <a:solidFill>
              <a:srgbClr val="C5CFD4"/>
            </a:solidFill>
            <a:prstDash val="solid"/>
          </a:ln>
        </p:spPr>
      </p:sp>
      <p:sp>
        <p:nvSpPr>
          <p:cNvPr id="6" name="Text 4"/>
          <p:cNvSpPr txBox="1"/>
          <p:nvPr/>
        </p:nvSpPr>
        <p:spPr>
          <a:xfrm>
            <a:off x="548640" y="2148840"/>
            <a:ext cx="2103120" cy="365760"/>
          </a:xfrm>
          <a:prstGeom prst="rect">
            <a:avLst/>
          </a:prstGeom>
          <a:noFill/>
          <a:ln/>
        </p:spPr>
        <p:txBody>
          <a:bodyPr wrap="square" lIns="0" tIns="0" rIns="0" bIns="0" rtlCol="0" anchor="t"/>
          <a:lstStyle/>
          <a:p>
            <a:pPr algn="ctr" indent="0" marL="0">
              <a:buNone/>
            </a:pPr>
            <a:r>
              <a:rPr lang="en-US" sz="1700" b="1" dirty="0">
                <a:solidFill>
                  <a:srgbClr val="15232A"/>
                </a:solidFill>
                <a:latin typeface="Calibri" pitchFamily="34" charset="0"/>
                <a:ea typeface="Calibri" pitchFamily="34" charset="-122"/>
                <a:cs typeface="Calibri" pitchFamily="34" charset="-120"/>
              </a:rPr>
              <a:t>Wear</a:t>
            </a:r>
            <a:endParaRPr lang="en-US" sz="1700" dirty="0"/>
          </a:p>
        </p:txBody>
      </p:sp>
      <p:sp>
        <p:nvSpPr>
          <p:cNvPr id="7" name="Text 5"/>
          <p:cNvSpPr txBox="1"/>
          <p:nvPr/>
        </p:nvSpPr>
        <p:spPr>
          <a:xfrm>
            <a:off x="594360" y="2560320"/>
            <a:ext cx="2011680" cy="1463040"/>
          </a:xfrm>
          <a:prstGeom prst="rect">
            <a:avLst/>
          </a:prstGeom>
          <a:noFill/>
          <a:ln/>
        </p:spPr>
        <p:txBody>
          <a:bodyPr wrap="square" lIns="0" tIns="0" rIns="0" bIns="0" rtlCol="0" anchor="t"/>
          <a:lstStyle/>
          <a:p>
            <a:pPr algn="ctr" indent="0" marL="0">
              <a:buNone/>
            </a:pPr>
            <a:r>
              <a:rPr lang="en-US" sz="1300" dirty="0">
                <a:solidFill>
                  <a:srgbClr val="56676F"/>
                </a:solidFill>
                <a:latin typeface="Calibri" pitchFamily="34" charset="0"/>
                <a:ea typeface="Calibri" pitchFamily="34" charset="-122"/>
                <a:cs typeface="Calibri" pitchFamily="34" charset="-120"/>
              </a:rPr>
              <a:t>Adult with T2D wears a CGM for 14 days; readings sync every 15 min</a:t>
            </a:r>
            <a:endParaRPr lang="en-US" sz="1300" dirty="0"/>
          </a:p>
        </p:txBody>
      </p:sp>
      <p:sp>
        <p:nvSpPr>
          <p:cNvPr id="8" name="Shape 6"/>
          <p:cNvSpPr/>
          <p:nvPr/>
        </p:nvSpPr>
        <p:spPr>
          <a:xfrm>
            <a:off x="3593592" y="1417320"/>
            <a:ext cx="548640" cy="548640"/>
          </a:xfrm>
          <a:prstGeom prst="ellipse">
            <a:avLst/>
          </a:prstGeom>
          <a:solidFill>
            <a:srgbClr val="0D5F73"/>
          </a:solidFill>
          <a:ln w="12700">
            <a:solidFill>
              <a:srgbClr val="0D5F73"/>
            </a:solidFill>
            <a:prstDash val="solid"/>
          </a:ln>
        </p:spPr>
      </p:sp>
      <p:sp>
        <p:nvSpPr>
          <p:cNvPr id="9" name="Text 7"/>
          <p:cNvSpPr txBox="1"/>
          <p:nvPr/>
        </p:nvSpPr>
        <p:spPr>
          <a:xfrm>
            <a:off x="3593592" y="14173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0" name="Shape 8"/>
          <p:cNvSpPr/>
          <p:nvPr/>
        </p:nvSpPr>
        <p:spPr>
          <a:xfrm>
            <a:off x="4187952" y="1691640"/>
            <a:ext cx="1691640" cy="0"/>
          </a:xfrm>
          <a:prstGeom prst="line">
            <a:avLst/>
          </a:prstGeom>
          <a:noFill/>
          <a:ln w="19050">
            <a:solidFill>
              <a:srgbClr val="C5CFD4"/>
            </a:solidFill>
            <a:prstDash val="solid"/>
          </a:ln>
        </p:spPr>
      </p:sp>
      <p:sp>
        <p:nvSpPr>
          <p:cNvPr id="11" name="Text 9"/>
          <p:cNvSpPr txBox="1"/>
          <p:nvPr/>
        </p:nvSpPr>
        <p:spPr>
          <a:xfrm>
            <a:off x="2816352" y="2148840"/>
            <a:ext cx="2103120" cy="365760"/>
          </a:xfrm>
          <a:prstGeom prst="rect">
            <a:avLst/>
          </a:prstGeom>
          <a:noFill/>
          <a:ln/>
        </p:spPr>
        <p:txBody>
          <a:bodyPr wrap="square" lIns="0" tIns="0" rIns="0" bIns="0" rtlCol="0" anchor="t"/>
          <a:lstStyle/>
          <a:p>
            <a:pPr algn="ctr" indent="0" marL="0">
              <a:buNone/>
            </a:pPr>
            <a:r>
              <a:rPr lang="en-US" sz="1700" b="1" dirty="0">
                <a:solidFill>
                  <a:srgbClr val="15232A"/>
                </a:solidFill>
                <a:latin typeface="Calibri" pitchFamily="34" charset="0"/>
                <a:ea typeface="Calibri" pitchFamily="34" charset="-122"/>
                <a:cs typeface="Calibri" pitchFamily="34" charset="-120"/>
              </a:rPr>
              <a:t>Update</a:t>
            </a:r>
            <a:endParaRPr lang="en-US" sz="1700" dirty="0"/>
          </a:p>
        </p:txBody>
      </p:sp>
      <p:sp>
        <p:nvSpPr>
          <p:cNvPr id="12" name="Text 10"/>
          <p:cNvSpPr txBox="1"/>
          <p:nvPr/>
        </p:nvSpPr>
        <p:spPr>
          <a:xfrm>
            <a:off x="2862072" y="2560320"/>
            <a:ext cx="2011680" cy="1463040"/>
          </a:xfrm>
          <a:prstGeom prst="rect">
            <a:avLst/>
          </a:prstGeom>
          <a:noFill/>
          <a:ln/>
        </p:spPr>
        <p:txBody>
          <a:bodyPr wrap="square" lIns="0" tIns="0" rIns="0" bIns="0" rtlCol="0" anchor="t"/>
          <a:lstStyle/>
          <a:p>
            <a:pPr algn="ctr" indent="0" marL="0">
              <a:buNone/>
            </a:pPr>
            <a:r>
              <a:rPr lang="en-US" sz="1300" dirty="0">
                <a:solidFill>
                  <a:srgbClr val="56676F"/>
                </a:solidFill>
                <a:latin typeface="Calibri" pitchFamily="34" charset="0"/>
                <a:ea typeface="Calibri" pitchFamily="34" charset="-122"/>
                <a:cs typeface="Calibri" pitchFamily="34" charset="-120"/>
              </a:rPr>
              <a:t>The twin updates its state on every reading and logged meal or dose</a:t>
            </a:r>
            <a:endParaRPr lang="en-US" sz="1300" dirty="0"/>
          </a:p>
        </p:txBody>
      </p:sp>
      <p:sp>
        <p:nvSpPr>
          <p:cNvPr id="13" name="Shape 11"/>
          <p:cNvSpPr/>
          <p:nvPr/>
        </p:nvSpPr>
        <p:spPr>
          <a:xfrm>
            <a:off x="5861304" y="1417320"/>
            <a:ext cx="548640" cy="548640"/>
          </a:xfrm>
          <a:prstGeom prst="ellipse">
            <a:avLst/>
          </a:prstGeom>
          <a:solidFill>
            <a:srgbClr val="0D5F73"/>
          </a:solidFill>
          <a:ln w="12700">
            <a:solidFill>
              <a:srgbClr val="0D5F73"/>
            </a:solidFill>
            <a:prstDash val="solid"/>
          </a:ln>
        </p:spPr>
      </p:sp>
      <p:sp>
        <p:nvSpPr>
          <p:cNvPr id="14" name="Text 12"/>
          <p:cNvSpPr txBox="1"/>
          <p:nvPr/>
        </p:nvSpPr>
        <p:spPr>
          <a:xfrm>
            <a:off x="5861304" y="14173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5" name="Shape 13"/>
          <p:cNvSpPr/>
          <p:nvPr/>
        </p:nvSpPr>
        <p:spPr>
          <a:xfrm>
            <a:off x="6455664" y="1691640"/>
            <a:ext cx="1691640" cy="0"/>
          </a:xfrm>
          <a:prstGeom prst="line">
            <a:avLst/>
          </a:prstGeom>
          <a:noFill/>
          <a:ln w="19050">
            <a:solidFill>
              <a:srgbClr val="C5CFD4"/>
            </a:solidFill>
            <a:prstDash val="solid"/>
          </a:ln>
        </p:spPr>
      </p:sp>
      <p:sp>
        <p:nvSpPr>
          <p:cNvPr id="16" name="Text 14"/>
          <p:cNvSpPr txBox="1"/>
          <p:nvPr/>
        </p:nvSpPr>
        <p:spPr>
          <a:xfrm>
            <a:off x="5084064" y="2148840"/>
            <a:ext cx="2103120" cy="365760"/>
          </a:xfrm>
          <a:prstGeom prst="rect">
            <a:avLst/>
          </a:prstGeom>
          <a:noFill/>
          <a:ln/>
        </p:spPr>
        <p:txBody>
          <a:bodyPr wrap="square" lIns="0" tIns="0" rIns="0" bIns="0" rtlCol="0" anchor="t"/>
          <a:lstStyle/>
          <a:p>
            <a:pPr algn="ctr" indent="0" marL="0">
              <a:buNone/>
            </a:pPr>
            <a:r>
              <a:rPr lang="en-US" sz="1700" b="1" dirty="0">
                <a:solidFill>
                  <a:srgbClr val="15232A"/>
                </a:solidFill>
                <a:latin typeface="Calibri" pitchFamily="34" charset="0"/>
                <a:ea typeface="Calibri" pitchFamily="34" charset="-122"/>
                <a:cs typeface="Calibri" pitchFamily="34" charset="-120"/>
              </a:rPr>
              <a:t>Triage</a:t>
            </a:r>
            <a:endParaRPr lang="en-US" sz="1700" dirty="0"/>
          </a:p>
        </p:txBody>
      </p:sp>
      <p:sp>
        <p:nvSpPr>
          <p:cNvPr id="17" name="Text 15"/>
          <p:cNvSpPr txBox="1"/>
          <p:nvPr/>
        </p:nvSpPr>
        <p:spPr>
          <a:xfrm>
            <a:off x="5129784" y="2560320"/>
            <a:ext cx="2011680" cy="1463040"/>
          </a:xfrm>
          <a:prstGeom prst="rect">
            <a:avLst/>
          </a:prstGeom>
          <a:noFill/>
          <a:ln/>
        </p:spPr>
        <p:txBody>
          <a:bodyPr wrap="square" lIns="0" tIns="0" rIns="0" bIns="0" rtlCol="0" anchor="t"/>
          <a:lstStyle/>
          <a:p>
            <a:pPr algn="ctr" indent="0" marL="0">
              <a:buNone/>
            </a:pPr>
            <a:r>
              <a:rPr lang="en-US" sz="1300" dirty="0">
                <a:solidFill>
                  <a:srgbClr val="56676F"/>
                </a:solidFill>
                <a:latin typeface="Calibri" pitchFamily="34" charset="0"/>
                <a:ea typeface="Calibri" pitchFamily="34" charset="-122"/>
                <a:cs typeface="Calibri" pitchFamily="34" charset="-120"/>
              </a:rPr>
              <a:t>The worklist ranks patients: low now, predicted low, predicted &gt; 180 or &gt; 250</a:t>
            </a:r>
            <a:endParaRPr lang="en-US" sz="1300" dirty="0"/>
          </a:p>
        </p:txBody>
      </p:sp>
      <p:sp>
        <p:nvSpPr>
          <p:cNvPr id="18" name="Shape 16"/>
          <p:cNvSpPr/>
          <p:nvPr/>
        </p:nvSpPr>
        <p:spPr>
          <a:xfrm>
            <a:off x="8129016" y="1417320"/>
            <a:ext cx="548640" cy="548640"/>
          </a:xfrm>
          <a:prstGeom prst="ellipse">
            <a:avLst/>
          </a:prstGeom>
          <a:solidFill>
            <a:srgbClr val="0D5F73"/>
          </a:solidFill>
          <a:ln w="12700">
            <a:solidFill>
              <a:srgbClr val="0D5F73"/>
            </a:solidFill>
            <a:prstDash val="solid"/>
          </a:ln>
        </p:spPr>
      </p:sp>
      <p:sp>
        <p:nvSpPr>
          <p:cNvPr id="19" name="Text 17"/>
          <p:cNvSpPr txBox="1"/>
          <p:nvPr/>
        </p:nvSpPr>
        <p:spPr>
          <a:xfrm>
            <a:off x="8129016" y="14173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0" name="Shape 18"/>
          <p:cNvSpPr/>
          <p:nvPr/>
        </p:nvSpPr>
        <p:spPr>
          <a:xfrm>
            <a:off x="8723376" y="1691640"/>
            <a:ext cx="1691640" cy="0"/>
          </a:xfrm>
          <a:prstGeom prst="line">
            <a:avLst/>
          </a:prstGeom>
          <a:noFill/>
          <a:ln w="19050">
            <a:solidFill>
              <a:srgbClr val="C5CFD4"/>
            </a:solidFill>
            <a:prstDash val="solid"/>
          </a:ln>
        </p:spPr>
      </p:sp>
      <p:sp>
        <p:nvSpPr>
          <p:cNvPr id="21" name="Text 19"/>
          <p:cNvSpPr txBox="1"/>
          <p:nvPr/>
        </p:nvSpPr>
        <p:spPr>
          <a:xfrm>
            <a:off x="7351776" y="2148840"/>
            <a:ext cx="2103120" cy="365760"/>
          </a:xfrm>
          <a:prstGeom prst="rect">
            <a:avLst/>
          </a:prstGeom>
          <a:noFill/>
          <a:ln/>
        </p:spPr>
        <p:txBody>
          <a:bodyPr wrap="square" lIns="0" tIns="0" rIns="0" bIns="0" rtlCol="0" anchor="t"/>
          <a:lstStyle/>
          <a:p>
            <a:pPr algn="ctr" indent="0" marL="0">
              <a:buNone/>
            </a:pPr>
            <a:r>
              <a:rPr lang="en-US" sz="1700" b="1" dirty="0">
                <a:solidFill>
                  <a:srgbClr val="15232A"/>
                </a:solidFill>
                <a:latin typeface="Calibri" pitchFamily="34" charset="0"/>
                <a:ea typeface="Calibri" pitchFamily="34" charset="-122"/>
                <a:cs typeface="Calibri" pitchFamily="34" charset="-120"/>
              </a:rPr>
              <a:t>Act</a:t>
            </a:r>
            <a:endParaRPr lang="en-US" sz="1700" dirty="0"/>
          </a:p>
        </p:txBody>
      </p:sp>
      <p:sp>
        <p:nvSpPr>
          <p:cNvPr id="22" name="Text 20"/>
          <p:cNvSpPr txBox="1"/>
          <p:nvPr/>
        </p:nvSpPr>
        <p:spPr>
          <a:xfrm>
            <a:off x="7397496" y="2560320"/>
            <a:ext cx="2011680" cy="1463040"/>
          </a:xfrm>
          <a:prstGeom prst="rect">
            <a:avLst/>
          </a:prstGeom>
          <a:noFill/>
          <a:ln/>
        </p:spPr>
        <p:txBody>
          <a:bodyPr wrap="square" lIns="0" tIns="0" rIns="0" bIns="0" rtlCol="0" anchor="t"/>
          <a:lstStyle/>
          <a:p>
            <a:pPr algn="ctr" indent="0" marL="0">
              <a:buNone/>
            </a:pPr>
            <a:r>
              <a:rPr lang="en-US" sz="1300" dirty="0">
                <a:solidFill>
                  <a:srgbClr val="56676F"/>
                </a:solidFill>
                <a:latin typeface="Calibri" pitchFamily="34" charset="0"/>
                <a:ea typeface="Calibri" pitchFamily="34" charset="-122"/>
                <a:cs typeface="Calibri" pitchFamily="34" charset="-120"/>
              </a:rPr>
              <a:t>The educator reviews the forecast and its reasons, and calls the patient if needed</a:t>
            </a:r>
            <a:endParaRPr lang="en-US" sz="1300" dirty="0"/>
          </a:p>
        </p:txBody>
      </p:sp>
      <p:sp>
        <p:nvSpPr>
          <p:cNvPr id="23" name="Shape 21"/>
          <p:cNvSpPr/>
          <p:nvPr/>
        </p:nvSpPr>
        <p:spPr>
          <a:xfrm>
            <a:off x="10396728" y="1417320"/>
            <a:ext cx="548640" cy="548640"/>
          </a:xfrm>
          <a:prstGeom prst="ellipse">
            <a:avLst/>
          </a:prstGeom>
          <a:solidFill>
            <a:srgbClr val="0D5F73"/>
          </a:solidFill>
          <a:ln w="12700">
            <a:solidFill>
              <a:srgbClr val="0D5F73"/>
            </a:solidFill>
            <a:prstDash val="solid"/>
          </a:ln>
        </p:spPr>
      </p:sp>
      <p:sp>
        <p:nvSpPr>
          <p:cNvPr id="24" name="Text 22"/>
          <p:cNvSpPr txBox="1"/>
          <p:nvPr/>
        </p:nvSpPr>
        <p:spPr>
          <a:xfrm>
            <a:off x="10396728" y="14173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5" name="Text 23"/>
          <p:cNvSpPr txBox="1"/>
          <p:nvPr/>
        </p:nvSpPr>
        <p:spPr>
          <a:xfrm>
            <a:off x="9619488" y="2148840"/>
            <a:ext cx="2103120" cy="365760"/>
          </a:xfrm>
          <a:prstGeom prst="rect">
            <a:avLst/>
          </a:prstGeom>
          <a:noFill/>
          <a:ln/>
        </p:spPr>
        <p:txBody>
          <a:bodyPr wrap="square" lIns="0" tIns="0" rIns="0" bIns="0" rtlCol="0" anchor="t"/>
          <a:lstStyle/>
          <a:p>
            <a:pPr algn="ctr" indent="0" marL="0">
              <a:buNone/>
            </a:pPr>
            <a:r>
              <a:rPr lang="en-US" sz="1700" b="1" dirty="0">
                <a:solidFill>
                  <a:srgbClr val="15232A"/>
                </a:solidFill>
                <a:latin typeface="Calibri" pitchFamily="34" charset="0"/>
                <a:ea typeface="Calibri" pitchFamily="34" charset="-122"/>
                <a:cs typeface="Calibri" pitchFamily="34" charset="-120"/>
              </a:rPr>
              <a:t>Review</a:t>
            </a:r>
            <a:endParaRPr lang="en-US" sz="1700" dirty="0"/>
          </a:p>
        </p:txBody>
      </p:sp>
      <p:sp>
        <p:nvSpPr>
          <p:cNvPr id="26" name="Text 24"/>
          <p:cNvSpPr txBox="1"/>
          <p:nvPr/>
        </p:nvSpPr>
        <p:spPr>
          <a:xfrm>
            <a:off x="9665208" y="2560320"/>
            <a:ext cx="2011680" cy="1463040"/>
          </a:xfrm>
          <a:prstGeom prst="rect">
            <a:avLst/>
          </a:prstGeom>
          <a:noFill/>
          <a:ln/>
        </p:spPr>
        <p:txBody>
          <a:bodyPr wrap="square" lIns="0" tIns="0" rIns="0" bIns="0" rtlCol="0" anchor="t"/>
          <a:lstStyle/>
          <a:p>
            <a:pPr algn="ctr" indent="0" marL="0">
              <a:buNone/>
            </a:pPr>
            <a:r>
              <a:rPr lang="en-US" sz="1300" dirty="0">
                <a:solidFill>
                  <a:srgbClr val="56676F"/>
                </a:solidFill>
                <a:latin typeface="Calibri" pitchFamily="34" charset="0"/>
                <a:ea typeface="Calibri" pitchFamily="34" charset="-122"/>
                <a:cs typeface="Calibri" pitchFamily="34" charset="-120"/>
              </a:rPr>
              <a:t>At the visit, the doctor replays any moment: what the twin expected vs what happened</a:t>
            </a:r>
            <a:endParaRPr lang="en-US" sz="1300" dirty="0"/>
          </a:p>
        </p:txBody>
      </p:sp>
      <p:sp>
        <p:nvSpPr>
          <p:cNvPr id="27" name="Shape 25"/>
          <p:cNvSpPr/>
          <p:nvPr/>
        </p:nvSpPr>
        <p:spPr>
          <a:xfrm>
            <a:off x="548640" y="4343400"/>
            <a:ext cx="5394960" cy="1828800"/>
          </a:xfrm>
          <a:prstGeom prst="roundRect">
            <a:avLst>
              <a:gd name="adj" fmla="val 4000"/>
            </a:avLst>
          </a:prstGeom>
          <a:solidFill>
            <a:srgbClr val="F3F6F7"/>
          </a:solidFill>
          <a:ln w="12700">
            <a:solidFill>
              <a:srgbClr val="F3F6F7"/>
            </a:solidFill>
            <a:prstDash val="solid"/>
          </a:ln>
        </p:spPr>
      </p:sp>
      <p:sp>
        <p:nvSpPr>
          <p:cNvPr id="28" name="Text 26"/>
          <p:cNvSpPr txBox="1"/>
          <p:nvPr/>
        </p:nvSpPr>
        <p:spPr>
          <a:xfrm>
            <a:off x="749808" y="4507992"/>
            <a:ext cx="4992624" cy="365760"/>
          </a:xfrm>
          <a:prstGeom prst="rect">
            <a:avLst/>
          </a:prstGeom>
          <a:noFill/>
          <a:ln/>
        </p:spPr>
        <p:txBody>
          <a:bodyPr wrap="square" lIns="0" tIns="0" rIns="0" bIns="0" rtlCol="0" anchor="t"/>
          <a:lstStyle/>
          <a:p>
            <a:pPr indent="0" marL="0">
              <a:buNone/>
            </a:pPr>
            <a:r>
              <a:rPr lang="en-US" sz="1500" b="1" dirty="0">
                <a:solidFill>
                  <a:srgbClr val="0D5F73"/>
                </a:solidFill>
                <a:latin typeface="Calibri" pitchFamily="34" charset="0"/>
                <a:ea typeface="Calibri" pitchFamily="34" charset="-122"/>
                <a:cs typeface="Calibri" pitchFamily="34" charset="-120"/>
              </a:rPr>
              <a:t>Outputs</a:t>
            </a:r>
            <a:endParaRPr lang="en-US" sz="1500" dirty="0"/>
          </a:p>
        </p:txBody>
      </p:sp>
      <p:sp>
        <p:nvSpPr>
          <p:cNvPr id="29" name="Text 27"/>
          <p:cNvSpPr txBox="1"/>
          <p:nvPr/>
        </p:nvSpPr>
        <p:spPr>
          <a:xfrm>
            <a:off x="749808" y="4910328"/>
            <a:ext cx="4992624" cy="1143000"/>
          </a:xfrm>
          <a:prstGeom prst="rect">
            <a:avLst/>
          </a:prstGeom>
          <a:noFill/>
          <a:ln/>
        </p:spPr>
        <p:txBody>
          <a:bodyPr wrap="square" lIns="0" tIns="0" rIns="0" bIns="0" rtlCol="0" anchor="t"/>
          <a:lstStyle/>
          <a:p>
            <a:pPr indent="0" marL="0">
              <a:buNone/>
            </a:pPr>
            <a:r>
              <a:rPr lang="en-US" sz="1300" dirty="0">
                <a:solidFill>
                  <a:srgbClr val="15232A"/>
                </a:solidFill>
                <a:latin typeface="Calibri" pitchFamily="34" charset="0"/>
                <a:ea typeface="Calibri" pitchFamily="34" charset="-122"/>
                <a:cs typeface="Calibri" pitchFamily="34" charset="-120"/>
              </a:rPr>
              <a:t>Primary: glucose at +30 and +60 min with an 80% prediction interval (+120 min exploratory). Secondary: calibrated probability of crossing 180 or 250, or falling below 70 mg/dL within 60 min (≥ 2 consecutive readings).</a:t>
            </a:r>
            <a:endParaRPr lang="en-US" sz="1300" dirty="0"/>
          </a:p>
        </p:txBody>
      </p:sp>
      <p:sp>
        <p:nvSpPr>
          <p:cNvPr id="30" name="Shape 28"/>
          <p:cNvSpPr/>
          <p:nvPr/>
        </p:nvSpPr>
        <p:spPr>
          <a:xfrm>
            <a:off x="6217920" y="4343400"/>
            <a:ext cx="5394960" cy="1828800"/>
          </a:xfrm>
          <a:prstGeom prst="roundRect">
            <a:avLst>
              <a:gd name="adj" fmla="val 4000"/>
            </a:avLst>
          </a:prstGeom>
          <a:solidFill>
            <a:srgbClr val="F3F6F7"/>
          </a:solidFill>
          <a:ln w="12700">
            <a:solidFill>
              <a:srgbClr val="F3F6F7"/>
            </a:solidFill>
            <a:prstDash val="solid"/>
          </a:ln>
        </p:spPr>
      </p:sp>
      <p:sp>
        <p:nvSpPr>
          <p:cNvPr id="31" name="Text 29"/>
          <p:cNvSpPr txBox="1"/>
          <p:nvPr/>
        </p:nvSpPr>
        <p:spPr>
          <a:xfrm>
            <a:off x="6419088" y="4507992"/>
            <a:ext cx="4992624" cy="365760"/>
          </a:xfrm>
          <a:prstGeom prst="rect">
            <a:avLst/>
          </a:prstGeom>
          <a:noFill/>
          <a:ln/>
        </p:spPr>
        <p:txBody>
          <a:bodyPr wrap="square" lIns="0" tIns="0" rIns="0" bIns="0" rtlCol="0" anchor="t"/>
          <a:lstStyle/>
          <a:p>
            <a:pPr indent="0" marL="0">
              <a:buNone/>
            </a:pPr>
            <a:r>
              <a:rPr lang="en-US" sz="1500" b="1" dirty="0">
                <a:solidFill>
                  <a:srgbClr val="0D5F73"/>
                </a:solidFill>
                <a:latin typeface="Calibri" pitchFamily="34" charset="0"/>
                <a:ea typeface="Calibri" pitchFamily="34" charset="-122"/>
                <a:cs typeface="Calibri" pitchFamily="34" charset="-120"/>
              </a:rPr>
              <a:t>Boundaries</a:t>
            </a:r>
            <a:endParaRPr lang="en-US" sz="1500" dirty="0"/>
          </a:p>
        </p:txBody>
      </p:sp>
      <p:sp>
        <p:nvSpPr>
          <p:cNvPr id="32" name="Text 30"/>
          <p:cNvSpPr txBox="1"/>
          <p:nvPr/>
        </p:nvSpPr>
        <p:spPr>
          <a:xfrm>
            <a:off x="6419088" y="4910328"/>
            <a:ext cx="4992624" cy="1143000"/>
          </a:xfrm>
          <a:prstGeom prst="rect">
            <a:avLst/>
          </a:prstGeom>
          <a:noFill/>
          <a:ln/>
        </p:spPr>
        <p:txBody>
          <a:bodyPr wrap="square" lIns="0" tIns="0" rIns="0" bIns="0" rtlCol="0" anchor="t"/>
          <a:lstStyle/>
          <a:p>
            <a:pPr indent="0" marL="0">
              <a:buNone/>
            </a:pPr>
            <a:r>
              <a:rPr lang="en-US" sz="1300" dirty="0">
                <a:solidFill>
                  <a:srgbClr val="15232A"/>
                </a:solidFill>
                <a:latin typeface="Calibri" pitchFamily="34" charset="0"/>
                <a:ea typeface="Calibri" pitchFamily="34" charset="-122"/>
                <a:cs typeface="Calibri" pitchFamily="34" charset="-120"/>
              </a:rPr>
              <a:t>Clinicians make every decision. No dosing, diet or treatment advice. Whether triage improves outcomes is a hypothesis that needs a prospective study.</a:t>
            </a:r>
            <a:endParaRPr lang="en-US" sz="13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6676F"/>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rgbClr val="15232A"/>
                </a:solidFill>
                <a:latin typeface="Cambria" pitchFamily="34" charset="0"/>
                <a:ea typeface="Cambria" pitchFamily="34" charset="-122"/>
                <a:cs typeface="Cambria" pitchFamily="34" charset="-120"/>
              </a:rPr>
              <a:t>What makes it a twin: a state that updates on every reading</a:t>
            </a:r>
            <a:endParaRPr lang="en-US" sz="3000" dirty="0"/>
          </a:p>
        </p:txBody>
      </p:sp>
      <p:sp>
        <p:nvSpPr>
          <p:cNvPr id="3" name="Shape 1"/>
          <p:cNvSpPr/>
          <p:nvPr/>
        </p:nvSpPr>
        <p:spPr>
          <a:xfrm>
            <a:off x="548640" y="1325880"/>
            <a:ext cx="3538728" cy="1572768"/>
          </a:xfrm>
          <a:prstGeom prst="roundRect">
            <a:avLst>
              <a:gd name="adj" fmla="val 4651"/>
            </a:avLst>
          </a:prstGeom>
          <a:solidFill>
            <a:srgbClr val="F3F6F7"/>
          </a:solidFill>
          <a:ln w="12700">
            <a:solidFill>
              <a:srgbClr val="F3F6F7"/>
            </a:solidFill>
            <a:prstDash val="solid"/>
          </a:ln>
        </p:spPr>
      </p:sp>
      <p:sp>
        <p:nvSpPr>
          <p:cNvPr id="4" name="Text 2"/>
          <p:cNvSpPr txBox="1"/>
          <p:nvPr/>
        </p:nvSpPr>
        <p:spPr>
          <a:xfrm>
            <a:off x="749808" y="1490472"/>
            <a:ext cx="3136392" cy="365760"/>
          </a:xfrm>
          <a:prstGeom prst="rect">
            <a:avLst/>
          </a:prstGeom>
          <a:noFill/>
          <a:ln/>
        </p:spPr>
        <p:txBody>
          <a:bodyPr wrap="square" lIns="0" tIns="0" rIns="0" bIns="0" rtlCol="0" anchor="t"/>
          <a:lstStyle/>
          <a:p>
            <a:pPr indent="0" marL="0">
              <a:buNone/>
            </a:pPr>
            <a:r>
              <a:rPr lang="en-US" sz="1500" b="1" dirty="0">
                <a:solidFill>
                  <a:srgbClr val="0D5F73"/>
                </a:solidFill>
                <a:latin typeface="Calibri" pitchFamily="34" charset="0"/>
                <a:ea typeface="Calibri" pitchFamily="34" charset="-122"/>
                <a:cs typeface="Calibri" pitchFamily="34" charset="-120"/>
              </a:rPr>
              <a:t>Clinical context</a:t>
            </a:r>
            <a:endParaRPr lang="en-US" sz="1500" dirty="0"/>
          </a:p>
        </p:txBody>
      </p:sp>
      <p:sp>
        <p:nvSpPr>
          <p:cNvPr id="5" name="Text 3"/>
          <p:cNvSpPr txBox="1"/>
          <p:nvPr/>
        </p:nvSpPr>
        <p:spPr>
          <a:xfrm>
            <a:off x="749808" y="1892808"/>
            <a:ext cx="3136392" cy="886968"/>
          </a:xfrm>
          <a:prstGeom prst="rect">
            <a:avLst/>
          </a:prstGeom>
          <a:noFill/>
          <a:ln/>
        </p:spPr>
        <p:txBody>
          <a:bodyPr wrap="square" lIns="0" tIns="0" rIns="0" bIns="0" rtlCol="0" anchor="t"/>
          <a:lstStyle/>
          <a:p>
            <a:pPr indent="0" marL="0">
              <a:buNone/>
            </a:pPr>
            <a:r>
              <a:rPr lang="en-US" sz="1300" dirty="0">
                <a:solidFill>
                  <a:srgbClr val="15232A"/>
                </a:solidFill>
                <a:latin typeface="Calibri" pitchFamily="34" charset="0"/>
                <a:ea typeface="Calibri" pitchFamily="34" charset="-122"/>
                <a:cs typeface="Calibri" pitchFamily="34" charset="-120"/>
              </a:rPr>
              <a:t>Age, BMI, duration, HbA1c, C-peptide, eGFR, complications, drug classes (FHIR R4)</a:t>
            </a:r>
            <a:endParaRPr lang="en-US" sz="1300" dirty="0"/>
          </a:p>
        </p:txBody>
      </p:sp>
      <p:sp>
        <p:nvSpPr>
          <p:cNvPr id="6" name="Shape 4"/>
          <p:cNvSpPr/>
          <p:nvPr/>
        </p:nvSpPr>
        <p:spPr>
          <a:xfrm>
            <a:off x="2898648" y="1508760"/>
            <a:ext cx="987552" cy="292608"/>
          </a:xfrm>
          <a:prstGeom prst="roundRect">
            <a:avLst>
              <a:gd name="adj" fmla="val 50000"/>
            </a:avLst>
          </a:prstGeom>
          <a:solidFill>
            <a:srgbClr val="FFFFFF"/>
          </a:solidFill>
          <a:ln w="12700">
            <a:solidFill>
              <a:srgbClr val="2E8B57"/>
            </a:solidFill>
            <a:prstDash val="solid"/>
          </a:ln>
        </p:spPr>
      </p:sp>
      <p:sp>
        <p:nvSpPr>
          <p:cNvPr id="7" name="Text 5"/>
          <p:cNvSpPr txBox="1"/>
          <p:nvPr/>
        </p:nvSpPr>
        <p:spPr>
          <a:xfrm>
            <a:off x="2898648" y="1517904"/>
            <a:ext cx="987552" cy="274320"/>
          </a:xfrm>
          <a:prstGeom prst="rect">
            <a:avLst/>
          </a:prstGeom>
          <a:noFill/>
          <a:ln/>
        </p:spPr>
        <p:txBody>
          <a:bodyPr wrap="square" lIns="0" tIns="0" rIns="0" bIns="0" rtlCol="0" anchor="ctr"/>
          <a:lstStyle/>
          <a:p>
            <a:pPr algn="ctr" indent="0" marL="0">
              <a:buNone/>
            </a:pPr>
            <a:r>
              <a:rPr lang="en-US" sz="1050" dirty="0">
                <a:solidFill>
                  <a:srgbClr val="2E8B57"/>
                </a:solidFill>
                <a:latin typeface="Calibri" pitchFamily="34" charset="0"/>
                <a:ea typeface="Calibri" pitchFamily="34" charset="-122"/>
                <a:cs typeface="Calibri" pitchFamily="34" charset="-120"/>
              </a:rPr>
              <a:t>observed</a:t>
            </a:r>
            <a:endParaRPr lang="en-US" sz="1050" dirty="0"/>
          </a:p>
        </p:txBody>
      </p:sp>
      <p:sp>
        <p:nvSpPr>
          <p:cNvPr id="8" name="Shape 6"/>
          <p:cNvSpPr/>
          <p:nvPr/>
        </p:nvSpPr>
        <p:spPr>
          <a:xfrm>
            <a:off x="4270248" y="1325880"/>
            <a:ext cx="3538728" cy="1572768"/>
          </a:xfrm>
          <a:prstGeom prst="roundRect">
            <a:avLst>
              <a:gd name="adj" fmla="val 4651"/>
            </a:avLst>
          </a:prstGeom>
          <a:solidFill>
            <a:srgbClr val="F3F6F7"/>
          </a:solidFill>
          <a:ln w="12700">
            <a:solidFill>
              <a:srgbClr val="F3F6F7"/>
            </a:solidFill>
            <a:prstDash val="solid"/>
          </a:ln>
        </p:spPr>
      </p:sp>
      <p:sp>
        <p:nvSpPr>
          <p:cNvPr id="9" name="Text 7"/>
          <p:cNvSpPr txBox="1"/>
          <p:nvPr/>
        </p:nvSpPr>
        <p:spPr>
          <a:xfrm>
            <a:off x="4471416" y="1490472"/>
            <a:ext cx="3136392" cy="365760"/>
          </a:xfrm>
          <a:prstGeom prst="rect">
            <a:avLst/>
          </a:prstGeom>
          <a:noFill/>
          <a:ln/>
        </p:spPr>
        <p:txBody>
          <a:bodyPr wrap="square" lIns="0" tIns="0" rIns="0" bIns="0" rtlCol="0" anchor="t"/>
          <a:lstStyle/>
          <a:p>
            <a:pPr indent="0" marL="0">
              <a:buNone/>
            </a:pPr>
            <a:r>
              <a:rPr lang="en-US" sz="1500" b="1" dirty="0">
                <a:solidFill>
                  <a:srgbClr val="0D5F73"/>
                </a:solidFill>
                <a:latin typeface="Calibri" pitchFamily="34" charset="0"/>
                <a:ea typeface="Calibri" pitchFamily="34" charset="-122"/>
                <a:cs typeface="Calibri" pitchFamily="34" charset="-120"/>
              </a:rPr>
              <a:t>Glycaemic state</a:t>
            </a:r>
            <a:endParaRPr lang="en-US" sz="1500" dirty="0"/>
          </a:p>
        </p:txBody>
      </p:sp>
      <p:sp>
        <p:nvSpPr>
          <p:cNvPr id="10" name="Text 8"/>
          <p:cNvSpPr txBox="1"/>
          <p:nvPr/>
        </p:nvSpPr>
        <p:spPr>
          <a:xfrm>
            <a:off x="4471416" y="1892808"/>
            <a:ext cx="3136392" cy="886968"/>
          </a:xfrm>
          <a:prstGeom prst="rect">
            <a:avLst/>
          </a:prstGeom>
          <a:noFill/>
          <a:ln/>
        </p:spPr>
        <p:txBody>
          <a:bodyPr wrap="square" lIns="0" tIns="0" rIns="0" bIns="0" rtlCol="0" anchor="t"/>
          <a:lstStyle/>
          <a:p>
            <a:pPr indent="0" marL="0">
              <a:buNone/>
            </a:pPr>
            <a:r>
              <a:rPr lang="en-US" sz="1300" dirty="0">
                <a:solidFill>
                  <a:srgbClr val="15232A"/>
                </a:solidFill>
                <a:latin typeface="Calibri" pitchFamily="34" charset="0"/>
                <a:ea typeface="Calibri" pitchFamily="34" charset="-122"/>
                <a:cs typeface="Calibri" pitchFamily="34" charset="-120"/>
              </a:rPr>
              <a:t>Kalman level, rate of change and their uncertainty; grows during sensor gaps</a:t>
            </a:r>
            <a:endParaRPr lang="en-US" sz="1300" dirty="0"/>
          </a:p>
        </p:txBody>
      </p:sp>
      <p:sp>
        <p:nvSpPr>
          <p:cNvPr id="11" name="Shape 9"/>
          <p:cNvSpPr/>
          <p:nvPr/>
        </p:nvSpPr>
        <p:spPr>
          <a:xfrm>
            <a:off x="6620256" y="1508760"/>
            <a:ext cx="1065276" cy="292608"/>
          </a:xfrm>
          <a:prstGeom prst="roundRect">
            <a:avLst>
              <a:gd name="adj" fmla="val 50000"/>
            </a:avLst>
          </a:prstGeom>
          <a:solidFill>
            <a:srgbClr val="FFFFFF"/>
          </a:solidFill>
          <a:ln w="12700">
            <a:solidFill>
              <a:srgbClr val="0D5F73"/>
            </a:solidFill>
            <a:prstDash val="solid"/>
          </a:ln>
        </p:spPr>
      </p:sp>
      <p:sp>
        <p:nvSpPr>
          <p:cNvPr id="12" name="Text 10"/>
          <p:cNvSpPr txBox="1"/>
          <p:nvPr/>
        </p:nvSpPr>
        <p:spPr>
          <a:xfrm>
            <a:off x="6620256" y="1517904"/>
            <a:ext cx="1065276" cy="274320"/>
          </a:xfrm>
          <a:prstGeom prst="rect">
            <a:avLst/>
          </a:prstGeom>
          <a:noFill/>
          <a:ln/>
        </p:spPr>
        <p:txBody>
          <a:bodyPr wrap="square" lIns="0" tIns="0" rIns="0" bIns="0" rtlCol="0" anchor="ctr"/>
          <a:lstStyle/>
          <a:p>
            <a:pPr algn="ctr" indent="0" marL="0">
              <a:buNone/>
            </a:pPr>
            <a:r>
              <a:rPr lang="en-US" sz="1050" dirty="0">
                <a:solidFill>
                  <a:srgbClr val="0D5F73"/>
                </a:solidFill>
                <a:latin typeface="Calibri" pitchFamily="34" charset="0"/>
                <a:ea typeface="Calibri" pitchFamily="34" charset="-122"/>
                <a:cs typeface="Calibri" pitchFamily="34" charset="-120"/>
              </a:rPr>
              <a:t>estimated</a:t>
            </a:r>
            <a:endParaRPr lang="en-US" sz="1050" dirty="0"/>
          </a:p>
        </p:txBody>
      </p:sp>
      <p:sp>
        <p:nvSpPr>
          <p:cNvPr id="13" name="Shape 11"/>
          <p:cNvSpPr/>
          <p:nvPr/>
        </p:nvSpPr>
        <p:spPr>
          <a:xfrm>
            <a:off x="7991856" y="1325880"/>
            <a:ext cx="3538728" cy="1572768"/>
          </a:xfrm>
          <a:prstGeom prst="roundRect">
            <a:avLst>
              <a:gd name="adj" fmla="val 4651"/>
            </a:avLst>
          </a:prstGeom>
          <a:solidFill>
            <a:srgbClr val="F3F6F7"/>
          </a:solidFill>
          <a:ln w="12700">
            <a:solidFill>
              <a:srgbClr val="F3F6F7"/>
            </a:solidFill>
            <a:prstDash val="solid"/>
          </a:ln>
        </p:spPr>
      </p:sp>
      <p:sp>
        <p:nvSpPr>
          <p:cNvPr id="14" name="Text 12"/>
          <p:cNvSpPr txBox="1"/>
          <p:nvPr/>
        </p:nvSpPr>
        <p:spPr>
          <a:xfrm>
            <a:off x="8193024" y="1490472"/>
            <a:ext cx="3136392" cy="365760"/>
          </a:xfrm>
          <a:prstGeom prst="rect">
            <a:avLst/>
          </a:prstGeom>
          <a:noFill/>
          <a:ln/>
        </p:spPr>
        <p:txBody>
          <a:bodyPr wrap="square" lIns="0" tIns="0" rIns="0" bIns="0" rtlCol="0" anchor="t"/>
          <a:lstStyle/>
          <a:p>
            <a:pPr indent="0" marL="0">
              <a:buNone/>
            </a:pPr>
            <a:r>
              <a:rPr lang="en-US" sz="1500" b="1" dirty="0">
                <a:solidFill>
                  <a:srgbClr val="0D5F73"/>
                </a:solidFill>
                <a:latin typeface="Calibri" pitchFamily="34" charset="0"/>
                <a:ea typeface="Calibri" pitchFamily="34" charset="-122"/>
                <a:cs typeface="Calibri" pitchFamily="34" charset="-120"/>
              </a:rPr>
              <a:t>Event context</a:t>
            </a:r>
            <a:endParaRPr lang="en-US" sz="1500" dirty="0"/>
          </a:p>
        </p:txBody>
      </p:sp>
      <p:sp>
        <p:nvSpPr>
          <p:cNvPr id="15" name="Text 13"/>
          <p:cNvSpPr txBox="1"/>
          <p:nvPr/>
        </p:nvSpPr>
        <p:spPr>
          <a:xfrm>
            <a:off x="8193024" y="1892808"/>
            <a:ext cx="3136392" cy="886968"/>
          </a:xfrm>
          <a:prstGeom prst="rect">
            <a:avLst/>
          </a:prstGeom>
          <a:noFill/>
          <a:ln/>
        </p:spPr>
        <p:txBody>
          <a:bodyPr wrap="square" lIns="0" tIns="0" rIns="0" bIns="0" rtlCol="0" anchor="t"/>
          <a:lstStyle/>
          <a:p>
            <a:pPr indent="0" marL="0">
              <a:buNone/>
            </a:pPr>
            <a:r>
              <a:rPr lang="en-US" sz="1300" dirty="0">
                <a:solidFill>
                  <a:srgbClr val="15232A"/>
                </a:solidFill>
                <a:latin typeface="Calibri" pitchFamily="34" charset="0"/>
                <a:ea typeface="Calibri" pitchFamily="34" charset="-122"/>
                <a:cs typeface="Calibri" pitchFamily="34" charset="-120"/>
              </a:rPr>
              <a:t>Time since meals and fast insulin, insulin on board, oral agents, pump rate</a:t>
            </a:r>
            <a:endParaRPr lang="en-US" sz="1300" dirty="0"/>
          </a:p>
        </p:txBody>
      </p:sp>
      <p:sp>
        <p:nvSpPr>
          <p:cNvPr id="16" name="Shape 14"/>
          <p:cNvSpPr/>
          <p:nvPr/>
        </p:nvSpPr>
        <p:spPr>
          <a:xfrm>
            <a:off x="10341864" y="1508760"/>
            <a:ext cx="987552" cy="292608"/>
          </a:xfrm>
          <a:prstGeom prst="roundRect">
            <a:avLst>
              <a:gd name="adj" fmla="val 50000"/>
            </a:avLst>
          </a:prstGeom>
          <a:solidFill>
            <a:srgbClr val="FFFFFF"/>
          </a:solidFill>
          <a:ln w="12700">
            <a:solidFill>
              <a:srgbClr val="2E8B57"/>
            </a:solidFill>
            <a:prstDash val="solid"/>
          </a:ln>
        </p:spPr>
      </p:sp>
      <p:sp>
        <p:nvSpPr>
          <p:cNvPr id="17" name="Text 15"/>
          <p:cNvSpPr txBox="1"/>
          <p:nvPr/>
        </p:nvSpPr>
        <p:spPr>
          <a:xfrm>
            <a:off x="10341864" y="1517904"/>
            <a:ext cx="987552" cy="274320"/>
          </a:xfrm>
          <a:prstGeom prst="rect">
            <a:avLst/>
          </a:prstGeom>
          <a:noFill/>
          <a:ln/>
        </p:spPr>
        <p:txBody>
          <a:bodyPr wrap="square" lIns="0" tIns="0" rIns="0" bIns="0" rtlCol="0" anchor="ctr"/>
          <a:lstStyle/>
          <a:p>
            <a:pPr algn="ctr" indent="0" marL="0">
              <a:buNone/>
            </a:pPr>
            <a:r>
              <a:rPr lang="en-US" sz="1050" dirty="0">
                <a:solidFill>
                  <a:srgbClr val="2E8B57"/>
                </a:solidFill>
                <a:latin typeface="Calibri" pitchFamily="34" charset="0"/>
                <a:ea typeface="Calibri" pitchFamily="34" charset="-122"/>
                <a:cs typeface="Calibri" pitchFamily="34" charset="-120"/>
              </a:rPr>
              <a:t>observed</a:t>
            </a:r>
            <a:endParaRPr lang="en-US" sz="1050" dirty="0"/>
          </a:p>
        </p:txBody>
      </p:sp>
      <p:sp>
        <p:nvSpPr>
          <p:cNvPr id="18" name="Shape 16"/>
          <p:cNvSpPr/>
          <p:nvPr/>
        </p:nvSpPr>
        <p:spPr>
          <a:xfrm>
            <a:off x="548640" y="3063240"/>
            <a:ext cx="3538728" cy="1572768"/>
          </a:xfrm>
          <a:prstGeom prst="roundRect">
            <a:avLst>
              <a:gd name="adj" fmla="val 4651"/>
            </a:avLst>
          </a:prstGeom>
          <a:solidFill>
            <a:srgbClr val="F3F6F7"/>
          </a:solidFill>
          <a:ln w="12700">
            <a:solidFill>
              <a:srgbClr val="F3F6F7"/>
            </a:solidFill>
            <a:prstDash val="solid"/>
          </a:ln>
        </p:spPr>
      </p:sp>
      <p:sp>
        <p:nvSpPr>
          <p:cNvPr id="19" name="Text 17"/>
          <p:cNvSpPr txBox="1"/>
          <p:nvPr/>
        </p:nvSpPr>
        <p:spPr>
          <a:xfrm>
            <a:off x="749808" y="3227832"/>
            <a:ext cx="3136392" cy="365760"/>
          </a:xfrm>
          <a:prstGeom prst="rect">
            <a:avLst/>
          </a:prstGeom>
          <a:noFill/>
          <a:ln/>
        </p:spPr>
        <p:txBody>
          <a:bodyPr wrap="square" lIns="0" tIns="0" rIns="0" bIns="0" rtlCol="0" anchor="t"/>
          <a:lstStyle/>
          <a:p>
            <a:pPr indent="0" marL="0">
              <a:buNone/>
            </a:pPr>
            <a:r>
              <a:rPr lang="en-US" sz="1500" b="1" dirty="0">
                <a:solidFill>
                  <a:srgbClr val="0D5F73"/>
                </a:solidFill>
                <a:latin typeface="Calibri" pitchFamily="34" charset="0"/>
                <a:ea typeface="Calibri" pitchFamily="34" charset="-122"/>
                <a:cs typeface="Calibri" pitchFamily="34" charset="-120"/>
              </a:rPr>
              <a:t>Personal profile</a:t>
            </a:r>
            <a:endParaRPr lang="en-US" sz="1500" dirty="0"/>
          </a:p>
        </p:txBody>
      </p:sp>
      <p:sp>
        <p:nvSpPr>
          <p:cNvPr id="20" name="Text 18"/>
          <p:cNvSpPr txBox="1"/>
          <p:nvPr/>
        </p:nvSpPr>
        <p:spPr>
          <a:xfrm>
            <a:off x="749808" y="3630168"/>
            <a:ext cx="3136392" cy="886968"/>
          </a:xfrm>
          <a:prstGeom prst="rect">
            <a:avLst/>
          </a:prstGeom>
          <a:noFill/>
          <a:ln/>
        </p:spPr>
        <p:txBody>
          <a:bodyPr wrap="square" lIns="0" tIns="0" rIns="0" bIns="0" rtlCol="0" anchor="t"/>
          <a:lstStyle/>
          <a:p>
            <a:pPr indent="0" marL="0">
              <a:buNone/>
            </a:pPr>
            <a:r>
              <a:rPr lang="en-US" sz="1300" dirty="0">
                <a:solidFill>
                  <a:srgbClr val="15232A"/>
                </a:solidFill>
                <a:latin typeface="Calibri" pitchFamily="34" charset="0"/>
                <a:ea typeface="Calibri" pitchFamily="34" charset="-122"/>
                <a:cs typeface="Calibri" pitchFamily="34" charset="-120"/>
              </a:rPr>
              <a:t>Time in range so far; what this person's glucose usually does at this hour</a:t>
            </a:r>
            <a:endParaRPr lang="en-US" sz="1300" dirty="0"/>
          </a:p>
        </p:txBody>
      </p:sp>
      <p:sp>
        <p:nvSpPr>
          <p:cNvPr id="21" name="Shape 19"/>
          <p:cNvSpPr/>
          <p:nvPr/>
        </p:nvSpPr>
        <p:spPr>
          <a:xfrm>
            <a:off x="2898648" y="3246120"/>
            <a:ext cx="1065276" cy="292608"/>
          </a:xfrm>
          <a:prstGeom prst="roundRect">
            <a:avLst>
              <a:gd name="adj" fmla="val 50000"/>
            </a:avLst>
          </a:prstGeom>
          <a:solidFill>
            <a:srgbClr val="FFFFFF"/>
          </a:solidFill>
          <a:ln w="12700">
            <a:solidFill>
              <a:srgbClr val="0D5F73"/>
            </a:solidFill>
            <a:prstDash val="solid"/>
          </a:ln>
        </p:spPr>
      </p:sp>
      <p:sp>
        <p:nvSpPr>
          <p:cNvPr id="22" name="Text 20"/>
          <p:cNvSpPr txBox="1"/>
          <p:nvPr/>
        </p:nvSpPr>
        <p:spPr>
          <a:xfrm>
            <a:off x="2898648" y="3255264"/>
            <a:ext cx="1065276" cy="274320"/>
          </a:xfrm>
          <a:prstGeom prst="rect">
            <a:avLst/>
          </a:prstGeom>
          <a:noFill/>
          <a:ln/>
        </p:spPr>
        <p:txBody>
          <a:bodyPr wrap="square" lIns="0" tIns="0" rIns="0" bIns="0" rtlCol="0" anchor="ctr"/>
          <a:lstStyle/>
          <a:p>
            <a:pPr algn="ctr" indent="0" marL="0">
              <a:buNone/>
            </a:pPr>
            <a:r>
              <a:rPr lang="en-US" sz="1050" dirty="0">
                <a:solidFill>
                  <a:srgbClr val="0D5F73"/>
                </a:solidFill>
                <a:latin typeface="Calibri" pitchFamily="34" charset="0"/>
                <a:ea typeface="Calibri" pitchFamily="34" charset="-122"/>
                <a:cs typeface="Calibri" pitchFamily="34" charset="-120"/>
              </a:rPr>
              <a:t>estimated</a:t>
            </a:r>
            <a:endParaRPr lang="en-US" sz="1050" dirty="0"/>
          </a:p>
        </p:txBody>
      </p:sp>
      <p:sp>
        <p:nvSpPr>
          <p:cNvPr id="23" name="Shape 21"/>
          <p:cNvSpPr/>
          <p:nvPr/>
        </p:nvSpPr>
        <p:spPr>
          <a:xfrm>
            <a:off x="4270248" y="3063240"/>
            <a:ext cx="3538728" cy="1572768"/>
          </a:xfrm>
          <a:prstGeom prst="roundRect">
            <a:avLst>
              <a:gd name="adj" fmla="val 4651"/>
            </a:avLst>
          </a:prstGeom>
          <a:solidFill>
            <a:srgbClr val="F3F6F7"/>
          </a:solidFill>
          <a:ln w="12700">
            <a:solidFill>
              <a:srgbClr val="F3F6F7"/>
            </a:solidFill>
            <a:prstDash val="solid"/>
          </a:ln>
        </p:spPr>
      </p:sp>
      <p:sp>
        <p:nvSpPr>
          <p:cNvPr id="24" name="Text 22"/>
          <p:cNvSpPr txBox="1"/>
          <p:nvPr/>
        </p:nvSpPr>
        <p:spPr>
          <a:xfrm>
            <a:off x="4471416" y="3227832"/>
            <a:ext cx="3136392" cy="365760"/>
          </a:xfrm>
          <a:prstGeom prst="rect">
            <a:avLst/>
          </a:prstGeom>
          <a:noFill/>
          <a:ln/>
        </p:spPr>
        <p:txBody>
          <a:bodyPr wrap="square" lIns="0" tIns="0" rIns="0" bIns="0" rtlCol="0" anchor="t"/>
          <a:lstStyle/>
          <a:p>
            <a:pPr indent="0" marL="0">
              <a:buNone/>
            </a:pPr>
            <a:r>
              <a:rPr lang="en-US" sz="1500" b="1" dirty="0">
                <a:solidFill>
                  <a:srgbClr val="0D5F73"/>
                </a:solidFill>
                <a:latin typeface="Calibri" pitchFamily="34" charset="0"/>
                <a:ea typeface="Calibri" pitchFamily="34" charset="-122"/>
                <a:cs typeface="Calibri" pitchFamily="34" charset="-120"/>
              </a:rPr>
              <a:t>Model trust</a:t>
            </a:r>
            <a:endParaRPr lang="en-US" sz="1500" dirty="0"/>
          </a:p>
        </p:txBody>
      </p:sp>
      <p:sp>
        <p:nvSpPr>
          <p:cNvPr id="25" name="Text 23"/>
          <p:cNvSpPr txBox="1"/>
          <p:nvPr/>
        </p:nvSpPr>
        <p:spPr>
          <a:xfrm>
            <a:off x="4471416" y="3630168"/>
            <a:ext cx="3136392" cy="886968"/>
          </a:xfrm>
          <a:prstGeom prst="rect">
            <a:avLst/>
          </a:prstGeom>
          <a:noFill/>
          <a:ln/>
        </p:spPr>
        <p:txBody>
          <a:bodyPr wrap="square" lIns="0" tIns="0" rIns="0" bIns="0" rtlCol="0" anchor="t"/>
          <a:lstStyle/>
          <a:p>
            <a:pPr indent="0" marL="0">
              <a:buNone/>
            </a:pPr>
            <a:r>
              <a:rPr lang="en-US" sz="1300" dirty="0">
                <a:solidFill>
                  <a:srgbClr val="15232A"/>
                </a:solidFill>
                <a:latin typeface="Calibri" pitchFamily="34" charset="0"/>
                <a:ea typeface="Calibri" pitchFamily="34" charset="-122"/>
                <a:cs typeface="Calibri" pitchFamily="34" charset="-120"/>
              </a:rPr>
              <a:t>Running mean of this patient's own resolved forecast errors</a:t>
            </a:r>
            <a:endParaRPr lang="en-US" sz="1300" dirty="0"/>
          </a:p>
        </p:txBody>
      </p:sp>
      <p:sp>
        <p:nvSpPr>
          <p:cNvPr id="26" name="Shape 24"/>
          <p:cNvSpPr/>
          <p:nvPr/>
        </p:nvSpPr>
        <p:spPr>
          <a:xfrm>
            <a:off x="6620256" y="3246120"/>
            <a:ext cx="1065276" cy="292608"/>
          </a:xfrm>
          <a:prstGeom prst="roundRect">
            <a:avLst>
              <a:gd name="adj" fmla="val 50000"/>
            </a:avLst>
          </a:prstGeom>
          <a:solidFill>
            <a:srgbClr val="FFFFFF"/>
          </a:solidFill>
          <a:ln w="12700">
            <a:solidFill>
              <a:srgbClr val="0D5F73"/>
            </a:solidFill>
            <a:prstDash val="solid"/>
          </a:ln>
        </p:spPr>
      </p:sp>
      <p:sp>
        <p:nvSpPr>
          <p:cNvPr id="27" name="Text 25"/>
          <p:cNvSpPr txBox="1"/>
          <p:nvPr/>
        </p:nvSpPr>
        <p:spPr>
          <a:xfrm>
            <a:off x="6620256" y="3255264"/>
            <a:ext cx="1065276" cy="274320"/>
          </a:xfrm>
          <a:prstGeom prst="rect">
            <a:avLst/>
          </a:prstGeom>
          <a:noFill/>
          <a:ln/>
        </p:spPr>
        <p:txBody>
          <a:bodyPr wrap="square" lIns="0" tIns="0" rIns="0" bIns="0" rtlCol="0" anchor="ctr"/>
          <a:lstStyle/>
          <a:p>
            <a:pPr algn="ctr" indent="0" marL="0">
              <a:buNone/>
            </a:pPr>
            <a:r>
              <a:rPr lang="en-US" sz="1050" dirty="0">
                <a:solidFill>
                  <a:srgbClr val="0D5F73"/>
                </a:solidFill>
                <a:latin typeface="Calibri" pitchFamily="34" charset="0"/>
                <a:ea typeface="Calibri" pitchFamily="34" charset="-122"/>
                <a:cs typeface="Calibri" pitchFamily="34" charset="-120"/>
              </a:rPr>
              <a:t>estimated</a:t>
            </a:r>
            <a:endParaRPr lang="en-US" sz="1050" dirty="0"/>
          </a:p>
        </p:txBody>
      </p:sp>
      <p:sp>
        <p:nvSpPr>
          <p:cNvPr id="28" name="Shape 26"/>
          <p:cNvSpPr/>
          <p:nvPr/>
        </p:nvSpPr>
        <p:spPr>
          <a:xfrm>
            <a:off x="7991856" y="3063240"/>
            <a:ext cx="3538728" cy="1572768"/>
          </a:xfrm>
          <a:prstGeom prst="roundRect">
            <a:avLst>
              <a:gd name="adj" fmla="val 4651"/>
            </a:avLst>
          </a:prstGeom>
          <a:solidFill>
            <a:srgbClr val="F3F6F7"/>
          </a:solidFill>
          <a:ln w="12700">
            <a:solidFill>
              <a:srgbClr val="F3F6F7"/>
            </a:solidFill>
            <a:prstDash val="solid"/>
          </a:ln>
        </p:spPr>
      </p:sp>
      <p:sp>
        <p:nvSpPr>
          <p:cNvPr id="29" name="Text 27"/>
          <p:cNvSpPr txBox="1"/>
          <p:nvPr/>
        </p:nvSpPr>
        <p:spPr>
          <a:xfrm>
            <a:off x="8193024" y="3227832"/>
            <a:ext cx="3136392" cy="365760"/>
          </a:xfrm>
          <a:prstGeom prst="rect">
            <a:avLst/>
          </a:prstGeom>
          <a:noFill/>
          <a:ln/>
        </p:spPr>
        <p:txBody>
          <a:bodyPr wrap="square" lIns="0" tIns="0" rIns="0" bIns="0" rtlCol="0" anchor="t"/>
          <a:lstStyle/>
          <a:p>
            <a:pPr indent="0" marL="0">
              <a:buNone/>
            </a:pPr>
            <a:r>
              <a:rPr lang="en-US" sz="1500" b="1" dirty="0">
                <a:solidFill>
                  <a:srgbClr val="0D5F73"/>
                </a:solidFill>
                <a:latin typeface="Calibri" pitchFamily="34" charset="0"/>
                <a:ea typeface="Calibri" pitchFamily="34" charset="-122"/>
                <a:cs typeface="Calibri" pitchFamily="34" charset="-120"/>
              </a:rPr>
              <a:t>Data quality</a:t>
            </a:r>
            <a:endParaRPr lang="en-US" sz="1500" dirty="0"/>
          </a:p>
        </p:txBody>
      </p:sp>
      <p:sp>
        <p:nvSpPr>
          <p:cNvPr id="30" name="Text 28"/>
          <p:cNvSpPr txBox="1"/>
          <p:nvPr/>
        </p:nvSpPr>
        <p:spPr>
          <a:xfrm>
            <a:off x="8193024" y="3630168"/>
            <a:ext cx="3136392" cy="886968"/>
          </a:xfrm>
          <a:prstGeom prst="rect">
            <a:avLst/>
          </a:prstGeom>
          <a:noFill/>
          <a:ln/>
        </p:spPr>
        <p:txBody>
          <a:bodyPr wrap="square" lIns="0" tIns="0" rIns="0" bIns="0" rtlCol="0" anchor="t"/>
          <a:lstStyle/>
          <a:p>
            <a:pPr indent="0" marL="0">
              <a:buNone/>
            </a:pPr>
            <a:r>
              <a:rPr lang="en-US" sz="1300" dirty="0">
                <a:solidFill>
                  <a:srgbClr val="15232A"/>
                </a:solidFill>
                <a:latin typeface="Calibri" pitchFamily="34" charset="0"/>
                <a:ea typeface="Calibri" pitchFamily="34" charset="-122"/>
                <a:cs typeface="Calibri" pitchFamily="34" charset="-120"/>
              </a:rPr>
              <a:t>Readings in the last 3 h, age of last reading: abstain instead of guessing</a:t>
            </a:r>
            <a:endParaRPr lang="en-US" sz="1300" dirty="0"/>
          </a:p>
        </p:txBody>
      </p:sp>
      <p:sp>
        <p:nvSpPr>
          <p:cNvPr id="31" name="Shape 29"/>
          <p:cNvSpPr/>
          <p:nvPr/>
        </p:nvSpPr>
        <p:spPr>
          <a:xfrm>
            <a:off x="10341864" y="3246120"/>
            <a:ext cx="987552" cy="292608"/>
          </a:xfrm>
          <a:prstGeom prst="roundRect">
            <a:avLst>
              <a:gd name="adj" fmla="val 50000"/>
            </a:avLst>
          </a:prstGeom>
          <a:solidFill>
            <a:srgbClr val="FFFFFF"/>
          </a:solidFill>
          <a:ln w="12700">
            <a:solidFill>
              <a:srgbClr val="2E8B57"/>
            </a:solidFill>
            <a:prstDash val="solid"/>
          </a:ln>
        </p:spPr>
      </p:sp>
      <p:sp>
        <p:nvSpPr>
          <p:cNvPr id="32" name="Text 30"/>
          <p:cNvSpPr txBox="1"/>
          <p:nvPr/>
        </p:nvSpPr>
        <p:spPr>
          <a:xfrm>
            <a:off x="10341864" y="3255264"/>
            <a:ext cx="987552" cy="274320"/>
          </a:xfrm>
          <a:prstGeom prst="rect">
            <a:avLst/>
          </a:prstGeom>
          <a:noFill/>
          <a:ln/>
        </p:spPr>
        <p:txBody>
          <a:bodyPr wrap="square" lIns="0" tIns="0" rIns="0" bIns="0" rtlCol="0" anchor="ctr"/>
          <a:lstStyle/>
          <a:p>
            <a:pPr algn="ctr" indent="0" marL="0">
              <a:buNone/>
            </a:pPr>
            <a:r>
              <a:rPr lang="en-US" sz="1050" dirty="0">
                <a:solidFill>
                  <a:srgbClr val="2E8B57"/>
                </a:solidFill>
                <a:latin typeface="Calibri" pitchFamily="34" charset="0"/>
                <a:ea typeface="Calibri" pitchFamily="34" charset="-122"/>
                <a:cs typeface="Calibri" pitchFamily="34" charset="-120"/>
              </a:rPr>
              <a:t>observed</a:t>
            </a:r>
            <a:endParaRPr lang="en-US" sz="1050" dirty="0"/>
          </a:p>
        </p:txBody>
      </p:sp>
      <p:sp>
        <p:nvSpPr>
          <p:cNvPr id="33" name="Text 31"/>
          <p:cNvSpPr txBox="1"/>
          <p:nvPr/>
        </p:nvSpPr>
        <p:spPr>
          <a:xfrm>
            <a:off x="548640" y="4983480"/>
            <a:ext cx="11064240" cy="1097280"/>
          </a:xfrm>
          <a:prstGeom prst="rect">
            <a:avLst/>
          </a:prstGeom>
          <a:noFill/>
          <a:ln/>
        </p:spPr>
        <p:txBody>
          <a:bodyPr wrap="square" lIns="0" tIns="0" rIns="0" bIns="0" rtlCol="0" anchor="t"/>
          <a:lstStyle/>
          <a:p>
            <a:pPr indent="0" marL="0">
              <a:buNone/>
            </a:pPr>
            <a:r>
              <a:rPr lang="en-US" sz="1500" b="1" dirty="0">
                <a:solidFill>
                  <a:srgbClr val="0D5F73"/>
                </a:solidFill>
                <a:latin typeface="Calibri" pitchFamily="34" charset="0"/>
                <a:ea typeface="Calibri" pitchFamily="34" charset="-122"/>
                <a:cs typeface="Calibri" pitchFamily="34" charset="-120"/>
              </a:rPr>
              <a:t>Update loop on each reading: </a:t>
            </a:r>
            <a:pPr indent="0" marL="0">
              <a:buNone/>
            </a:pPr>
            <a:r>
              <a:rPr lang="en-US" sz="1500" dirty="0">
                <a:solidFill>
                  <a:srgbClr val="15232A"/>
                </a:solidFill>
                <a:latin typeface="Calibri" pitchFamily="34" charset="0"/>
                <a:ea typeface="Calibri" pitchFamily="34" charset="-122"/>
                <a:cs typeface="Calibri" pitchFamily="34" charset="-120"/>
              </a:rPr>
              <a:t>validate → Kalman update → resolve forecasts whose time has come → rebuild features from the past only → forecast + interval + risk → write to ledger → re-rank worklist. The streaming twin and the evaluated replay give identical outputs (parity test).</a:t>
            </a:r>
            <a:endParaRPr lang="en-US" sz="15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6676F"/>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rgbClr val="15232A"/>
                </a:solidFill>
                <a:latin typeface="Cambria" pitchFamily="34" charset="0"/>
                <a:ea typeface="Cambria" pitchFamily="34" charset="-122"/>
                <a:cs typeface="Cambria" pitchFamily="34" charset="-120"/>
              </a:rPr>
              <a:t>Architecture (as built)</a:t>
            </a:r>
            <a:endParaRPr lang="en-US" sz="3000" dirty="0"/>
          </a:p>
        </p:txBody>
      </p:sp>
      <p:pic>
        <p:nvPicPr>
          <p:cNvPr id="3" name="Image 0" descr="C:\Codeing\Github\Aflatoon_Scaler-School-of-Technology\docs\architecture.png">    </p:cNvPr>
          <p:cNvPicPr>
            <a:picLocks noChangeAspect="1"/>
          </p:cNvPicPr>
          <p:nvPr/>
        </p:nvPicPr>
        <p:blipFill>
          <a:blip r:embed="rId1"/>
          <a:stretch>
            <a:fillRect/>
          </a:stretch>
        </p:blipFill>
        <p:spPr>
          <a:xfrm>
            <a:off x="1949664" y="1143000"/>
            <a:ext cx="8292367" cy="5166360"/>
          </a:xfrm>
          <a:prstGeom prst="rect">
            <a:avLst/>
          </a:prstGeom>
        </p:spPr>
      </p:pic>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6676F"/>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rgbClr val="15232A"/>
                </a:solidFill>
                <a:latin typeface="Cambria" pitchFamily="34" charset="0"/>
                <a:ea typeface="Cambria" pitchFamily="34" charset="-122"/>
                <a:cs typeface="Cambria" pitchFamily="34" charset="-120"/>
              </a:rPr>
              <a:t>Data: the two streams belong to the same patients</a:t>
            </a:r>
            <a:endParaRPr lang="en-US" sz="3000" dirty="0"/>
          </a:p>
        </p:txBody>
      </p:sp>
      <p:sp>
        <p:nvSpPr>
          <p:cNvPr id="3" name="Shape 1"/>
          <p:cNvSpPr/>
          <p:nvPr/>
        </p:nvSpPr>
        <p:spPr>
          <a:xfrm>
            <a:off x="548640" y="1325880"/>
            <a:ext cx="5440680" cy="1828800"/>
          </a:xfrm>
          <a:prstGeom prst="roundRect">
            <a:avLst>
              <a:gd name="adj" fmla="val 4000"/>
            </a:avLst>
          </a:prstGeom>
          <a:solidFill>
            <a:srgbClr val="E1EFF2"/>
          </a:solidFill>
          <a:ln w="12700">
            <a:solidFill>
              <a:srgbClr val="E1EFF2"/>
            </a:solidFill>
            <a:prstDash val="solid"/>
          </a:ln>
        </p:spPr>
      </p:sp>
      <p:sp>
        <p:nvSpPr>
          <p:cNvPr id="4" name="Text 2"/>
          <p:cNvSpPr txBox="1"/>
          <p:nvPr/>
        </p:nvSpPr>
        <p:spPr>
          <a:xfrm>
            <a:off x="749808" y="1490472"/>
            <a:ext cx="5038344" cy="365760"/>
          </a:xfrm>
          <a:prstGeom prst="rect">
            <a:avLst/>
          </a:prstGeom>
          <a:noFill/>
          <a:ln/>
        </p:spPr>
        <p:txBody>
          <a:bodyPr wrap="square" lIns="0" tIns="0" rIns="0" bIns="0" rtlCol="0" anchor="t"/>
          <a:lstStyle/>
          <a:p>
            <a:pPr indent="0" marL="0">
              <a:buNone/>
            </a:pPr>
            <a:r>
              <a:rPr lang="en-US" sz="1500" b="1" dirty="0">
                <a:solidFill>
                  <a:srgbClr val="0D5F73"/>
                </a:solidFill>
                <a:latin typeface="Calibri" pitchFamily="34" charset="0"/>
                <a:ea typeface="Calibri" pitchFamily="34" charset="-122"/>
                <a:cs typeface="Calibri" pitchFamily="34" charset="-120"/>
              </a:rPr>
              <a:t>ShanghaiT2DM: train, test and demo</a:t>
            </a:r>
            <a:endParaRPr lang="en-US" sz="1500" dirty="0"/>
          </a:p>
        </p:txBody>
      </p:sp>
      <p:sp>
        <p:nvSpPr>
          <p:cNvPr id="5" name="Text 3"/>
          <p:cNvSpPr txBox="1"/>
          <p:nvPr/>
        </p:nvSpPr>
        <p:spPr>
          <a:xfrm>
            <a:off x="749808" y="1892808"/>
            <a:ext cx="5038344" cy="1143000"/>
          </a:xfrm>
          <a:prstGeom prst="rect">
            <a:avLst/>
          </a:prstGeom>
          <a:noFill/>
          <a:ln/>
        </p:spPr>
        <p:txBody>
          <a:bodyPr wrap="square" lIns="0" tIns="0" rIns="0" bIns="0" rtlCol="0" anchor="t"/>
          <a:lstStyle/>
          <a:p>
            <a:pPr indent="0" marL="0">
              <a:buNone/>
            </a:pPr>
            <a:r>
              <a:rPr lang="en-US" sz="1300" dirty="0">
                <a:solidFill>
                  <a:srgbClr val="15232A"/>
                </a:solidFill>
                <a:latin typeface="Calibri" pitchFamily="34" charset="0"/>
                <a:ea typeface="Calibri" pitchFamily="34" charset="-122"/>
                <a:cs typeface="Calibri" pitchFamily="34" charset="-120"/>
              </a:rPr>
              <a:t>100 adults with T2D, 109 recordings of 3–14 days. Libre H CGM every 15 min (112,462 readings). Linked clinical record (33 fields) plus timed insulin, oral-agent, pump and diet logs. Zhao et al., Scientific Data 2023. CC BY 4.0.</a:t>
            </a:r>
            <a:endParaRPr lang="en-US" sz="1300" dirty="0"/>
          </a:p>
        </p:txBody>
      </p:sp>
      <p:sp>
        <p:nvSpPr>
          <p:cNvPr id="6" name="Shape 4"/>
          <p:cNvSpPr/>
          <p:nvPr/>
        </p:nvSpPr>
        <p:spPr>
          <a:xfrm>
            <a:off x="6172200" y="1325880"/>
            <a:ext cx="5440680" cy="1828800"/>
          </a:xfrm>
          <a:prstGeom prst="roundRect">
            <a:avLst>
              <a:gd name="adj" fmla="val 4000"/>
            </a:avLst>
          </a:prstGeom>
          <a:solidFill>
            <a:srgbClr val="F3F6F7"/>
          </a:solidFill>
          <a:ln w="12700">
            <a:solidFill>
              <a:srgbClr val="F3F6F7"/>
            </a:solidFill>
            <a:prstDash val="solid"/>
          </a:ln>
        </p:spPr>
      </p:sp>
      <p:sp>
        <p:nvSpPr>
          <p:cNvPr id="7" name="Text 5"/>
          <p:cNvSpPr txBox="1"/>
          <p:nvPr/>
        </p:nvSpPr>
        <p:spPr>
          <a:xfrm>
            <a:off x="6373368" y="1490472"/>
            <a:ext cx="5038344" cy="365760"/>
          </a:xfrm>
          <a:prstGeom prst="rect">
            <a:avLst/>
          </a:prstGeom>
          <a:noFill/>
          <a:ln/>
        </p:spPr>
        <p:txBody>
          <a:bodyPr wrap="square" lIns="0" tIns="0" rIns="0" bIns="0" rtlCol="0" anchor="t"/>
          <a:lstStyle/>
          <a:p>
            <a:pPr indent="0" marL="0">
              <a:buNone/>
            </a:pPr>
            <a:r>
              <a:rPr lang="en-US" sz="1500" b="1" dirty="0">
                <a:solidFill>
                  <a:srgbClr val="0D5F73"/>
                </a:solidFill>
                <a:latin typeface="Calibri" pitchFamily="34" charset="0"/>
                <a:ea typeface="Calibri" pitchFamily="34" charset="-122"/>
                <a:cs typeface="Calibri" pitchFamily="34" charset="-120"/>
              </a:rPr>
              <a:t>CGMacros: external validation only</a:t>
            </a:r>
            <a:endParaRPr lang="en-US" sz="1500" dirty="0"/>
          </a:p>
        </p:txBody>
      </p:sp>
      <p:sp>
        <p:nvSpPr>
          <p:cNvPr id="8" name="Text 6"/>
          <p:cNvSpPr txBox="1"/>
          <p:nvPr/>
        </p:nvSpPr>
        <p:spPr>
          <a:xfrm>
            <a:off x="6373368" y="1892808"/>
            <a:ext cx="5038344" cy="1143000"/>
          </a:xfrm>
          <a:prstGeom prst="rect">
            <a:avLst/>
          </a:prstGeom>
          <a:noFill/>
          <a:ln/>
        </p:spPr>
        <p:txBody>
          <a:bodyPr wrap="square" lIns="0" tIns="0" rIns="0" bIns="0" rtlCol="0" anchor="t"/>
          <a:lstStyle/>
          <a:p>
            <a:pPr indent="0" marL="0">
              <a:buNone/>
            </a:pPr>
            <a:r>
              <a:rPr lang="en-US" sz="1300" dirty="0">
                <a:solidFill>
                  <a:srgbClr val="15232A"/>
                </a:solidFill>
                <a:latin typeface="Calibri" pitchFamily="34" charset="0"/>
                <a:ea typeface="Calibri" pitchFamily="34" charset="-122"/>
                <a:cs typeface="Calibri" pitchFamily="34" charset="-120"/>
              </a:rPr>
              <a:t>45 US adults (15 healthy, 16 prediabetes, 14 T2D), Libre Pro, Fitbit heart rate and activity, meal times. Free-living. Das et al., Scientific Data 2025 (PhysioNet). CC BY-NC-SA 4.0, not redistributed.</a:t>
            </a:r>
            <a:endParaRPr lang="en-US" sz="1300" dirty="0"/>
          </a:p>
        </p:txBody>
      </p:sp>
      <p:sp>
        <p:nvSpPr>
          <p:cNvPr id="9" name="Text 7"/>
          <p:cNvSpPr txBox="1"/>
          <p:nvPr/>
        </p:nvSpPr>
        <p:spPr>
          <a:xfrm>
            <a:off x="548640" y="3520440"/>
            <a:ext cx="4572000" cy="365760"/>
          </a:xfrm>
          <a:prstGeom prst="rect">
            <a:avLst/>
          </a:prstGeom>
          <a:noFill/>
          <a:ln/>
        </p:spPr>
        <p:txBody>
          <a:bodyPr wrap="square" lIns="0" tIns="0" rIns="0" bIns="0" rtlCol="0" anchor="t"/>
          <a:lstStyle/>
          <a:p>
            <a:pPr indent="0" marL="0">
              <a:buNone/>
            </a:pPr>
            <a:r>
              <a:rPr lang="en-US" sz="1600" b="1" dirty="0">
                <a:solidFill>
                  <a:srgbClr val="C0392B"/>
                </a:solidFill>
                <a:latin typeface="Calibri" pitchFamily="34" charset="0"/>
                <a:ea typeface="Calibri" pitchFamily="34" charset="-122"/>
                <a:cs typeface="Calibri" pitchFamily="34" charset="-120"/>
              </a:rPr>
              <a:t>Rejected</a:t>
            </a:r>
            <a:endParaRPr lang="en-US" sz="1600" dirty="0"/>
          </a:p>
        </p:txBody>
      </p:sp>
      <p:sp>
        <p:nvSpPr>
          <p:cNvPr id="10" name="Text 8"/>
          <p:cNvSpPr txBox="1"/>
          <p:nvPr/>
        </p:nvSpPr>
        <p:spPr>
          <a:xfrm>
            <a:off x="548640" y="3977640"/>
            <a:ext cx="5486400" cy="219456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5232A"/>
                </a:solidFill>
                <a:latin typeface="Calibri" pitchFamily="34" charset="0"/>
                <a:ea typeface="Calibri" pitchFamily="34" charset="-122"/>
                <a:cs typeface="Calibri" pitchFamily="34" charset="-120"/>
              </a:rPr>
              <a:t>Synthea + an unrelated CGM dataset: records and readings would belong to different people</a:t>
            </a:r>
            <a:endParaRPr lang="en-US" sz="1500" dirty="0"/>
          </a:p>
          <a:p>
            <a:pPr marL="203200" indent="-203200">
              <a:spcAft>
                <a:spcPts val="600"/>
              </a:spcAft>
              <a:buSzPct val="100000"/>
              <a:buChar char="•"/>
            </a:pPr>
            <a:r>
              <a:rPr lang="en-US" sz="1500" dirty="0">
                <a:solidFill>
                  <a:srgbClr val="15232A"/>
                </a:solidFill>
                <a:latin typeface="Calibri" pitchFamily="34" charset="0"/>
                <a:ea typeface="Calibri" pitchFamily="34" charset="-122"/>
                <a:cs typeface="Calibri" pitchFamily="34" charset="-120"/>
              </a:rPr>
              <a:t>UCI Diabetes #34: type 1 diabetes, finger-prick readings, around 1991</a:t>
            </a:r>
            <a:endParaRPr lang="en-US" sz="1500" dirty="0"/>
          </a:p>
          <a:p>
            <a:pPr marL="203200" indent="-203200">
              <a:spcAft>
                <a:spcPts val="600"/>
              </a:spcAft>
              <a:buSzPct val="100000"/>
              <a:buChar char="•"/>
            </a:pPr>
            <a:r>
              <a:rPr lang="en-US" sz="1500" dirty="0">
                <a:solidFill>
                  <a:srgbClr val="15232A"/>
                </a:solidFill>
                <a:latin typeface="Calibri" pitchFamily="34" charset="0"/>
                <a:ea typeface="Calibri" pitchFamily="34" charset="-122"/>
                <a:cs typeface="Calibri" pitchFamily="34" charset="-120"/>
              </a:rPr>
              <a:t>AI-READI: no redistribution right; fully synthetic physiology: tests only our own assumptions</a:t>
            </a:r>
            <a:endParaRPr lang="en-US" sz="1500" dirty="0"/>
          </a:p>
        </p:txBody>
      </p:sp>
      <p:sp>
        <p:nvSpPr>
          <p:cNvPr id="11" name="Text 9"/>
          <p:cNvSpPr txBox="1"/>
          <p:nvPr/>
        </p:nvSpPr>
        <p:spPr>
          <a:xfrm>
            <a:off x="6172200" y="3520440"/>
            <a:ext cx="4572000" cy="365760"/>
          </a:xfrm>
          <a:prstGeom prst="rect">
            <a:avLst/>
          </a:prstGeom>
          <a:noFill/>
          <a:ln/>
        </p:spPr>
        <p:txBody>
          <a:bodyPr wrap="square" lIns="0" tIns="0" rIns="0" bIns="0" rtlCol="0" anchor="t"/>
          <a:lstStyle/>
          <a:p>
            <a:pPr indent="0" marL="0">
              <a:buNone/>
            </a:pPr>
            <a:r>
              <a:rPr lang="en-US" sz="1600" b="1" dirty="0">
                <a:solidFill>
                  <a:srgbClr val="C98A00"/>
                </a:solidFill>
                <a:latin typeface="Calibri" pitchFamily="34" charset="0"/>
                <a:ea typeface="Calibri" pitchFamily="34" charset="-122"/>
                <a:cs typeface="Calibri" pitchFamily="34" charset="-120"/>
              </a:rPr>
              <a:t>Honest gaps</a:t>
            </a:r>
            <a:endParaRPr lang="en-US" sz="1600" dirty="0"/>
          </a:p>
        </p:txBody>
      </p:sp>
      <p:sp>
        <p:nvSpPr>
          <p:cNvPr id="12" name="Text 10"/>
          <p:cNvSpPr txBox="1"/>
          <p:nvPr/>
        </p:nvSpPr>
        <p:spPr>
          <a:xfrm>
            <a:off x="6172200" y="3977640"/>
            <a:ext cx="5440680" cy="219456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5232A"/>
                </a:solidFill>
                <a:latin typeface="Calibri" pitchFamily="34" charset="0"/>
                <a:ea typeface="Calibri" pitchFamily="34" charset="-122"/>
                <a:cs typeface="Calibri" pitchFamily="34" charset="-120"/>
              </a:rPr>
              <a:t>No open Indian CGM dataset exists: Chinese hospital cohort, partly in-hospital</a:t>
            </a:r>
            <a:endParaRPr lang="en-US" sz="1500" dirty="0"/>
          </a:p>
          <a:p>
            <a:pPr marL="203200" indent="-203200">
              <a:spcAft>
                <a:spcPts val="600"/>
              </a:spcAft>
              <a:buSzPct val="100000"/>
              <a:buChar char="•"/>
            </a:pPr>
            <a:r>
              <a:rPr lang="en-US" sz="1500" dirty="0">
                <a:solidFill>
                  <a:srgbClr val="15232A"/>
                </a:solidFill>
                <a:latin typeface="Calibri" pitchFamily="34" charset="0"/>
                <a:ea typeface="Calibri" pitchFamily="34" charset="-122"/>
                <a:cs typeface="Calibri" pitchFamily="34" charset="-120"/>
              </a:rPr>
              <a:t>No genetic markers anywhere: shown as 'not recorded', never invented</a:t>
            </a:r>
            <a:endParaRPr lang="en-US" sz="1500" dirty="0"/>
          </a:p>
          <a:p>
            <a:pPr marL="203200" indent="-203200">
              <a:spcAft>
                <a:spcPts val="600"/>
              </a:spcAft>
              <a:buSzPct val="100000"/>
              <a:buChar char="•"/>
            </a:pPr>
            <a:r>
              <a:rPr lang="en-US" sz="1500" dirty="0">
                <a:solidFill>
                  <a:srgbClr val="15232A"/>
                </a:solidFill>
                <a:latin typeface="Calibri" pitchFamily="34" charset="0"/>
                <a:ea typeface="Calibri" pitchFamily="34" charset="-122"/>
                <a:cs typeface="Calibri" pitchFamily="34" charset="-120"/>
              </a:rPr>
              <a:t>Diet is food weight, not nutrients (carbohydrate-dense-weight heuristic)</a:t>
            </a:r>
            <a:endParaRPr lang="en-US" sz="15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6676F"/>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rgbClr val="15232A"/>
                </a:solidFill>
                <a:latin typeface="Cambria" pitchFamily="34" charset="0"/>
                <a:ea typeface="Cambria" pitchFamily="34" charset="-122"/>
                <a:cs typeface="Cambria" pitchFamily="34" charset="-120"/>
              </a:rPr>
              <a:t>Models and an evaluation protocol fixed before testing</a:t>
            </a:r>
            <a:endParaRPr lang="en-US" sz="3000" dirty="0"/>
          </a:p>
        </p:txBody>
      </p:sp>
      <p:sp>
        <p:nvSpPr>
          <p:cNvPr id="3" name="Shape 1"/>
          <p:cNvSpPr/>
          <p:nvPr/>
        </p:nvSpPr>
        <p:spPr>
          <a:xfrm>
            <a:off x="548640" y="1325880"/>
            <a:ext cx="5440680" cy="4800600"/>
          </a:xfrm>
          <a:prstGeom prst="roundRect">
            <a:avLst>
              <a:gd name="adj" fmla="val 1524"/>
            </a:avLst>
          </a:prstGeom>
          <a:solidFill>
            <a:srgbClr val="F3F6F7"/>
          </a:solidFill>
          <a:ln w="12700">
            <a:solidFill>
              <a:srgbClr val="F3F6F7"/>
            </a:solidFill>
            <a:prstDash val="solid"/>
          </a:ln>
        </p:spPr>
      </p:sp>
      <p:sp>
        <p:nvSpPr>
          <p:cNvPr id="4" name="Text 2"/>
          <p:cNvSpPr txBox="1"/>
          <p:nvPr/>
        </p:nvSpPr>
        <p:spPr>
          <a:xfrm>
            <a:off x="749808" y="1490472"/>
            <a:ext cx="5038344" cy="365760"/>
          </a:xfrm>
          <a:prstGeom prst="rect">
            <a:avLst/>
          </a:prstGeom>
          <a:noFill/>
          <a:ln/>
        </p:spPr>
        <p:txBody>
          <a:bodyPr wrap="square" lIns="0" tIns="0" rIns="0" bIns="0" rtlCol="0" anchor="t"/>
          <a:lstStyle/>
          <a:p>
            <a:pPr indent="0" marL="0">
              <a:buNone/>
            </a:pPr>
            <a:r>
              <a:rPr lang="en-US" sz="1500" b="1" dirty="0">
                <a:solidFill>
                  <a:srgbClr val="0D5F73"/>
                </a:solidFill>
                <a:latin typeface="Calibri" pitchFamily="34" charset="0"/>
                <a:ea typeface="Calibri" pitchFamily="34" charset="-122"/>
                <a:cs typeface="Calibri" pitchFamily="34" charset="-120"/>
              </a:rPr>
              <a:t>Compared models</a:t>
            </a:r>
            <a:endParaRPr lang="en-US" sz="1500" dirty="0"/>
          </a:p>
        </p:txBody>
      </p:sp>
      <p:sp>
        <p:nvSpPr>
          <p:cNvPr id="5" name="Text 3"/>
          <p:cNvSpPr txBox="1"/>
          <p:nvPr/>
        </p:nvSpPr>
        <p:spPr>
          <a:xfrm>
            <a:off x="749808" y="1892808"/>
            <a:ext cx="5038344" cy="4114800"/>
          </a:xfrm>
          <a:prstGeom prst="rect">
            <a:avLst/>
          </a:prstGeom>
          <a:noFill/>
          <a:ln/>
        </p:spPr>
        <p:txBody>
          <a:bodyPr wrap="square" lIns="0" tIns="0" rIns="0" bIns="0" rtlCol="0" anchor="t"/>
          <a:lstStyle/>
          <a:p>
            <a:pPr indent="0" marL="0">
              <a:buNone/>
            </a:pPr>
            <a:r>
              <a:rPr lang="en-US" sz="1300" dirty="0">
                <a:solidFill>
                  <a:srgbClr val="15232A"/>
                </a:solidFill>
                <a:latin typeface="Calibri" pitchFamily="34" charset="0"/>
                <a:ea typeface="Calibri" pitchFamily="34" charset="-122"/>
                <a:cs typeface="Calibri" pitchFamily="34" charset="-120"/>
              </a:rPr>
              <a:t>Last value carried forward (persistence)</a:t>
            </a:r>
            <a:endParaRPr lang="en-US" sz="1300" dirty="0"/>
          </a:p>
          <a:p>
            <a:pPr indent="0" marL="0">
              <a:buNone/>
            </a:pPr>
            <a:r>
              <a:rPr lang="en-US" sz="1300" dirty="0">
                <a:solidFill>
                  <a:srgbClr val="15232A"/>
                </a:solidFill>
                <a:latin typeface="Calibri" pitchFamily="34" charset="0"/>
                <a:ea typeface="Calibri" pitchFamily="34" charset="-122"/>
                <a:cs typeface="Calibri" pitchFamily="34" charset="-120"/>
              </a:rPr>
              <a:t>Kalman damped trend</a:t>
            </a:r>
            <a:endParaRPr lang="en-US" sz="1300" dirty="0"/>
          </a:p>
          <a:p>
            <a:pPr indent="0" marL="0">
              <a:buNone/>
            </a:pPr>
            <a:r>
              <a:rPr lang="en-US" sz="1300" dirty="0">
                <a:solidFill>
                  <a:srgbClr val="15232A"/>
                </a:solidFill>
                <a:latin typeface="Calibri" pitchFamily="34" charset="0"/>
                <a:ea typeface="Calibri" pitchFamily="34" charset="-122"/>
                <a:cs typeface="Calibri" pitchFamily="34" charset="-120"/>
              </a:rPr>
              <a:t>Linear autoregression (ridge)</a:t>
            </a:r>
            <a:endParaRPr lang="en-US" sz="1300" dirty="0"/>
          </a:p>
          <a:p>
            <a:pPr indent="0" marL="0">
              <a:buNone/>
            </a:pPr>
            <a:r>
              <a:rPr lang="en-US" sz="1300" dirty="0">
                <a:solidFill>
                  <a:srgbClr val="15232A"/>
                </a:solidFill>
                <a:latin typeface="Calibri" pitchFamily="34" charset="0"/>
                <a:ea typeface="Calibri" pitchFamily="34" charset="-122"/>
                <a:cs typeface="Calibri" pitchFamily="34" charset="-120"/>
              </a:rPr>
              <a:t>GRU sequence network (tuned on development data)</a:t>
            </a:r>
            <a:endParaRPr lang="en-US" sz="1300" dirty="0"/>
          </a:p>
          <a:p>
            <a:pPr indent="0" marL="0">
              <a:buNone/>
            </a:pPr>
            <a:r>
              <a:rPr lang="en-US" sz="1300" dirty="0">
                <a:solidFill>
                  <a:srgbClr val="15232A"/>
                </a:solidFill>
                <a:latin typeface="Calibri" pitchFamily="34" charset="0"/>
                <a:ea typeface="Calibri" pitchFamily="34" charset="-122"/>
                <a:cs typeface="Calibri" pitchFamily="34" charset="-120"/>
              </a:rPr>
              <a:t>LightGBM ladder: CGM → + logs → + clinical record → + personal history = Pratirup</a:t>
            </a:r>
            <a:endParaRPr lang="en-US" sz="1300" dirty="0"/>
          </a:p>
          <a:p>
            <a:pPr indent="0" marL="0">
              <a:buNone/>
            </a:pPr>
            <a:r>
              <a:rPr lang="en-US" sz="1300" dirty="0">
                <a:solidFill>
                  <a:srgbClr val="15232A"/>
                </a:solidFill>
                <a:latin typeface="Calibri" pitchFamily="34" charset="0"/>
                <a:ea typeface="Calibri" pitchFamily="34" charset="-122"/>
                <a:cs typeface="Calibri" pitchFamily="34" charset="-120"/>
              </a:rPr>
              <a:t>Pratirup + online self-correction</a:t>
            </a:r>
            <a:endParaRPr lang="en-US" sz="1300" dirty="0"/>
          </a:p>
          <a:p>
            <a:pPr indent="0" marL="0">
              <a:buNone/>
            </a:pPr>
            <a:r>
              <a:rPr lang="en-US" sz="1300" dirty="0">
                <a:solidFill>
                  <a:srgbClr val="15232A"/>
                </a:solidFill>
                <a:latin typeface="Calibri" pitchFamily="34" charset="0"/>
                <a:ea typeface="Calibri" pitchFamily="34" charset="-122"/>
                <a:cs typeface="Calibri" pitchFamily="34" charset="-120"/>
              </a:rPr>
              <a:t>Average of LightGBM and GRU (reported, not deployed)</a:t>
            </a:r>
            <a:endParaRPr lang="en-US" sz="1300" dirty="0"/>
          </a:p>
          <a:p>
            <a:pPr indent="0" marL="0">
              <a:buNone/>
            </a:pPr>
            <a:endParaRPr lang="en-US" sz="1300" dirty="0"/>
          </a:p>
          <a:p>
            <a:pPr indent="0" marL="0">
              <a:buNone/>
            </a:pPr>
            <a:r>
              <a:rPr lang="en-US" sz="1300" dirty="0">
                <a:solidFill>
                  <a:srgbClr val="15232A"/>
                </a:solidFill>
                <a:latin typeface="Calibri" pitchFamily="34" charset="0"/>
                <a:ea typeface="Calibri" pitchFamily="34" charset="-122"/>
                <a:cs typeface="Calibri" pitchFamily="34" charset="-120"/>
              </a:rPr>
              <a:t>Served: LightGBM. It ties the GRU and gives exact per-feature attributions, conformal intervals and fast CPU inference.</a:t>
            </a:r>
            <a:endParaRPr lang="en-US" sz="1300" dirty="0"/>
          </a:p>
        </p:txBody>
      </p:sp>
      <p:sp>
        <p:nvSpPr>
          <p:cNvPr id="6" name="Shape 4"/>
          <p:cNvSpPr/>
          <p:nvPr/>
        </p:nvSpPr>
        <p:spPr>
          <a:xfrm>
            <a:off x="6263640" y="1417320"/>
            <a:ext cx="384048" cy="384048"/>
          </a:xfrm>
          <a:prstGeom prst="ellipse">
            <a:avLst/>
          </a:prstGeom>
          <a:solidFill>
            <a:srgbClr val="0D5F73"/>
          </a:solidFill>
          <a:ln w="12700">
            <a:solidFill>
              <a:srgbClr val="0D5F73"/>
            </a:solidFill>
            <a:prstDash val="solid"/>
          </a:ln>
        </p:spPr>
      </p:sp>
      <p:sp>
        <p:nvSpPr>
          <p:cNvPr id="7" name="Text 5"/>
          <p:cNvSpPr txBox="1"/>
          <p:nvPr/>
        </p:nvSpPr>
        <p:spPr>
          <a:xfrm>
            <a:off x="6263640" y="14173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6812280" y="1371600"/>
            <a:ext cx="4800600" cy="320040"/>
          </a:xfrm>
          <a:prstGeom prst="rect">
            <a:avLst/>
          </a:prstGeom>
          <a:noFill/>
          <a:ln/>
        </p:spPr>
        <p:txBody>
          <a:bodyPr wrap="square" lIns="0" tIns="0" rIns="0" bIns="0" rtlCol="0" anchor="t"/>
          <a:lstStyle/>
          <a:p>
            <a:pPr indent="0" marL="0">
              <a:buNone/>
            </a:pPr>
            <a:r>
              <a:rPr lang="en-US" sz="1500" b="1" dirty="0">
                <a:solidFill>
                  <a:srgbClr val="15232A"/>
                </a:solidFill>
                <a:latin typeface="Calibri" pitchFamily="34" charset="0"/>
                <a:ea typeface="Calibri" pitchFamily="34" charset="-122"/>
                <a:cs typeface="Calibri" pitchFamily="34" charset="-120"/>
              </a:rPr>
              <a:t>Patient-level split</a:t>
            </a:r>
            <a:endParaRPr lang="en-US" sz="1500" dirty="0"/>
          </a:p>
        </p:txBody>
      </p:sp>
      <p:sp>
        <p:nvSpPr>
          <p:cNvPr id="9" name="Text 7"/>
          <p:cNvSpPr txBox="1"/>
          <p:nvPr/>
        </p:nvSpPr>
        <p:spPr>
          <a:xfrm>
            <a:off x="6812280" y="1719072"/>
            <a:ext cx="4800600" cy="548640"/>
          </a:xfrm>
          <a:prstGeom prst="rect">
            <a:avLst/>
          </a:prstGeom>
          <a:noFill/>
          <a:ln/>
        </p:spPr>
        <p:txBody>
          <a:bodyPr wrap="square" lIns="0" tIns="0" rIns="0" bIns="0" rtlCol="0" anchor="t"/>
          <a:lstStyle/>
          <a:p>
            <a:pPr indent="0" marL="0">
              <a:buNone/>
            </a:pPr>
            <a:r>
              <a:rPr lang="en-US" sz="1250" dirty="0">
                <a:solidFill>
                  <a:srgbClr val="56676F"/>
                </a:solidFill>
                <a:latin typeface="Calibri" pitchFamily="34" charset="0"/>
                <a:ea typeface="Calibri" pitchFamily="34" charset="-122"/>
                <a:cs typeface="Calibri" pitchFamily="34" charset="-120"/>
              </a:rPr>
              <a:t>80 development patients (5 folds, stratified by insulin) and 20 test patients</a:t>
            </a:r>
            <a:endParaRPr lang="en-US" sz="1250" dirty="0"/>
          </a:p>
        </p:txBody>
      </p:sp>
      <p:sp>
        <p:nvSpPr>
          <p:cNvPr id="10" name="Shape 8"/>
          <p:cNvSpPr/>
          <p:nvPr/>
        </p:nvSpPr>
        <p:spPr>
          <a:xfrm>
            <a:off x="6263640" y="2368296"/>
            <a:ext cx="384048" cy="384048"/>
          </a:xfrm>
          <a:prstGeom prst="ellipse">
            <a:avLst/>
          </a:prstGeom>
          <a:solidFill>
            <a:srgbClr val="0D5F73"/>
          </a:solidFill>
          <a:ln w="12700">
            <a:solidFill>
              <a:srgbClr val="0D5F73"/>
            </a:solidFill>
            <a:prstDash val="solid"/>
          </a:ln>
        </p:spPr>
      </p:sp>
      <p:sp>
        <p:nvSpPr>
          <p:cNvPr id="11" name="Text 9"/>
          <p:cNvSpPr txBox="1"/>
          <p:nvPr/>
        </p:nvSpPr>
        <p:spPr>
          <a:xfrm>
            <a:off x="6263640" y="23682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6812280" y="2322576"/>
            <a:ext cx="4800600" cy="320040"/>
          </a:xfrm>
          <a:prstGeom prst="rect">
            <a:avLst/>
          </a:prstGeom>
          <a:noFill/>
          <a:ln/>
        </p:spPr>
        <p:txBody>
          <a:bodyPr wrap="square" lIns="0" tIns="0" rIns="0" bIns="0" rtlCol="0" anchor="t"/>
          <a:lstStyle/>
          <a:p>
            <a:pPr indent="0" marL="0">
              <a:buNone/>
            </a:pPr>
            <a:r>
              <a:rPr lang="en-US" sz="1500" b="1" dirty="0">
                <a:solidFill>
                  <a:srgbClr val="15232A"/>
                </a:solidFill>
                <a:latin typeface="Calibri" pitchFamily="34" charset="0"/>
                <a:ea typeface="Calibri" pitchFamily="34" charset="-122"/>
                <a:cs typeface="Calibri" pitchFamily="34" charset="-120"/>
              </a:rPr>
              <a:t>Every choice on development data</a:t>
            </a:r>
            <a:endParaRPr lang="en-US" sz="1500" dirty="0"/>
          </a:p>
        </p:txBody>
      </p:sp>
      <p:sp>
        <p:nvSpPr>
          <p:cNvPr id="13" name="Text 11"/>
          <p:cNvSpPr txBox="1"/>
          <p:nvPr/>
        </p:nvSpPr>
        <p:spPr>
          <a:xfrm>
            <a:off x="6812280" y="2670048"/>
            <a:ext cx="4800600" cy="548640"/>
          </a:xfrm>
          <a:prstGeom prst="rect">
            <a:avLst/>
          </a:prstGeom>
          <a:noFill/>
          <a:ln/>
        </p:spPr>
        <p:txBody>
          <a:bodyPr wrap="square" lIns="0" tIns="0" rIns="0" bIns="0" rtlCol="0" anchor="t"/>
          <a:lstStyle/>
          <a:p>
            <a:pPr indent="0" marL="0">
              <a:buNone/>
            </a:pPr>
            <a:r>
              <a:rPr lang="en-US" sz="1250" dirty="0">
                <a:solidFill>
                  <a:srgbClr val="56676F"/>
                </a:solidFill>
                <a:latin typeface="Calibri" pitchFamily="34" charset="0"/>
                <a:ea typeface="Calibri" pitchFamily="34" charset="-122"/>
                <a:cs typeface="Calibri" pitchFamily="34" charset="-120"/>
              </a:rPr>
              <a:t>Kalman, hyperparameters, GRU, conformal adjustment, calibration, alert thresholds</a:t>
            </a:r>
            <a:endParaRPr lang="en-US" sz="1250" dirty="0"/>
          </a:p>
        </p:txBody>
      </p:sp>
      <p:sp>
        <p:nvSpPr>
          <p:cNvPr id="14" name="Shape 12"/>
          <p:cNvSpPr/>
          <p:nvPr/>
        </p:nvSpPr>
        <p:spPr>
          <a:xfrm>
            <a:off x="6263640" y="3319272"/>
            <a:ext cx="384048" cy="384048"/>
          </a:xfrm>
          <a:prstGeom prst="ellipse">
            <a:avLst/>
          </a:prstGeom>
          <a:solidFill>
            <a:srgbClr val="0D5F73"/>
          </a:solidFill>
          <a:ln w="12700">
            <a:solidFill>
              <a:srgbClr val="0D5F73"/>
            </a:solidFill>
            <a:prstDash val="solid"/>
          </a:ln>
        </p:spPr>
      </p:sp>
      <p:sp>
        <p:nvSpPr>
          <p:cNvPr id="15" name="Text 13"/>
          <p:cNvSpPr txBox="1"/>
          <p:nvPr/>
        </p:nvSpPr>
        <p:spPr>
          <a:xfrm>
            <a:off x="6263640" y="33192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txBox="1"/>
          <p:nvPr/>
        </p:nvSpPr>
        <p:spPr>
          <a:xfrm>
            <a:off x="6812280" y="3273552"/>
            <a:ext cx="4800600" cy="320040"/>
          </a:xfrm>
          <a:prstGeom prst="rect">
            <a:avLst/>
          </a:prstGeom>
          <a:noFill/>
          <a:ln/>
        </p:spPr>
        <p:txBody>
          <a:bodyPr wrap="square" lIns="0" tIns="0" rIns="0" bIns="0" rtlCol="0" anchor="t"/>
          <a:lstStyle/>
          <a:p>
            <a:pPr indent="0" marL="0">
              <a:buNone/>
            </a:pPr>
            <a:r>
              <a:rPr lang="en-US" sz="1500" b="1" dirty="0">
                <a:solidFill>
                  <a:srgbClr val="15232A"/>
                </a:solidFill>
                <a:latin typeface="Calibri" pitchFamily="34" charset="0"/>
                <a:ea typeface="Calibri" pitchFamily="34" charset="-122"/>
                <a:cs typeface="Calibri" pitchFamily="34" charset="-120"/>
              </a:rPr>
              <a:t>No leakage</a:t>
            </a:r>
            <a:endParaRPr lang="en-US" sz="1500" dirty="0"/>
          </a:p>
        </p:txBody>
      </p:sp>
      <p:sp>
        <p:nvSpPr>
          <p:cNvPr id="17" name="Text 15"/>
          <p:cNvSpPr txBox="1"/>
          <p:nvPr/>
        </p:nvSpPr>
        <p:spPr>
          <a:xfrm>
            <a:off x="6812280" y="3621024"/>
            <a:ext cx="4800600" cy="548640"/>
          </a:xfrm>
          <a:prstGeom prst="rect">
            <a:avLst/>
          </a:prstGeom>
          <a:noFill/>
          <a:ln/>
        </p:spPr>
        <p:txBody>
          <a:bodyPr wrap="square" lIns="0" tIns="0" rIns="0" bIns="0" rtlCol="0" anchor="t"/>
          <a:lstStyle/>
          <a:p>
            <a:pPr indent="0" marL="0">
              <a:buNone/>
            </a:pPr>
            <a:r>
              <a:rPr lang="en-US" sz="1250" dirty="0">
                <a:solidFill>
                  <a:srgbClr val="56676F"/>
                </a:solidFill>
                <a:latin typeface="Calibri" pitchFamily="34" charset="0"/>
                <a:ea typeface="Calibri" pitchFamily="34" charset="-122"/>
                <a:cs typeface="Calibri" pitchFamily="34" charset="-120"/>
              </a:rPr>
              <a:t>Early stopping on held-out dev patients; a test proves features use only the past</a:t>
            </a:r>
            <a:endParaRPr lang="en-US" sz="1250" dirty="0"/>
          </a:p>
        </p:txBody>
      </p:sp>
      <p:sp>
        <p:nvSpPr>
          <p:cNvPr id="18" name="Shape 16"/>
          <p:cNvSpPr/>
          <p:nvPr/>
        </p:nvSpPr>
        <p:spPr>
          <a:xfrm>
            <a:off x="6263640" y="4270248"/>
            <a:ext cx="384048" cy="384048"/>
          </a:xfrm>
          <a:prstGeom prst="ellipse">
            <a:avLst/>
          </a:prstGeom>
          <a:solidFill>
            <a:srgbClr val="0D5F73"/>
          </a:solidFill>
          <a:ln w="12700">
            <a:solidFill>
              <a:srgbClr val="0D5F73"/>
            </a:solidFill>
            <a:prstDash val="solid"/>
          </a:ln>
        </p:spPr>
      </p:sp>
      <p:sp>
        <p:nvSpPr>
          <p:cNvPr id="19" name="Text 17"/>
          <p:cNvSpPr txBox="1"/>
          <p:nvPr/>
        </p:nvSpPr>
        <p:spPr>
          <a:xfrm>
            <a:off x="6263640" y="42702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8"/>
          <p:cNvSpPr txBox="1"/>
          <p:nvPr/>
        </p:nvSpPr>
        <p:spPr>
          <a:xfrm>
            <a:off x="6812280" y="4224528"/>
            <a:ext cx="4800600" cy="320040"/>
          </a:xfrm>
          <a:prstGeom prst="rect">
            <a:avLst/>
          </a:prstGeom>
          <a:noFill/>
          <a:ln/>
        </p:spPr>
        <p:txBody>
          <a:bodyPr wrap="square" lIns="0" tIns="0" rIns="0" bIns="0" rtlCol="0" anchor="t"/>
          <a:lstStyle/>
          <a:p>
            <a:pPr indent="0" marL="0">
              <a:buNone/>
            </a:pPr>
            <a:r>
              <a:rPr lang="en-US" sz="1500" b="1" dirty="0">
                <a:solidFill>
                  <a:srgbClr val="15232A"/>
                </a:solidFill>
                <a:latin typeface="Calibri" pitchFamily="34" charset="0"/>
                <a:ea typeface="Calibri" pitchFamily="34" charset="-122"/>
                <a:cs typeface="Calibri" pitchFamily="34" charset="-120"/>
              </a:rPr>
              <a:t>Test scored once</a:t>
            </a:r>
            <a:endParaRPr lang="en-US" sz="1500" dirty="0"/>
          </a:p>
        </p:txBody>
      </p:sp>
      <p:sp>
        <p:nvSpPr>
          <p:cNvPr id="21" name="Text 19"/>
          <p:cNvSpPr txBox="1"/>
          <p:nvPr/>
        </p:nvSpPr>
        <p:spPr>
          <a:xfrm>
            <a:off x="6812280" y="4572000"/>
            <a:ext cx="4800600" cy="548640"/>
          </a:xfrm>
          <a:prstGeom prst="rect">
            <a:avLst/>
          </a:prstGeom>
          <a:noFill/>
          <a:ln/>
        </p:spPr>
        <p:txBody>
          <a:bodyPr wrap="square" lIns="0" tIns="0" rIns="0" bIns="0" rtlCol="0" anchor="t"/>
          <a:lstStyle/>
          <a:p>
            <a:pPr indent="0" marL="0">
              <a:buNone/>
            </a:pPr>
            <a:r>
              <a:rPr lang="en-US" sz="1250" dirty="0">
                <a:solidFill>
                  <a:srgbClr val="56676F"/>
                </a:solidFill>
                <a:latin typeface="Calibri" pitchFamily="34" charset="0"/>
                <a:ea typeface="Calibri" pitchFamily="34" charset="-122"/>
                <a:cs typeface="Calibri" pitchFamily="34" charset="-120"/>
              </a:rPr>
              <a:t>Locked file records when; reruns need a logged reason</a:t>
            </a:r>
            <a:endParaRPr lang="en-US" sz="1250" dirty="0"/>
          </a:p>
        </p:txBody>
      </p:sp>
      <p:sp>
        <p:nvSpPr>
          <p:cNvPr id="22" name="Shape 20"/>
          <p:cNvSpPr/>
          <p:nvPr/>
        </p:nvSpPr>
        <p:spPr>
          <a:xfrm>
            <a:off x="6263640" y="5221224"/>
            <a:ext cx="384048" cy="384048"/>
          </a:xfrm>
          <a:prstGeom prst="ellipse">
            <a:avLst/>
          </a:prstGeom>
          <a:solidFill>
            <a:srgbClr val="0D5F73"/>
          </a:solidFill>
          <a:ln w="12700">
            <a:solidFill>
              <a:srgbClr val="0D5F73"/>
            </a:solidFill>
            <a:prstDash val="solid"/>
          </a:ln>
        </p:spPr>
      </p:sp>
      <p:sp>
        <p:nvSpPr>
          <p:cNvPr id="23" name="Text 21"/>
          <p:cNvSpPr txBox="1"/>
          <p:nvPr/>
        </p:nvSpPr>
        <p:spPr>
          <a:xfrm>
            <a:off x="6263640" y="52212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4" name="Text 22"/>
          <p:cNvSpPr txBox="1"/>
          <p:nvPr/>
        </p:nvSpPr>
        <p:spPr>
          <a:xfrm>
            <a:off x="6812280" y="5175504"/>
            <a:ext cx="4800600" cy="320040"/>
          </a:xfrm>
          <a:prstGeom prst="rect">
            <a:avLst/>
          </a:prstGeom>
          <a:noFill/>
          <a:ln/>
        </p:spPr>
        <p:txBody>
          <a:bodyPr wrap="square" lIns="0" tIns="0" rIns="0" bIns="0" rtlCol="0" anchor="t"/>
          <a:lstStyle/>
          <a:p>
            <a:pPr indent="0" marL="0">
              <a:buNone/>
            </a:pPr>
            <a:r>
              <a:rPr lang="en-US" sz="1500" b="1" dirty="0">
                <a:solidFill>
                  <a:srgbClr val="15232A"/>
                </a:solidFill>
                <a:latin typeface="Calibri" pitchFamily="34" charset="0"/>
                <a:ea typeface="Calibri" pitchFamily="34" charset="-122"/>
                <a:cs typeface="Calibri" pitchFamily="34" charset="-120"/>
              </a:rPr>
              <a:t>Uncertainty of results</a:t>
            </a:r>
            <a:endParaRPr lang="en-US" sz="1500" dirty="0"/>
          </a:p>
        </p:txBody>
      </p:sp>
      <p:sp>
        <p:nvSpPr>
          <p:cNvPr id="25" name="Text 23"/>
          <p:cNvSpPr txBox="1"/>
          <p:nvPr/>
        </p:nvSpPr>
        <p:spPr>
          <a:xfrm>
            <a:off x="6812280" y="5522976"/>
            <a:ext cx="4800600" cy="548640"/>
          </a:xfrm>
          <a:prstGeom prst="rect">
            <a:avLst/>
          </a:prstGeom>
          <a:noFill/>
          <a:ln/>
        </p:spPr>
        <p:txBody>
          <a:bodyPr wrap="square" lIns="0" tIns="0" rIns="0" bIns="0" rtlCol="0" anchor="t"/>
          <a:lstStyle/>
          <a:p>
            <a:pPr indent="0" marL="0">
              <a:buNone/>
            </a:pPr>
            <a:r>
              <a:rPr lang="en-US" sz="1250" dirty="0">
                <a:solidFill>
                  <a:srgbClr val="56676F"/>
                </a:solidFill>
                <a:latin typeface="Calibri" pitchFamily="34" charset="0"/>
                <a:ea typeface="Calibri" pitchFamily="34" charset="-122"/>
                <a:cs typeface="Calibri" pitchFamily="34" charset="-120"/>
              </a:rPr>
              <a:t>Patient-level bootstrap 95% CIs for every comparison</a:t>
            </a:r>
            <a:endParaRPr lang="en-US" sz="125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6676F"/>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rgbClr val="15232A"/>
                </a:solidFill>
                <a:latin typeface="Cambria" pitchFamily="34" charset="0"/>
                <a:ea typeface="Cambria" pitchFamily="34" charset="-122"/>
                <a:cs typeface="Cambria" pitchFamily="34" charset="-120"/>
              </a:rPr>
              <a:t>Forecast accuracy on 20 unseen patients</a:t>
            </a:r>
            <a:endParaRPr lang="en-US" sz="3000" dirty="0"/>
          </a:p>
        </p:txBody>
      </p:sp>
      <p:graphicFrame>
        <p:nvGraphicFramePr>
          <p:cNvPr id="3" name="Chart 0" descr=""/>
          <p:cNvGraphicFramePr/>
          <p:nvPr/>
        </p:nvGraphicFramePr>
        <p:xfrm>
          <a:off x="548640" y="1234440"/>
          <a:ext cx="6949440" cy="49377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863840" y="1325880"/>
            <a:ext cx="3749040" cy="365760"/>
          </a:xfrm>
          <a:prstGeom prst="rect">
            <a:avLst/>
          </a:prstGeom>
          <a:noFill/>
          <a:ln/>
        </p:spPr>
        <p:txBody>
          <a:bodyPr wrap="square" lIns="0" tIns="0" rIns="0" bIns="0" rtlCol="0" anchor="t"/>
          <a:lstStyle/>
          <a:p>
            <a:pPr indent="0" marL="0">
              <a:buNone/>
            </a:pPr>
            <a:r>
              <a:rPr lang="en-US" sz="1500" b="1" dirty="0">
                <a:solidFill>
                  <a:srgbClr val="0D5F73"/>
                </a:solidFill>
                <a:latin typeface="Calibri" pitchFamily="34" charset="0"/>
                <a:ea typeface="Calibri" pitchFamily="34" charset="-122"/>
                <a:cs typeface="Calibri" pitchFamily="34" charset="-120"/>
              </a:rPr>
              <a:t>vs last value carried forward</a:t>
            </a:r>
            <a:endParaRPr lang="en-US" sz="1500" dirty="0"/>
          </a:p>
        </p:txBody>
      </p:sp>
      <p:sp>
        <p:nvSpPr>
          <p:cNvPr id="5" name="Text 2"/>
          <p:cNvSpPr txBox="1"/>
          <p:nvPr/>
        </p:nvSpPr>
        <p:spPr>
          <a:xfrm>
            <a:off x="7863840" y="1737360"/>
            <a:ext cx="3749040" cy="1371600"/>
          </a:xfrm>
          <a:prstGeom prst="rect">
            <a:avLst/>
          </a:prstGeom>
          <a:noFill/>
          <a:ln/>
        </p:spPr>
        <p:txBody>
          <a:bodyPr wrap="square" lIns="0" tIns="0" rIns="0" bIns="0" rtlCol="0" anchor="t"/>
          <a:lstStyle/>
          <a:p>
            <a:pPr indent="0" marL="0">
              <a:spcAft>
                <a:spcPts val="600"/>
              </a:spcAft>
              <a:buNone/>
            </a:pPr>
            <a:r>
              <a:rPr lang="en-US" sz="1350" dirty="0">
                <a:solidFill>
                  <a:srgbClr val="15232A"/>
                </a:solidFill>
                <a:latin typeface="Calibri" pitchFamily="34" charset="0"/>
                <a:ea typeface="Calibri" pitchFamily="34" charset="-122"/>
                <a:cs typeface="Calibri" pitchFamily="34" charset="-120"/>
              </a:rPr>
              <a:t>+30 min: -3.24 mg/dL (95% CI -3.87 to -2.62)</a:t>
            </a:r>
            <a:endParaRPr lang="en-US" sz="1350" dirty="0"/>
          </a:p>
          <a:p>
            <a:pPr indent="0" marL="0">
              <a:spcAft>
                <a:spcPts val="600"/>
              </a:spcAft>
              <a:buNone/>
            </a:pPr>
            <a:r>
              <a:rPr lang="en-US" sz="1350" dirty="0">
                <a:solidFill>
                  <a:srgbClr val="15232A"/>
                </a:solidFill>
                <a:latin typeface="Calibri" pitchFamily="34" charset="0"/>
                <a:ea typeface="Calibri" pitchFamily="34" charset="-122"/>
                <a:cs typeface="Calibri" pitchFamily="34" charset="-120"/>
              </a:rPr>
              <a:t>+60 min: -5.17 mg/dL (95% CI -6.30 to -4.12)</a:t>
            </a:r>
            <a:endParaRPr lang="en-US" sz="1350" dirty="0"/>
          </a:p>
          <a:p>
            <a:pPr indent="0" marL="0">
              <a:spcAft>
                <a:spcPts val="600"/>
              </a:spcAft>
              <a:buNone/>
            </a:pPr>
            <a:r>
              <a:rPr lang="en-US" sz="1350" dirty="0">
                <a:solidFill>
                  <a:srgbClr val="15232A"/>
                </a:solidFill>
                <a:latin typeface="Calibri" pitchFamily="34" charset="0"/>
                <a:ea typeface="Calibri" pitchFamily="34" charset="-122"/>
                <a:cs typeface="Calibri" pitchFamily="34" charset="-120"/>
              </a:rPr>
              <a:t>+120 min: -9.68 mg/dL (95% CI -11.68 to -7.99)</a:t>
            </a:r>
            <a:endParaRPr lang="en-US" sz="1350" dirty="0"/>
          </a:p>
        </p:txBody>
      </p:sp>
      <p:sp>
        <p:nvSpPr>
          <p:cNvPr id="6" name="Text 3"/>
          <p:cNvSpPr txBox="1"/>
          <p:nvPr/>
        </p:nvSpPr>
        <p:spPr>
          <a:xfrm>
            <a:off x="7863840" y="3246120"/>
            <a:ext cx="3749040" cy="365760"/>
          </a:xfrm>
          <a:prstGeom prst="rect">
            <a:avLst/>
          </a:prstGeom>
          <a:noFill/>
          <a:ln/>
        </p:spPr>
        <p:txBody>
          <a:bodyPr wrap="square" lIns="0" tIns="0" rIns="0" bIns="0" rtlCol="0" anchor="t"/>
          <a:lstStyle/>
          <a:p>
            <a:pPr indent="0" marL="0">
              <a:buNone/>
            </a:pPr>
            <a:r>
              <a:rPr lang="en-US" sz="1500" b="1" dirty="0">
                <a:solidFill>
                  <a:srgbClr val="0D5F73"/>
                </a:solidFill>
                <a:latin typeface="Calibri" pitchFamily="34" charset="0"/>
                <a:ea typeface="Calibri" pitchFamily="34" charset="-122"/>
                <a:cs typeface="Calibri" pitchFamily="34" charset="-120"/>
              </a:rPr>
              <a:t>Clinical safety</a:t>
            </a:r>
            <a:endParaRPr lang="en-US" sz="1500" dirty="0"/>
          </a:p>
        </p:txBody>
      </p:sp>
      <p:sp>
        <p:nvSpPr>
          <p:cNvPr id="7" name="Text 4"/>
          <p:cNvSpPr txBox="1"/>
          <p:nvPr/>
        </p:nvSpPr>
        <p:spPr>
          <a:xfrm>
            <a:off x="7863840" y="3657600"/>
            <a:ext cx="3749040" cy="822960"/>
          </a:xfrm>
          <a:prstGeom prst="rect">
            <a:avLst/>
          </a:prstGeom>
          <a:noFill/>
          <a:ln/>
        </p:spPr>
        <p:txBody>
          <a:bodyPr wrap="square" lIns="0" tIns="0" rIns="0" bIns="0" rtlCol="0" anchor="t"/>
          <a:lstStyle/>
          <a:p>
            <a:pPr indent="0" marL="0">
              <a:buNone/>
            </a:pPr>
            <a:r>
              <a:rPr lang="en-US" sz="1350" dirty="0">
                <a:solidFill>
                  <a:srgbClr val="15232A"/>
                </a:solidFill>
                <a:latin typeface="Calibri" pitchFamily="34" charset="0"/>
                <a:ea typeface="Calibri" pitchFamily="34" charset="-122"/>
                <a:cs typeface="Calibri" pitchFamily="34" charset="-120"/>
              </a:rPr>
              <a:t>Parkes type-2 error grid, zones A+B: 100.0% / 100.0% / 99.4% at 30 / 60 / 120 min</a:t>
            </a:r>
            <a:endParaRPr lang="en-US" sz="1350" dirty="0"/>
          </a:p>
        </p:txBody>
      </p:sp>
      <p:sp>
        <p:nvSpPr>
          <p:cNvPr id="8" name="Text 5"/>
          <p:cNvSpPr txBox="1"/>
          <p:nvPr/>
        </p:nvSpPr>
        <p:spPr>
          <a:xfrm>
            <a:off x="7863840" y="4572000"/>
            <a:ext cx="3749040" cy="365760"/>
          </a:xfrm>
          <a:prstGeom prst="rect">
            <a:avLst/>
          </a:prstGeom>
          <a:noFill/>
          <a:ln/>
        </p:spPr>
        <p:txBody>
          <a:bodyPr wrap="square" lIns="0" tIns="0" rIns="0" bIns="0" rtlCol="0" anchor="t"/>
          <a:lstStyle/>
          <a:p>
            <a:pPr indent="0" marL="0">
              <a:buNone/>
            </a:pPr>
            <a:r>
              <a:rPr lang="en-US" sz="1500" b="1" dirty="0">
                <a:solidFill>
                  <a:srgbClr val="0D5F73"/>
                </a:solidFill>
                <a:latin typeface="Calibri" pitchFamily="34" charset="0"/>
                <a:ea typeface="Calibri" pitchFamily="34" charset="-122"/>
                <a:cs typeface="Calibri" pitchFamily="34" charset="-120"/>
              </a:rPr>
              <a:t>GRU and foundation model</a:t>
            </a:r>
            <a:endParaRPr lang="en-US" sz="1500" dirty="0"/>
          </a:p>
        </p:txBody>
      </p:sp>
      <p:sp>
        <p:nvSpPr>
          <p:cNvPr id="9" name="Text 6"/>
          <p:cNvSpPr txBox="1"/>
          <p:nvPr/>
        </p:nvSpPr>
        <p:spPr>
          <a:xfrm>
            <a:off x="7863840" y="4983480"/>
            <a:ext cx="3749040" cy="1188720"/>
          </a:xfrm>
          <a:prstGeom prst="rect">
            <a:avLst/>
          </a:prstGeom>
          <a:noFill/>
          <a:ln/>
        </p:spPr>
        <p:txBody>
          <a:bodyPr wrap="square" lIns="0" tIns="0" rIns="0" bIns="0" rtlCol="0" anchor="t"/>
          <a:lstStyle/>
          <a:p>
            <a:pPr indent="0" marL="0">
              <a:buNone/>
            </a:pPr>
            <a:r>
              <a:rPr lang="en-US" sz="1350" dirty="0">
                <a:solidFill>
                  <a:srgbClr val="15232A"/>
                </a:solidFill>
                <a:latin typeface="Calibri" pitchFamily="34" charset="0"/>
                <a:ea typeface="Calibri" pitchFamily="34" charset="-122"/>
                <a:cs typeface="Calibri" pitchFamily="34" charset="-120"/>
              </a:rPr>
              <a:t>Tuned GRU vs Pratirup at 60 min: 0.19 mg/dL (95% CI 0.02 to 0.35), about 1%: we serve the model we can explain. Chronos-Bolt zero-shot: 18.7 mg/dL.</a:t>
            </a:r>
            <a:endParaRPr lang="en-US" sz="135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6676F"/>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rgbClr val="15232A"/>
                </a:solidFill>
                <a:latin typeface="Cambria" pitchFamily="34" charset="0"/>
                <a:ea typeface="Cambria" pitchFamily="34" charset="-122"/>
                <a:cs typeface="Cambria" pitchFamily="34" charset="-120"/>
              </a:rPr>
              <a:t>What each data stream adds, including what did not help</a:t>
            </a:r>
            <a:endParaRPr lang="en-US" sz="3000" dirty="0"/>
          </a:p>
        </p:txBody>
      </p:sp>
      <p:graphicFrame>
        <p:nvGraphicFramePr>
          <p:cNvPr id="3" name="Chart 0" descr=""/>
          <p:cNvGraphicFramePr/>
          <p:nvPr/>
        </p:nvGraphicFramePr>
        <p:xfrm>
          <a:off x="548640" y="1234440"/>
          <a:ext cx="6583680" cy="493776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452360" y="1325880"/>
            <a:ext cx="4160520" cy="2148840"/>
          </a:xfrm>
          <a:prstGeom prst="roundRect">
            <a:avLst>
              <a:gd name="adj" fmla="val 3404"/>
            </a:avLst>
          </a:prstGeom>
          <a:solidFill>
            <a:srgbClr val="E1EFF2"/>
          </a:solidFill>
          <a:ln w="12700">
            <a:solidFill>
              <a:srgbClr val="E1EFF2"/>
            </a:solidFill>
            <a:prstDash val="solid"/>
          </a:ln>
        </p:spPr>
      </p:sp>
      <p:sp>
        <p:nvSpPr>
          <p:cNvPr id="5" name="Text 2"/>
          <p:cNvSpPr txBox="1"/>
          <p:nvPr/>
        </p:nvSpPr>
        <p:spPr>
          <a:xfrm>
            <a:off x="7653528" y="1490472"/>
            <a:ext cx="3758184" cy="365760"/>
          </a:xfrm>
          <a:prstGeom prst="rect">
            <a:avLst/>
          </a:prstGeom>
          <a:noFill/>
          <a:ln/>
        </p:spPr>
        <p:txBody>
          <a:bodyPr wrap="square" lIns="0" tIns="0" rIns="0" bIns="0" rtlCol="0" anchor="t"/>
          <a:lstStyle/>
          <a:p>
            <a:pPr indent="0" marL="0">
              <a:buNone/>
            </a:pPr>
            <a:r>
              <a:rPr lang="en-US" sz="1500" b="1" dirty="0">
                <a:solidFill>
                  <a:srgbClr val="0D5F73"/>
                </a:solidFill>
                <a:latin typeface="Calibri" pitchFamily="34" charset="0"/>
                <a:ea typeface="Calibri" pitchFamily="34" charset="-122"/>
                <a:cs typeface="Calibri" pitchFamily="34" charset="-120"/>
              </a:rPr>
              <a:t>Helped most: the patient's own history</a:t>
            </a:r>
            <a:endParaRPr lang="en-US" sz="1500" dirty="0"/>
          </a:p>
        </p:txBody>
      </p:sp>
      <p:sp>
        <p:nvSpPr>
          <p:cNvPr id="6" name="Text 3"/>
          <p:cNvSpPr txBox="1"/>
          <p:nvPr/>
        </p:nvSpPr>
        <p:spPr>
          <a:xfrm>
            <a:off x="7653528" y="1892808"/>
            <a:ext cx="3758184" cy="1463040"/>
          </a:xfrm>
          <a:prstGeom prst="rect">
            <a:avLst/>
          </a:prstGeom>
          <a:noFill/>
          <a:ln/>
        </p:spPr>
        <p:txBody>
          <a:bodyPr wrap="square" lIns="0" tIns="0" rIns="0" bIns="0" rtlCol="0" anchor="t"/>
          <a:lstStyle/>
          <a:p>
            <a:pPr indent="0" marL="0">
              <a:buNone/>
            </a:pPr>
            <a:r>
              <a:rPr lang="en-US" sz="1300" dirty="0">
                <a:solidFill>
                  <a:srgbClr val="15232A"/>
                </a:solidFill>
                <a:latin typeface="Calibri" pitchFamily="34" charset="0"/>
                <a:ea typeface="Calibri" pitchFamily="34" charset="-122"/>
                <a:cs typeface="Calibri" pitchFamily="34" charset="-120"/>
              </a:rPr>
              <a:t>What this person's glucose usually does at this time of day, learned from their previous days. That is the twin's personal state at work.</a:t>
            </a:r>
            <a:endParaRPr lang="en-US" sz="1300" dirty="0"/>
          </a:p>
        </p:txBody>
      </p:sp>
      <p:sp>
        <p:nvSpPr>
          <p:cNvPr id="7" name="Shape 4"/>
          <p:cNvSpPr/>
          <p:nvPr/>
        </p:nvSpPr>
        <p:spPr>
          <a:xfrm>
            <a:off x="7452360" y="3657600"/>
            <a:ext cx="4160520" cy="2514600"/>
          </a:xfrm>
          <a:prstGeom prst="roundRect">
            <a:avLst>
              <a:gd name="adj" fmla="val 2909"/>
            </a:avLst>
          </a:prstGeom>
          <a:solidFill>
            <a:srgbClr val="F3F6F7"/>
          </a:solidFill>
          <a:ln w="12700">
            <a:solidFill>
              <a:srgbClr val="F3F6F7"/>
            </a:solidFill>
            <a:prstDash val="solid"/>
          </a:ln>
        </p:spPr>
      </p:sp>
      <p:sp>
        <p:nvSpPr>
          <p:cNvPr id="8" name="Text 5"/>
          <p:cNvSpPr txBox="1"/>
          <p:nvPr/>
        </p:nvSpPr>
        <p:spPr>
          <a:xfrm>
            <a:off x="7653528" y="3822192"/>
            <a:ext cx="3758184" cy="365760"/>
          </a:xfrm>
          <a:prstGeom prst="rect">
            <a:avLst/>
          </a:prstGeom>
          <a:noFill/>
          <a:ln/>
        </p:spPr>
        <p:txBody>
          <a:bodyPr wrap="square" lIns="0" tIns="0" rIns="0" bIns="0" rtlCol="0" anchor="t"/>
          <a:lstStyle/>
          <a:p>
            <a:pPr indent="0" marL="0">
              <a:buNone/>
            </a:pPr>
            <a:r>
              <a:rPr lang="en-US" sz="1500" b="1" dirty="0">
                <a:solidFill>
                  <a:srgbClr val="0D5F73"/>
                </a:solidFill>
                <a:latin typeface="Calibri" pitchFamily="34" charset="0"/>
                <a:ea typeface="Calibri" pitchFamily="34" charset="-122"/>
                <a:cs typeface="Calibri" pitchFamily="34" charset="-120"/>
              </a:rPr>
              <a:t>Did not help measurably</a:t>
            </a:r>
            <a:endParaRPr lang="en-US" sz="1500" dirty="0"/>
          </a:p>
        </p:txBody>
      </p:sp>
      <p:sp>
        <p:nvSpPr>
          <p:cNvPr id="9" name="Text 6"/>
          <p:cNvSpPr txBox="1"/>
          <p:nvPr/>
        </p:nvSpPr>
        <p:spPr>
          <a:xfrm>
            <a:off x="7653528" y="4224528"/>
            <a:ext cx="3758184" cy="1828800"/>
          </a:xfrm>
          <a:prstGeom prst="rect">
            <a:avLst/>
          </a:prstGeom>
          <a:noFill/>
          <a:ln/>
        </p:spPr>
        <p:txBody>
          <a:bodyPr wrap="square" lIns="0" tIns="0" rIns="0" bIns="0" rtlCol="0" anchor="t"/>
          <a:lstStyle/>
          <a:p>
            <a:pPr indent="0" marL="0">
              <a:buNone/>
            </a:pPr>
            <a:r>
              <a:rPr lang="en-US" sz="1300" dirty="0">
                <a:solidFill>
                  <a:srgbClr val="15232A"/>
                </a:solidFill>
                <a:latin typeface="Calibri" pitchFamily="34" charset="0"/>
                <a:ea typeface="Calibri" pitchFamily="34" charset="-122"/>
                <a:cs typeface="Calibri" pitchFamily="34" charset="-120"/>
              </a:rPr>
              <a:t>Clinical-record fields beyond CGM and logs; online self-correction (-0.02 mg/dL, CI crosses 0); Fitbit heart rate and activity in CGMacros (0.06 mg/dL, CI crosses 0). We report this rather than hide it.</a:t>
            </a:r>
            <a:endParaRPr lang="en-US" sz="13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6676F"/>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rgbClr val="15232A"/>
                </a:solidFill>
                <a:latin typeface="Cambria" pitchFamily="34" charset="0"/>
                <a:ea typeface="Cambria" pitchFamily="34" charset="-122"/>
                <a:cs typeface="Cambria" pitchFamily="34" charset="-120"/>
              </a:rPr>
              <a:t>Honest uncertainty: the 80% band holds about 80% of the time</a:t>
            </a:r>
            <a:endParaRPr lang="en-US" sz="3000" dirty="0"/>
          </a:p>
        </p:txBody>
      </p:sp>
      <p:sp>
        <p:nvSpPr>
          <p:cNvPr id="3" name="Text 1"/>
          <p:cNvSpPr txBox="1"/>
          <p:nvPr/>
        </p:nvSpPr>
        <p:spPr>
          <a:xfrm>
            <a:off x="548640" y="1371600"/>
            <a:ext cx="3474720" cy="868680"/>
          </a:xfrm>
          <a:prstGeom prst="rect">
            <a:avLst/>
          </a:prstGeom>
          <a:noFill/>
          <a:ln/>
        </p:spPr>
        <p:txBody>
          <a:bodyPr wrap="square" lIns="0" tIns="0" rIns="0" bIns="0" rtlCol="0" anchor="b"/>
          <a:lstStyle/>
          <a:p>
            <a:pPr indent="0" marL="0">
              <a:buNone/>
            </a:pPr>
            <a:r>
              <a:rPr lang="en-US" sz="4400" b="1" dirty="0">
                <a:solidFill>
                  <a:srgbClr val="0D5F73"/>
                </a:solidFill>
                <a:latin typeface="Cambria" pitchFamily="34" charset="0"/>
                <a:ea typeface="Cambria" pitchFamily="34" charset="-122"/>
                <a:cs typeface="Cambria" pitchFamily="34" charset="-120"/>
              </a:rPr>
              <a:t>80.8%</a:t>
            </a:r>
            <a:endParaRPr lang="en-US" sz="4400" dirty="0"/>
          </a:p>
        </p:txBody>
      </p:sp>
      <p:sp>
        <p:nvSpPr>
          <p:cNvPr id="4" name="Text 2"/>
          <p:cNvSpPr txBox="1"/>
          <p:nvPr/>
        </p:nvSpPr>
        <p:spPr>
          <a:xfrm>
            <a:off x="548640" y="2286000"/>
            <a:ext cx="3474720" cy="822960"/>
          </a:xfrm>
          <a:prstGeom prst="rect">
            <a:avLst/>
          </a:prstGeom>
          <a:noFill/>
          <a:ln/>
        </p:spPr>
        <p:txBody>
          <a:bodyPr wrap="square" lIns="0" tIns="0" rIns="0" bIns="0" rtlCol="0" anchor="t"/>
          <a:lstStyle/>
          <a:p>
            <a:pPr indent="0" marL="0">
              <a:buNone/>
            </a:pPr>
            <a:r>
              <a:rPr lang="en-US" sz="1300" dirty="0">
                <a:solidFill>
                  <a:srgbClr val="56676F"/>
                </a:solidFill>
                <a:latin typeface="Calibri" pitchFamily="34" charset="0"/>
                <a:ea typeface="Calibri" pitchFamily="34" charset="-122"/>
                <a:cs typeface="Calibri" pitchFamily="34" charset="-120"/>
              </a:rPr>
              <a:t>of outcomes inside the 80% interval at +30 min (mean width 27.7 mg/dL)</a:t>
            </a:r>
            <a:endParaRPr lang="en-US" sz="1300" dirty="0"/>
          </a:p>
        </p:txBody>
      </p:sp>
      <p:sp>
        <p:nvSpPr>
          <p:cNvPr id="5" name="Text 3"/>
          <p:cNvSpPr txBox="1"/>
          <p:nvPr/>
        </p:nvSpPr>
        <p:spPr>
          <a:xfrm>
            <a:off x="4297680" y="1371600"/>
            <a:ext cx="3474720" cy="868680"/>
          </a:xfrm>
          <a:prstGeom prst="rect">
            <a:avLst/>
          </a:prstGeom>
          <a:noFill/>
          <a:ln/>
        </p:spPr>
        <p:txBody>
          <a:bodyPr wrap="square" lIns="0" tIns="0" rIns="0" bIns="0" rtlCol="0" anchor="b"/>
          <a:lstStyle/>
          <a:p>
            <a:pPr indent="0" marL="0">
              <a:buNone/>
            </a:pPr>
            <a:r>
              <a:rPr lang="en-US" sz="4400" b="1" dirty="0">
                <a:solidFill>
                  <a:srgbClr val="0D5F73"/>
                </a:solidFill>
                <a:latin typeface="Cambria" pitchFamily="34" charset="0"/>
                <a:ea typeface="Cambria" pitchFamily="34" charset="-122"/>
                <a:cs typeface="Cambria" pitchFamily="34" charset="-120"/>
              </a:rPr>
              <a:t>81.1%</a:t>
            </a:r>
            <a:endParaRPr lang="en-US" sz="4400" dirty="0"/>
          </a:p>
        </p:txBody>
      </p:sp>
      <p:sp>
        <p:nvSpPr>
          <p:cNvPr id="6" name="Text 4"/>
          <p:cNvSpPr txBox="1"/>
          <p:nvPr/>
        </p:nvSpPr>
        <p:spPr>
          <a:xfrm>
            <a:off x="4297680" y="2286000"/>
            <a:ext cx="3474720" cy="822960"/>
          </a:xfrm>
          <a:prstGeom prst="rect">
            <a:avLst/>
          </a:prstGeom>
          <a:noFill/>
          <a:ln/>
        </p:spPr>
        <p:txBody>
          <a:bodyPr wrap="square" lIns="0" tIns="0" rIns="0" bIns="0" rtlCol="0" anchor="t"/>
          <a:lstStyle/>
          <a:p>
            <a:pPr indent="0" marL="0">
              <a:buNone/>
            </a:pPr>
            <a:r>
              <a:rPr lang="en-US" sz="1300" dirty="0">
                <a:solidFill>
                  <a:srgbClr val="56676F"/>
                </a:solidFill>
                <a:latin typeface="Calibri" pitchFamily="34" charset="0"/>
                <a:ea typeface="Calibri" pitchFamily="34" charset="-122"/>
                <a:cs typeface="Calibri" pitchFamily="34" charset="-120"/>
              </a:rPr>
              <a:t>of outcomes inside the 80% interval at +60 min (mean width 46.7 mg/dL)</a:t>
            </a:r>
            <a:endParaRPr lang="en-US" sz="1300" dirty="0"/>
          </a:p>
        </p:txBody>
      </p:sp>
      <p:sp>
        <p:nvSpPr>
          <p:cNvPr id="7" name="Text 5"/>
          <p:cNvSpPr txBox="1"/>
          <p:nvPr/>
        </p:nvSpPr>
        <p:spPr>
          <a:xfrm>
            <a:off x="8046720" y="1371600"/>
            <a:ext cx="3474720" cy="868680"/>
          </a:xfrm>
          <a:prstGeom prst="rect">
            <a:avLst/>
          </a:prstGeom>
          <a:noFill/>
          <a:ln/>
        </p:spPr>
        <p:txBody>
          <a:bodyPr wrap="square" lIns="0" tIns="0" rIns="0" bIns="0" rtlCol="0" anchor="b"/>
          <a:lstStyle/>
          <a:p>
            <a:pPr indent="0" marL="0">
              <a:buNone/>
            </a:pPr>
            <a:r>
              <a:rPr lang="en-US" sz="4400" b="1" dirty="0">
                <a:solidFill>
                  <a:srgbClr val="0D5F73"/>
                </a:solidFill>
                <a:latin typeface="Cambria" pitchFamily="34" charset="0"/>
                <a:ea typeface="Cambria" pitchFamily="34" charset="-122"/>
                <a:cs typeface="Cambria" pitchFamily="34" charset="-120"/>
              </a:rPr>
              <a:t>82.9%</a:t>
            </a:r>
            <a:endParaRPr lang="en-US" sz="4400" dirty="0"/>
          </a:p>
        </p:txBody>
      </p:sp>
      <p:sp>
        <p:nvSpPr>
          <p:cNvPr id="8" name="Text 6"/>
          <p:cNvSpPr txBox="1"/>
          <p:nvPr/>
        </p:nvSpPr>
        <p:spPr>
          <a:xfrm>
            <a:off x="8046720" y="2286000"/>
            <a:ext cx="3474720" cy="822960"/>
          </a:xfrm>
          <a:prstGeom prst="rect">
            <a:avLst/>
          </a:prstGeom>
          <a:noFill/>
          <a:ln/>
        </p:spPr>
        <p:txBody>
          <a:bodyPr wrap="square" lIns="0" tIns="0" rIns="0" bIns="0" rtlCol="0" anchor="t"/>
          <a:lstStyle/>
          <a:p>
            <a:pPr indent="0" marL="0">
              <a:buNone/>
            </a:pPr>
            <a:r>
              <a:rPr lang="en-US" sz="1300" dirty="0">
                <a:solidFill>
                  <a:srgbClr val="56676F"/>
                </a:solidFill>
                <a:latin typeface="Calibri" pitchFamily="34" charset="0"/>
                <a:ea typeface="Calibri" pitchFamily="34" charset="-122"/>
                <a:cs typeface="Calibri" pitchFamily="34" charset="-120"/>
              </a:rPr>
              <a:t>of outcomes inside the 80% interval at +120 min (mean width 66.5 mg/dL)</a:t>
            </a:r>
            <a:endParaRPr lang="en-US" sz="1300" dirty="0"/>
          </a:p>
        </p:txBody>
      </p:sp>
      <p:sp>
        <p:nvSpPr>
          <p:cNvPr id="9" name="Shape 7"/>
          <p:cNvSpPr/>
          <p:nvPr/>
        </p:nvSpPr>
        <p:spPr>
          <a:xfrm>
            <a:off x="548640" y="3749040"/>
            <a:ext cx="5394960" cy="1783080"/>
          </a:xfrm>
          <a:prstGeom prst="roundRect">
            <a:avLst>
              <a:gd name="adj" fmla="val 4103"/>
            </a:avLst>
          </a:prstGeom>
          <a:solidFill>
            <a:srgbClr val="E1EFF2"/>
          </a:solidFill>
          <a:ln w="12700">
            <a:solidFill>
              <a:srgbClr val="E1EFF2"/>
            </a:solidFill>
            <a:prstDash val="solid"/>
          </a:ln>
        </p:spPr>
      </p:sp>
      <p:sp>
        <p:nvSpPr>
          <p:cNvPr id="10" name="Text 8"/>
          <p:cNvSpPr txBox="1"/>
          <p:nvPr/>
        </p:nvSpPr>
        <p:spPr>
          <a:xfrm>
            <a:off x="749808" y="3913632"/>
            <a:ext cx="4992624" cy="365760"/>
          </a:xfrm>
          <a:prstGeom prst="rect">
            <a:avLst/>
          </a:prstGeom>
          <a:noFill/>
          <a:ln/>
        </p:spPr>
        <p:txBody>
          <a:bodyPr wrap="square" lIns="0" tIns="0" rIns="0" bIns="0" rtlCol="0" anchor="t"/>
          <a:lstStyle/>
          <a:p>
            <a:pPr indent="0" marL="0">
              <a:buNone/>
            </a:pPr>
            <a:r>
              <a:rPr lang="en-US" sz="1500" b="1" dirty="0">
                <a:solidFill>
                  <a:srgbClr val="0D5F73"/>
                </a:solidFill>
                <a:latin typeface="Calibri" pitchFamily="34" charset="0"/>
                <a:ea typeface="Calibri" pitchFamily="34" charset="-122"/>
                <a:cs typeface="Calibri" pitchFamily="34" charset="-120"/>
              </a:rPr>
              <a:t>How the interval is built</a:t>
            </a:r>
            <a:endParaRPr lang="en-US" sz="1500" dirty="0"/>
          </a:p>
        </p:txBody>
      </p:sp>
      <p:sp>
        <p:nvSpPr>
          <p:cNvPr id="11" name="Text 9"/>
          <p:cNvSpPr txBox="1"/>
          <p:nvPr/>
        </p:nvSpPr>
        <p:spPr>
          <a:xfrm>
            <a:off x="749808" y="4315968"/>
            <a:ext cx="4992624" cy="1097280"/>
          </a:xfrm>
          <a:prstGeom prst="rect">
            <a:avLst/>
          </a:prstGeom>
          <a:noFill/>
          <a:ln/>
        </p:spPr>
        <p:txBody>
          <a:bodyPr wrap="square" lIns="0" tIns="0" rIns="0" bIns="0" rtlCol="0" anchor="t"/>
          <a:lstStyle/>
          <a:p>
            <a:pPr indent="0" marL="0">
              <a:buNone/>
            </a:pPr>
            <a:r>
              <a:rPr lang="en-US" sz="1300" dirty="0">
                <a:solidFill>
                  <a:srgbClr val="15232A"/>
                </a:solidFill>
                <a:latin typeface="Calibri" pitchFamily="34" charset="0"/>
                <a:ea typeface="Calibri" pitchFamily="34" charset="-122"/>
                <a:cs typeface="Calibri" pitchFamily="34" charset="-120"/>
              </a:rPr>
              <a:t>Quantile models give a raw band; conformal calibration on out-of-fold predictions from development patients widens it just enough to reach 80%. The test patients were never used.</a:t>
            </a:r>
            <a:endParaRPr lang="en-US" sz="1300" dirty="0"/>
          </a:p>
        </p:txBody>
      </p:sp>
      <p:sp>
        <p:nvSpPr>
          <p:cNvPr id="12" name="Shape 10"/>
          <p:cNvSpPr/>
          <p:nvPr/>
        </p:nvSpPr>
        <p:spPr>
          <a:xfrm>
            <a:off x="6217920" y="3749040"/>
            <a:ext cx="5394960" cy="1783080"/>
          </a:xfrm>
          <a:prstGeom prst="roundRect">
            <a:avLst>
              <a:gd name="adj" fmla="val 4103"/>
            </a:avLst>
          </a:prstGeom>
          <a:solidFill>
            <a:srgbClr val="F3F6F7"/>
          </a:solidFill>
          <a:ln w="12700">
            <a:solidFill>
              <a:srgbClr val="F3F6F7"/>
            </a:solidFill>
            <a:prstDash val="solid"/>
          </a:ln>
        </p:spPr>
      </p:sp>
      <p:sp>
        <p:nvSpPr>
          <p:cNvPr id="13" name="Text 11"/>
          <p:cNvSpPr txBox="1"/>
          <p:nvPr/>
        </p:nvSpPr>
        <p:spPr>
          <a:xfrm>
            <a:off x="6419088" y="3913632"/>
            <a:ext cx="4992624" cy="365760"/>
          </a:xfrm>
          <a:prstGeom prst="rect">
            <a:avLst/>
          </a:prstGeom>
          <a:noFill/>
          <a:ln/>
        </p:spPr>
        <p:txBody>
          <a:bodyPr wrap="square" lIns="0" tIns="0" rIns="0" bIns="0" rtlCol="0" anchor="t"/>
          <a:lstStyle/>
          <a:p>
            <a:pPr indent="0" marL="0">
              <a:buNone/>
            </a:pPr>
            <a:r>
              <a:rPr lang="en-US" sz="1500" b="1" dirty="0">
                <a:solidFill>
                  <a:srgbClr val="0D5F73"/>
                </a:solidFill>
                <a:latin typeface="Calibri" pitchFamily="34" charset="0"/>
                <a:ea typeface="Calibri" pitchFamily="34" charset="-122"/>
                <a:cs typeface="Calibri" pitchFamily="34" charset="-120"/>
              </a:rPr>
              <a:t>Why it matters clinically</a:t>
            </a:r>
            <a:endParaRPr lang="en-US" sz="1500" dirty="0"/>
          </a:p>
        </p:txBody>
      </p:sp>
      <p:sp>
        <p:nvSpPr>
          <p:cNvPr id="14" name="Text 12"/>
          <p:cNvSpPr txBox="1"/>
          <p:nvPr/>
        </p:nvSpPr>
        <p:spPr>
          <a:xfrm>
            <a:off x="6419088" y="4315968"/>
            <a:ext cx="4992624" cy="1097280"/>
          </a:xfrm>
          <a:prstGeom prst="rect">
            <a:avLst/>
          </a:prstGeom>
          <a:noFill/>
          <a:ln/>
        </p:spPr>
        <p:txBody>
          <a:bodyPr wrap="square" lIns="0" tIns="0" rIns="0" bIns="0" rtlCol="0" anchor="t"/>
          <a:lstStyle/>
          <a:p>
            <a:pPr indent="0" marL="0">
              <a:buNone/>
            </a:pPr>
            <a:r>
              <a:rPr lang="en-US" sz="1300" dirty="0">
                <a:solidFill>
                  <a:srgbClr val="15232A"/>
                </a:solidFill>
                <a:latin typeface="Calibri" pitchFamily="34" charset="0"/>
                <a:ea typeface="Calibri" pitchFamily="34" charset="-122"/>
                <a:cs typeface="Calibri" pitchFamily="34" charset="-120"/>
              </a:rPr>
              <a:t>A care team can trust the band, not just the line. It held on CGMacros too: 78% in T2D, 81% in prediabetes. Under heavy sensor noise coverage falls (71% at ±10 mg/dL), a known limitation.</a:t>
            </a:r>
            <a:endParaRPr lang="en-US" sz="13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6676F"/>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rgbClr val="15232A"/>
                </a:solidFill>
                <a:latin typeface="Cambria" pitchFamily="34" charset="0"/>
                <a:ea typeface="Cambria" pitchFamily="34" charset="-122"/>
                <a:cs typeface="Cambria" pitchFamily="34" charset="-120"/>
              </a:rPr>
              <a:t>Alerts a care team can live with</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651760"/>
                <a:gridCol w="1737360"/>
                <a:gridCol w="1280160"/>
                <a:gridCol w="1005840"/>
                <a:gridCol w="2194560"/>
                <a:gridCol w="2194560"/>
              </a:tblGrid>
              <a:tr h="457200">
                <a:tc>
                  <a:txBody>
                    <a:bodyPr/>
                    <a:lstStyle/>
                    <a:p>
                      <a:pPr indent="0" marL="0">
                        <a:buNone/>
                      </a:pPr>
                      <a:r>
                        <a:rPr lang="en-US" sz="1400" b="1" dirty="0">
                          <a:solidFill>
                            <a:srgbClr val="15232A"/>
                          </a:solidFill>
                          <a:latin typeface="Calibri" pitchFamily="34" charset="0"/>
                          <a:ea typeface="Calibri" pitchFamily="34" charset="-122"/>
                          <a:cs typeface="Calibri" pitchFamily="34" charset="-120"/>
                        </a:rPr>
                        <a:t>Cohort</a:t>
                      </a:r>
                      <a:endParaRPr lang="en-US" sz="1400" dirty="0">
                        <a:latin typeface="Calibri" charset="0"/>
                        <a:ea typeface="Calibri" charset="0"/>
                        <a:cs typeface="Calibri" charset="0"/>
                      </a:endParaRPr>
                    </a:p>
                  </a:txBody>
                  <a:tcPr marL="101600" marR="101600" marT="50800" marB="50800" anchor="ctr">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F3F6F7"/>
                    </a:solidFill>
                  </a:tcPr>
                </a:tc>
                <a:tc>
                  <a:txBody>
                    <a:bodyPr/>
                    <a:lstStyle/>
                    <a:p>
                      <a:pPr indent="0" marL="0">
                        <a:buNone/>
                      </a:pPr>
                      <a:r>
                        <a:rPr lang="en-US" sz="1400" b="1" dirty="0">
                          <a:solidFill>
                            <a:srgbClr val="15232A"/>
                          </a:solidFill>
                          <a:latin typeface="Calibri" pitchFamily="34" charset="0"/>
                          <a:ea typeface="Calibri" pitchFamily="34" charset="-122"/>
                          <a:cs typeface="Calibri" pitchFamily="34" charset="-120"/>
                        </a:rPr>
                        <a:t>Alerts / patient-day</a:t>
                      </a:r>
                      <a:endParaRPr lang="en-US" sz="1400" dirty="0">
                        <a:latin typeface="Calibri" charset="0"/>
                        <a:ea typeface="Calibri" charset="0"/>
                        <a:cs typeface="Calibri" charset="0"/>
                      </a:endParaRPr>
                    </a:p>
                  </a:txBody>
                  <a:tcPr marL="101600" marR="101600" marT="50800" marB="50800" anchor="ctr">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F3F6F7"/>
                    </a:solidFill>
                  </a:tcPr>
                </a:tc>
                <a:tc>
                  <a:txBody>
                    <a:bodyPr/>
                    <a:lstStyle/>
                    <a:p>
                      <a:pPr indent="0" marL="0">
                        <a:buNone/>
                      </a:pPr>
                      <a:r>
                        <a:rPr lang="en-US" sz="1400" b="1" dirty="0">
                          <a:solidFill>
                            <a:srgbClr val="15232A"/>
                          </a:solidFill>
                          <a:latin typeface="Calibri" pitchFamily="34" charset="0"/>
                          <a:ea typeface="Calibri" pitchFamily="34" charset="-122"/>
                          <a:cs typeface="Calibri" pitchFamily="34" charset="-120"/>
                        </a:rPr>
                        <a:t>False / day</a:t>
                      </a:r>
                      <a:endParaRPr lang="en-US" sz="1400" dirty="0">
                        <a:latin typeface="Calibri" charset="0"/>
                        <a:ea typeface="Calibri" charset="0"/>
                        <a:cs typeface="Calibri" charset="0"/>
                      </a:endParaRPr>
                    </a:p>
                  </a:txBody>
                  <a:tcPr marL="101600" marR="101600" marT="50800" marB="50800" anchor="ctr">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F3F6F7"/>
                    </a:solidFill>
                  </a:tcPr>
                </a:tc>
                <a:tc>
                  <a:txBody>
                    <a:bodyPr/>
                    <a:lstStyle/>
                    <a:p>
                      <a:pPr indent="0" marL="0">
                        <a:buNone/>
                      </a:pPr>
                      <a:r>
                        <a:rPr lang="en-US" sz="1400" b="1" dirty="0">
                          <a:solidFill>
                            <a:srgbClr val="15232A"/>
                          </a:solidFill>
                          <a:latin typeface="Calibri" pitchFamily="34" charset="0"/>
                          <a:ea typeface="Calibri" pitchFamily="34" charset="-122"/>
                          <a:cs typeface="Calibri" pitchFamily="34" charset="-120"/>
                        </a:rPr>
                        <a:t>PPV</a:t>
                      </a:r>
                      <a:endParaRPr lang="en-US" sz="1400" dirty="0">
                        <a:latin typeface="Calibri" charset="0"/>
                        <a:ea typeface="Calibri" charset="0"/>
                        <a:cs typeface="Calibri" charset="0"/>
                      </a:endParaRPr>
                    </a:p>
                  </a:txBody>
                  <a:tcPr marL="101600" marR="101600" marT="50800" marB="50800" anchor="ctr">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F3F6F7"/>
                    </a:solidFill>
                  </a:tcPr>
                </a:tc>
                <a:tc>
                  <a:txBody>
                    <a:bodyPr/>
                    <a:lstStyle/>
                    <a:p>
                      <a:pPr indent="0" marL="0">
                        <a:buNone/>
                      </a:pPr>
                      <a:r>
                        <a:rPr lang="en-US" sz="1400" b="1" dirty="0">
                          <a:solidFill>
                            <a:srgbClr val="15232A"/>
                          </a:solidFill>
                          <a:latin typeface="Calibri" pitchFamily="34" charset="0"/>
                          <a:ea typeface="Calibri" pitchFamily="34" charset="-122"/>
                          <a:cs typeface="Calibri" pitchFamily="34" charset="-120"/>
                        </a:rPr>
                        <a:t>&lt; 70 caught (≥ 30 min)</a:t>
                      </a:r>
                      <a:endParaRPr lang="en-US" sz="1400" dirty="0">
                        <a:latin typeface="Calibri" charset="0"/>
                        <a:ea typeface="Calibri" charset="0"/>
                        <a:cs typeface="Calibri" charset="0"/>
                      </a:endParaRPr>
                    </a:p>
                  </a:txBody>
                  <a:tcPr marL="101600" marR="101600" marT="50800" marB="50800" anchor="ctr">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F3F6F7"/>
                    </a:solidFill>
                  </a:tcPr>
                </a:tc>
                <a:tc>
                  <a:txBody>
                    <a:bodyPr/>
                    <a:lstStyle/>
                    <a:p>
                      <a:pPr indent="0" marL="0">
                        <a:buNone/>
                      </a:pPr>
                      <a:r>
                        <a:rPr lang="en-US" sz="1400" b="1" dirty="0">
                          <a:solidFill>
                            <a:srgbClr val="15232A"/>
                          </a:solidFill>
                          <a:latin typeface="Calibri" pitchFamily="34" charset="0"/>
                          <a:ea typeface="Calibri" pitchFamily="34" charset="-122"/>
                          <a:cs typeface="Calibri" pitchFamily="34" charset="-120"/>
                        </a:rPr>
                        <a:t>&gt; 250 caught (≥ 30 min)</a:t>
                      </a:r>
                      <a:endParaRPr lang="en-US" sz="1400" dirty="0">
                        <a:latin typeface="Calibri" charset="0"/>
                        <a:ea typeface="Calibri" charset="0"/>
                        <a:cs typeface="Calibri" charset="0"/>
                      </a:endParaRPr>
                    </a:p>
                  </a:txBody>
                  <a:tcPr marL="101600" marR="101600" marT="50800" marB="50800" anchor="ctr">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F3F6F7"/>
                    </a:solidFill>
                  </a:tcPr>
                </a:tc>
              </a:tr>
              <a:tr h="457200">
                <a:tc>
                  <a:txBody>
                    <a:bodyPr/>
                    <a:lstStyle/>
                    <a:p>
                      <a:pPr indent="0" marL="0">
                        <a:buNone/>
                      </a:pPr>
                      <a:r>
                        <a:rPr lang="en-US" sz="1400" dirty="0">
                          <a:solidFill>
                            <a:srgbClr val="15232A"/>
                          </a:solidFill>
                          <a:latin typeface="Calibri" pitchFamily="34" charset="0"/>
                          <a:ea typeface="Calibri" pitchFamily="34" charset="-122"/>
                          <a:cs typeface="Calibri" pitchFamily="34" charset="-120"/>
                        </a:rPr>
                        <a:t>Development (CV)</a:t>
                      </a:r>
                      <a:endParaRPr lang="en-US" sz="1400" dirty="0">
                        <a:latin typeface="Calibri" charset="0"/>
                        <a:ea typeface="Calibri" charset="0"/>
                        <a:cs typeface="Calibri" charset="0"/>
                      </a:endParaRPr>
                    </a:p>
                  </a:txBody>
                  <a:tcPr marL="101600" marR="101600" marT="50800" marB="50800" anchor="ctr">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FFFFFF"/>
                    </a:solidFill>
                  </a:tcPr>
                </a:tc>
                <a:tc>
                  <a:txBody>
                    <a:bodyPr/>
                    <a:lstStyle/>
                    <a:p>
                      <a:pPr indent="0" marL="0">
                        <a:buNone/>
                      </a:pPr>
                      <a:r>
                        <a:rPr lang="en-US" sz="1400" dirty="0">
                          <a:solidFill>
                            <a:srgbClr val="15232A"/>
                          </a:solidFill>
                          <a:latin typeface="Calibri" pitchFamily="34" charset="0"/>
                          <a:ea typeface="Calibri" pitchFamily="34" charset="-122"/>
                          <a:cs typeface="Calibri" pitchFamily="34" charset="-120"/>
                        </a:rPr>
                        <a:t>1.54</a:t>
                      </a:r>
                      <a:endParaRPr lang="en-US" sz="1400" dirty="0">
                        <a:latin typeface="Calibri" charset="0"/>
                        <a:ea typeface="Calibri" charset="0"/>
                        <a:cs typeface="Calibri" charset="0"/>
                      </a:endParaRPr>
                    </a:p>
                  </a:txBody>
                  <a:tcPr marL="101600" marR="101600" marT="50800" marB="50800" anchor="ctr">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FFFFFF"/>
                    </a:solidFill>
                  </a:tcPr>
                </a:tc>
                <a:tc>
                  <a:txBody>
                    <a:bodyPr/>
                    <a:lstStyle/>
                    <a:p>
                      <a:pPr indent="0" marL="0">
                        <a:buNone/>
                      </a:pPr>
                      <a:r>
                        <a:rPr lang="en-US" sz="1400" dirty="0">
                          <a:solidFill>
                            <a:srgbClr val="15232A"/>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101600" marR="101600" marT="50800" marB="50800" anchor="ctr">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FFFFFF"/>
                    </a:solidFill>
                  </a:tcPr>
                </a:tc>
                <a:tc>
                  <a:txBody>
                    <a:bodyPr/>
                    <a:lstStyle/>
                    <a:p>
                      <a:pPr indent="0" marL="0">
                        <a:buNone/>
                      </a:pPr>
                      <a:r>
                        <a:rPr lang="en-US" sz="1400" dirty="0">
                          <a:solidFill>
                            <a:srgbClr val="15232A"/>
                          </a:solidFill>
                          <a:latin typeface="Calibri" pitchFamily="34" charset="0"/>
                          <a:ea typeface="Calibri" pitchFamily="34" charset="-122"/>
                          <a:cs typeface="Calibri" pitchFamily="34" charset="-120"/>
                        </a:rPr>
                        <a:t>36%</a:t>
                      </a:r>
                      <a:endParaRPr lang="en-US" sz="1400" dirty="0">
                        <a:latin typeface="Calibri" charset="0"/>
                        <a:ea typeface="Calibri" charset="0"/>
                        <a:cs typeface="Calibri" charset="0"/>
                      </a:endParaRPr>
                    </a:p>
                  </a:txBody>
                  <a:tcPr marL="101600" marR="101600" marT="50800" marB="50800" anchor="ctr">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FFFFFF"/>
                    </a:solidFill>
                  </a:tcPr>
                </a:tc>
                <a:tc>
                  <a:txBody>
                    <a:bodyPr/>
                    <a:lstStyle/>
                    <a:p>
                      <a:pPr indent="0" marL="0">
                        <a:buNone/>
                      </a:pPr>
                      <a:r>
                        <a:rPr lang="en-US" sz="1400" dirty="0">
                          <a:solidFill>
                            <a:srgbClr val="15232A"/>
                          </a:solidFill>
                          <a:latin typeface="Calibri" pitchFamily="34" charset="0"/>
                          <a:ea typeface="Calibri" pitchFamily="34" charset="-122"/>
                          <a:cs typeface="Calibri" pitchFamily="34" charset="-120"/>
                        </a:rPr>
                        <a:t>78% (45%) of 280</a:t>
                      </a:r>
                      <a:endParaRPr lang="en-US" sz="1400" dirty="0">
                        <a:latin typeface="Calibri" charset="0"/>
                        <a:ea typeface="Calibri" charset="0"/>
                        <a:cs typeface="Calibri" charset="0"/>
                      </a:endParaRPr>
                    </a:p>
                  </a:txBody>
                  <a:tcPr marL="101600" marR="101600" marT="50800" marB="50800" anchor="ctr">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FFFFFF"/>
                    </a:solidFill>
                  </a:tcPr>
                </a:tc>
                <a:tc>
                  <a:txBody>
                    <a:bodyPr/>
                    <a:lstStyle/>
                    <a:p>
                      <a:pPr indent="0" marL="0">
                        <a:buNone/>
                      </a:pPr>
                      <a:r>
                        <a:rPr lang="en-US" sz="1400" dirty="0">
                          <a:solidFill>
                            <a:srgbClr val="15232A"/>
                          </a:solidFill>
                          <a:latin typeface="Calibri" pitchFamily="34" charset="0"/>
                          <a:ea typeface="Calibri" pitchFamily="34" charset="-122"/>
                          <a:cs typeface="Calibri" pitchFamily="34" charset="-120"/>
                        </a:rPr>
                        <a:t>73% (40%) of 434</a:t>
                      </a:r>
                      <a:endParaRPr lang="en-US" sz="1400" dirty="0">
                        <a:latin typeface="Calibri" charset="0"/>
                        <a:ea typeface="Calibri" charset="0"/>
                        <a:cs typeface="Calibri" charset="0"/>
                      </a:endParaRPr>
                    </a:p>
                  </a:txBody>
                  <a:tcPr marL="101600" marR="101600" marT="50800" marB="50800" anchor="ctr">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0D5F73"/>
                          </a:solidFill>
                          <a:latin typeface="Calibri" pitchFamily="34" charset="0"/>
                          <a:ea typeface="Calibri" pitchFamily="34" charset="-122"/>
                          <a:cs typeface="Calibri" pitchFamily="34" charset="-120"/>
                        </a:rPr>
                        <a:t>Held-out test</a:t>
                      </a:r>
                      <a:endParaRPr lang="en-US" sz="1400" dirty="0">
                        <a:latin typeface="Calibri" charset="0"/>
                        <a:ea typeface="Calibri" charset="0"/>
                        <a:cs typeface="Calibri" charset="0"/>
                      </a:endParaRPr>
                    </a:p>
                  </a:txBody>
                  <a:tcPr marL="101600" marR="101600" marT="50800" marB="50800" anchor="ctr">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E1EFF2"/>
                    </a:solidFill>
                  </a:tcPr>
                </a:tc>
                <a:tc>
                  <a:txBody>
                    <a:bodyPr/>
                    <a:lstStyle/>
                    <a:p>
                      <a:pPr indent="0" marL="0">
                        <a:buNone/>
                      </a:pPr>
                      <a:r>
                        <a:rPr lang="en-US" sz="1400" b="1" dirty="0">
                          <a:solidFill>
                            <a:srgbClr val="0D5F73"/>
                          </a:solidFill>
                          <a:latin typeface="Calibri" pitchFamily="34" charset="0"/>
                          <a:ea typeface="Calibri" pitchFamily="34" charset="-122"/>
                          <a:cs typeface="Calibri" pitchFamily="34" charset="-120"/>
                        </a:rPr>
                        <a:t>1.89</a:t>
                      </a:r>
                      <a:endParaRPr lang="en-US" sz="1400" dirty="0">
                        <a:latin typeface="Calibri" charset="0"/>
                        <a:ea typeface="Calibri" charset="0"/>
                        <a:cs typeface="Calibri" charset="0"/>
                      </a:endParaRPr>
                    </a:p>
                  </a:txBody>
                  <a:tcPr marL="101600" marR="101600" marT="50800" marB="50800" anchor="ctr">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E1EFF2"/>
                    </a:solidFill>
                  </a:tcPr>
                </a:tc>
                <a:tc>
                  <a:txBody>
                    <a:bodyPr/>
                    <a:lstStyle/>
                    <a:p>
                      <a:pPr indent="0" marL="0">
                        <a:buNone/>
                      </a:pPr>
                      <a:r>
                        <a:rPr lang="en-US" sz="1400" b="1" dirty="0">
                          <a:solidFill>
                            <a:srgbClr val="0D5F73"/>
                          </a:solidFill>
                          <a:latin typeface="Calibri" pitchFamily="34" charset="0"/>
                          <a:ea typeface="Calibri" pitchFamily="34" charset="-122"/>
                          <a:cs typeface="Calibri" pitchFamily="34" charset="-120"/>
                        </a:rPr>
                        <a:t>1.38</a:t>
                      </a:r>
                      <a:endParaRPr lang="en-US" sz="1400" dirty="0">
                        <a:latin typeface="Calibri" charset="0"/>
                        <a:ea typeface="Calibri" charset="0"/>
                        <a:cs typeface="Calibri" charset="0"/>
                      </a:endParaRPr>
                    </a:p>
                  </a:txBody>
                  <a:tcPr marL="101600" marR="101600" marT="50800" marB="50800" anchor="ctr">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E1EFF2"/>
                    </a:solidFill>
                  </a:tcPr>
                </a:tc>
                <a:tc>
                  <a:txBody>
                    <a:bodyPr/>
                    <a:lstStyle/>
                    <a:p>
                      <a:pPr indent="0" marL="0">
                        <a:buNone/>
                      </a:pPr>
                      <a:r>
                        <a:rPr lang="en-US" sz="1400" b="1" dirty="0">
                          <a:solidFill>
                            <a:srgbClr val="0D5F73"/>
                          </a:solidFill>
                          <a:latin typeface="Calibri" pitchFamily="34" charset="0"/>
                          <a:ea typeface="Calibri" pitchFamily="34" charset="-122"/>
                          <a:cs typeface="Calibri" pitchFamily="34" charset="-120"/>
                        </a:rPr>
                        <a:t>27%</a:t>
                      </a:r>
                      <a:endParaRPr lang="en-US" sz="1400" dirty="0">
                        <a:latin typeface="Calibri" charset="0"/>
                        <a:ea typeface="Calibri" charset="0"/>
                        <a:cs typeface="Calibri" charset="0"/>
                      </a:endParaRPr>
                    </a:p>
                  </a:txBody>
                  <a:tcPr marL="101600" marR="101600" marT="50800" marB="50800" anchor="ctr">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E1EFF2"/>
                    </a:solidFill>
                  </a:tcPr>
                </a:tc>
                <a:tc>
                  <a:txBody>
                    <a:bodyPr/>
                    <a:lstStyle/>
                    <a:p>
                      <a:pPr indent="0" marL="0">
                        <a:buNone/>
                      </a:pPr>
                      <a:r>
                        <a:rPr lang="en-US" sz="1400" b="1" dirty="0">
                          <a:solidFill>
                            <a:srgbClr val="0D5F73"/>
                          </a:solidFill>
                          <a:latin typeface="Calibri" pitchFamily="34" charset="0"/>
                          <a:ea typeface="Calibri" pitchFamily="34" charset="-122"/>
                          <a:cs typeface="Calibri" pitchFamily="34" charset="-120"/>
                        </a:rPr>
                        <a:t>83% (57%) of 76</a:t>
                      </a:r>
                      <a:endParaRPr lang="en-US" sz="1400" dirty="0">
                        <a:latin typeface="Calibri" charset="0"/>
                        <a:ea typeface="Calibri" charset="0"/>
                        <a:cs typeface="Calibri" charset="0"/>
                      </a:endParaRPr>
                    </a:p>
                  </a:txBody>
                  <a:tcPr marL="101600" marR="101600" marT="50800" marB="50800" anchor="ctr">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E1EFF2"/>
                    </a:solidFill>
                  </a:tcPr>
                </a:tc>
                <a:tc>
                  <a:txBody>
                    <a:bodyPr/>
                    <a:lstStyle/>
                    <a:p>
                      <a:pPr indent="0" marL="0">
                        <a:buNone/>
                      </a:pPr>
                      <a:r>
                        <a:rPr lang="en-US" sz="1400" b="1" dirty="0">
                          <a:solidFill>
                            <a:srgbClr val="0D5F73"/>
                          </a:solidFill>
                          <a:latin typeface="Calibri" pitchFamily="34" charset="0"/>
                          <a:ea typeface="Calibri" pitchFamily="34" charset="-122"/>
                          <a:cs typeface="Calibri" pitchFamily="34" charset="-120"/>
                        </a:rPr>
                        <a:t>78% (52%) of 54</a:t>
                      </a:r>
                      <a:endParaRPr lang="en-US" sz="1400" dirty="0">
                        <a:latin typeface="Calibri" charset="0"/>
                        <a:ea typeface="Calibri" charset="0"/>
                        <a:cs typeface="Calibri" charset="0"/>
                      </a:endParaRPr>
                    </a:p>
                  </a:txBody>
                  <a:tcPr marL="101600" marR="101600" marT="50800" marB="50800" anchor="ctr">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E1EFF2"/>
                    </a:solidFill>
                  </a:tcPr>
                </a:tc>
              </a:tr>
              <a:tr h="457200">
                <a:tc>
                  <a:txBody>
                    <a:bodyPr/>
                    <a:lstStyle/>
                    <a:p>
                      <a:pPr indent="0" marL="0">
                        <a:buNone/>
                      </a:pPr>
                      <a:r>
                        <a:rPr lang="en-US" sz="1400" dirty="0">
                          <a:solidFill>
                            <a:srgbClr val="15232A"/>
                          </a:solidFill>
                          <a:latin typeface="Calibri" pitchFamily="34" charset="0"/>
                          <a:ea typeface="Calibri" pitchFamily="34" charset="-122"/>
                          <a:cs typeface="Calibri" pitchFamily="34" charset="-120"/>
                        </a:rPr>
                        <a:t>CGMacros T2D (external)</a:t>
                      </a:r>
                      <a:endParaRPr lang="en-US" sz="1400" dirty="0">
                        <a:latin typeface="Calibri" charset="0"/>
                        <a:ea typeface="Calibri" charset="0"/>
                        <a:cs typeface="Calibri" charset="0"/>
                      </a:endParaRPr>
                    </a:p>
                  </a:txBody>
                  <a:tcPr marL="101600" marR="101600" marT="50800" marB="50800" anchor="ctr">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FFFFFF"/>
                    </a:solidFill>
                  </a:tcPr>
                </a:tc>
                <a:tc>
                  <a:txBody>
                    <a:bodyPr/>
                    <a:lstStyle/>
                    <a:p>
                      <a:pPr indent="0" marL="0">
                        <a:buNone/>
                      </a:pPr>
                      <a:r>
                        <a:rPr lang="en-US" sz="1400" dirty="0">
                          <a:solidFill>
                            <a:srgbClr val="15232A"/>
                          </a:solidFill>
                          <a:latin typeface="Calibri" pitchFamily="34" charset="0"/>
                          <a:ea typeface="Calibri" pitchFamily="34" charset="-122"/>
                          <a:cs typeface="Calibri" pitchFamily="34" charset="-120"/>
                        </a:rPr>
                        <a:t>1.78</a:t>
                      </a:r>
                      <a:endParaRPr lang="en-US" sz="1400" dirty="0">
                        <a:latin typeface="Calibri" charset="0"/>
                        <a:ea typeface="Calibri" charset="0"/>
                        <a:cs typeface="Calibri" charset="0"/>
                      </a:endParaRPr>
                    </a:p>
                  </a:txBody>
                  <a:tcPr marL="101600" marR="101600" marT="50800" marB="50800" anchor="ctr">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FFFFFF"/>
                    </a:solidFill>
                  </a:tcPr>
                </a:tc>
                <a:tc>
                  <a:txBody>
                    <a:bodyPr/>
                    <a:lstStyle/>
                    <a:p>
                      <a:pPr indent="0" marL="0">
                        <a:buNone/>
                      </a:pPr>
                      <a:r>
                        <a:rPr lang="en-US" sz="1400" dirty="0">
                          <a:solidFill>
                            <a:srgbClr val="15232A"/>
                          </a:solidFill>
                          <a:latin typeface="Calibri" pitchFamily="34" charset="0"/>
                          <a:ea typeface="Calibri" pitchFamily="34" charset="-122"/>
                          <a:cs typeface="Calibri" pitchFamily="34" charset="-120"/>
                        </a:rPr>
                        <a:t>1.23</a:t>
                      </a:r>
                      <a:endParaRPr lang="en-US" sz="1400" dirty="0">
                        <a:latin typeface="Calibri" charset="0"/>
                        <a:ea typeface="Calibri" charset="0"/>
                        <a:cs typeface="Calibri" charset="0"/>
                      </a:endParaRPr>
                    </a:p>
                  </a:txBody>
                  <a:tcPr marL="101600" marR="101600" marT="50800" marB="50800" anchor="ctr">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FFFFFF"/>
                    </a:solidFill>
                  </a:tcPr>
                </a:tc>
                <a:tc>
                  <a:txBody>
                    <a:bodyPr/>
                    <a:lstStyle/>
                    <a:p>
                      <a:pPr indent="0" marL="0">
                        <a:buNone/>
                      </a:pPr>
                      <a:r>
                        <a:rPr lang="en-US" sz="1400" dirty="0">
                          <a:solidFill>
                            <a:srgbClr val="15232A"/>
                          </a:solidFill>
                          <a:latin typeface="Calibri" pitchFamily="34" charset="0"/>
                          <a:ea typeface="Calibri" pitchFamily="34" charset="-122"/>
                          <a:cs typeface="Calibri" pitchFamily="34" charset="-120"/>
                        </a:rPr>
                        <a:t>31%</a:t>
                      </a:r>
                      <a:endParaRPr lang="en-US" sz="1400" dirty="0">
                        <a:latin typeface="Calibri" charset="0"/>
                        <a:ea typeface="Calibri" charset="0"/>
                        <a:cs typeface="Calibri" charset="0"/>
                      </a:endParaRPr>
                    </a:p>
                  </a:txBody>
                  <a:tcPr marL="101600" marR="101600" marT="50800" marB="50800" anchor="ctr">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FFFFFF"/>
                    </a:solidFill>
                  </a:tcPr>
                </a:tc>
                <a:tc>
                  <a:txBody>
                    <a:bodyPr/>
                    <a:lstStyle/>
                    <a:p>
                      <a:pPr indent="0" marL="0">
                        <a:buNone/>
                      </a:pPr>
                      <a:r>
                        <a:rPr lang="en-US" sz="1400" dirty="0">
                          <a:solidFill>
                            <a:srgbClr val="15232A"/>
                          </a:solidFill>
                          <a:latin typeface="Calibri" pitchFamily="34" charset="0"/>
                          <a:ea typeface="Calibri" pitchFamily="34" charset="-122"/>
                          <a:cs typeface="Calibri" pitchFamily="34" charset="-120"/>
                        </a:rPr>
                        <a:t>88% (56%) of 34</a:t>
                      </a:r>
                      <a:endParaRPr lang="en-US" sz="1400" dirty="0">
                        <a:latin typeface="Calibri" charset="0"/>
                        <a:ea typeface="Calibri" charset="0"/>
                        <a:cs typeface="Calibri" charset="0"/>
                      </a:endParaRPr>
                    </a:p>
                  </a:txBody>
                  <a:tcPr marL="101600" marR="101600" marT="50800" marB="50800" anchor="ctr">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FFFFFF"/>
                    </a:solidFill>
                  </a:tcPr>
                </a:tc>
                <a:tc>
                  <a:txBody>
                    <a:bodyPr/>
                    <a:lstStyle/>
                    <a:p>
                      <a:pPr indent="0" marL="0">
                        <a:buNone/>
                      </a:pPr>
                      <a:r>
                        <a:rPr lang="en-US" sz="1400" dirty="0">
                          <a:solidFill>
                            <a:srgbClr val="15232A"/>
                          </a:solidFill>
                          <a:latin typeface="Calibri" pitchFamily="34" charset="0"/>
                          <a:ea typeface="Calibri" pitchFamily="34" charset="-122"/>
                          <a:cs typeface="Calibri" pitchFamily="34" charset="-120"/>
                        </a:rPr>
                        <a:t>75% (39%) of 71</a:t>
                      </a:r>
                      <a:endParaRPr lang="en-US" sz="1400" dirty="0">
                        <a:latin typeface="Calibri" charset="0"/>
                        <a:ea typeface="Calibri" charset="0"/>
                        <a:cs typeface="Calibri" charset="0"/>
                      </a:endParaRPr>
                    </a:p>
                  </a:txBody>
                  <a:tcPr marL="101600" marR="101600" marT="50800" marB="50800" anchor="ctr">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3520440"/>
            <a:ext cx="5394960" cy="2606040"/>
          </a:xfrm>
          <a:prstGeom prst="roundRect">
            <a:avLst>
              <a:gd name="adj" fmla="val 2807"/>
            </a:avLst>
          </a:prstGeom>
          <a:solidFill>
            <a:srgbClr val="E1EFF2"/>
          </a:solidFill>
          <a:ln w="12700">
            <a:solidFill>
              <a:srgbClr val="E1EFF2"/>
            </a:solidFill>
            <a:prstDash val="solid"/>
          </a:ln>
        </p:spPr>
      </p:sp>
      <p:sp>
        <p:nvSpPr>
          <p:cNvPr id="5" name="Text 2"/>
          <p:cNvSpPr txBox="1"/>
          <p:nvPr/>
        </p:nvSpPr>
        <p:spPr>
          <a:xfrm>
            <a:off x="749808" y="3685032"/>
            <a:ext cx="4992624" cy="365760"/>
          </a:xfrm>
          <a:prstGeom prst="rect">
            <a:avLst/>
          </a:prstGeom>
          <a:noFill/>
          <a:ln/>
        </p:spPr>
        <p:txBody>
          <a:bodyPr wrap="square" lIns="0" tIns="0" rIns="0" bIns="0" rtlCol="0" anchor="t"/>
          <a:lstStyle/>
          <a:p>
            <a:pPr indent="0" marL="0">
              <a:buNone/>
            </a:pPr>
            <a:r>
              <a:rPr lang="en-US" sz="1500" b="1" dirty="0">
                <a:solidFill>
                  <a:srgbClr val="0D5F73"/>
                </a:solidFill>
                <a:latin typeface="Calibri" pitchFamily="34" charset="0"/>
                <a:ea typeface="Calibri" pitchFamily="34" charset="-122"/>
                <a:cs typeface="Calibri" pitchFamily="34" charset="-120"/>
              </a:rPr>
              <a:t>The policy</a:t>
            </a:r>
            <a:endParaRPr lang="en-US" sz="1500" dirty="0"/>
          </a:p>
        </p:txBody>
      </p:sp>
      <p:sp>
        <p:nvSpPr>
          <p:cNvPr id="6" name="Text 3"/>
          <p:cNvSpPr txBox="1"/>
          <p:nvPr/>
        </p:nvSpPr>
        <p:spPr>
          <a:xfrm>
            <a:off x="749808" y="4087368"/>
            <a:ext cx="4992624" cy="1920240"/>
          </a:xfrm>
          <a:prstGeom prst="rect">
            <a:avLst/>
          </a:prstGeom>
          <a:noFill/>
          <a:ln/>
        </p:spPr>
        <p:txBody>
          <a:bodyPr wrap="square" lIns="0" tIns="0" rIns="0" bIns="0" rtlCol="0" anchor="t"/>
          <a:lstStyle/>
          <a:p>
            <a:pPr indent="0" marL="0">
              <a:buNone/>
            </a:pPr>
            <a:r>
              <a:rPr lang="en-US" sz="1300" dirty="0">
                <a:solidFill>
                  <a:srgbClr val="15232A"/>
                </a:solidFill>
                <a:latin typeface="Calibri" pitchFamily="34" charset="0"/>
                <a:ea typeface="Calibri" pitchFamily="34" charset="-122"/>
                <a:cs typeface="Calibri" pitchFamily="34" charset="-120"/>
              </a:rPr>
              <a:t>One stream per patient, only for predicted &lt; 70 or &gt; 250 mg/dL within 60 min. At most one alert per hour; a predicted low may override. Rising above 180 is expected in T2D (target is &lt; 25% of the time, not zero), so it ranks the worklist instead of interrupting.</a:t>
            </a:r>
            <a:endParaRPr lang="en-US" sz="1300" dirty="0"/>
          </a:p>
        </p:txBody>
      </p:sp>
      <p:sp>
        <p:nvSpPr>
          <p:cNvPr id="7" name="Shape 4"/>
          <p:cNvSpPr/>
          <p:nvPr/>
        </p:nvSpPr>
        <p:spPr>
          <a:xfrm>
            <a:off x="6217920" y="3520440"/>
            <a:ext cx="5394960" cy="2606040"/>
          </a:xfrm>
          <a:prstGeom prst="roundRect">
            <a:avLst>
              <a:gd name="adj" fmla="val 2807"/>
            </a:avLst>
          </a:prstGeom>
          <a:solidFill>
            <a:srgbClr val="F3F6F7"/>
          </a:solidFill>
          <a:ln w="12700">
            <a:solidFill>
              <a:srgbClr val="F3F6F7"/>
            </a:solidFill>
            <a:prstDash val="solid"/>
          </a:ln>
        </p:spPr>
      </p:sp>
      <p:sp>
        <p:nvSpPr>
          <p:cNvPr id="8" name="Text 5"/>
          <p:cNvSpPr txBox="1"/>
          <p:nvPr/>
        </p:nvSpPr>
        <p:spPr>
          <a:xfrm>
            <a:off x="6419088" y="3685032"/>
            <a:ext cx="4992624" cy="365760"/>
          </a:xfrm>
          <a:prstGeom prst="rect">
            <a:avLst/>
          </a:prstGeom>
          <a:noFill/>
          <a:ln/>
        </p:spPr>
        <p:txBody>
          <a:bodyPr wrap="square" lIns="0" tIns="0" rIns="0" bIns="0" rtlCol="0" anchor="t"/>
          <a:lstStyle/>
          <a:p>
            <a:pPr indent="0" marL="0">
              <a:buNone/>
            </a:pPr>
            <a:r>
              <a:rPr lang="en-US" sz="1500" b="1" dirty="0">
                <a:solidFill>
                  <a:srgbClr val="0D5F73"/>
                </a:solidFill>
                <a:latin typeface="Calibri" pitchFamily="34" charset="0"/>
                <a:ea typeface="Calibri" pitchFamily="34" charset="-122"/>
                <a:cs typeface="Calibri" pitchFamily="34" charset="-120"/>
              </a:rPr>
              <a:t>The honest trade-off</a:t>
            </a:r>
            <a:endParaRPr lang="en-US" sz="1500" dirty="0"/>
          </a:p>
        </p:txBody>
      </p:sp>
      <p:sp>
        <p:nvSpPr>
          <p:cNvPr id="9" name="Text 6"/>
          <p:cNvSpPr txBox="1"/>
          <p:nvPr/>
        </p:nvSpPr>
        <p:spPr>
          <a:xfrm>
            <a:off x="6419088" y="4087368"/>
            <a:ext cx="4992624" cy="1920240"/>
          </a:xfrm>
          <a:prstGeom prst="rect">
            <a:avLst/>
          </a:prstGeom>
          <a:noFill/>
          <a:ln/>
        </p:spPr>
        <p:txBody>
          <a:bodyPr wrap="square" lIns="0" tIns="0" rIns="0" bIns="0" rtlCol="0" anchor="t"/>
          <a:lstStyle/>
          <a:p>
            <a:pPr indent="0" marL="0">
              <a:buNone/>
            </a:pPr>
            <a:r>
              <a:rPr lang="en-US" sz="1300" dirty="0">
                <a:solidFill>
                  <a:srgbClr val="15232A"/>
                </a:solidFill>
                <a:latin typeface="Calibri" pitchFamily="34" charset="0"/>
                <a:ea typeface="Calibri" pitchFamily="34" charset="-122"/>
                <a:cs typeface="Calibri" pitchFamily="34" charset="-120"/>
              </a:rPr>
              <a:t>v1 tuned each event alone: 7.9 alerts per patient-day. v2: 1.89. The price is sensitivity (each classifier alone catches more). Thresholds were set on development data for ≤ 1 false alert per day; test overshot to 1.38. The budget is a dial clinicians should set.</a:t>
            </a:r>
            <a:endParaRPr lang="en-US" sz="13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6676F"/>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rgbClr val="15232A"/>
                </a:solidFill>
                <a:latin typeface="Cambria" pitchFamily="34" charset="0"/>
                <a:ea typeface="Cambria" pitchFamily="34" charset="-122"/>
                <a:cs typeface="Cambria" pitchFamily="34" charset="-120"/>
              </a:rPr>
              <a:t>v2: what we fixed after the first test</a:t>
            </a:r>
            <a:endParaRPr lang="en-US" sz="3000" dirty="0"/>
          </a:p>
        </p:txBody>
      </p:sp>
      <p:graphicFrame>
        <p:nvGraphicFramePr>
          <p:cNvPr id="3" name="Chart 0" descr=""/>
          <p:cNvGraphicFramePr/>
          <p:nvPr/>
        </p:nvGraphicFramePr>
        <p:xfrm>
          <a:off x="548640" y="1234440"/>
          <a:ext cx="6035040" cy="4846320"/>
        </p:xfrm>
        <a:graphic xmlns:a="http://schemas.openxmlformats.org/drawingml/2006/main">
          <a:graphicData uri="http://schemas.openxmlformats.org/drawingml/2006/chart">
            <c:chart xmlns:c="http://schemas.openxmlformats.org/drawingml/2006/chart" r:id="rId1"/>
          </a:graphicData>
        </a:graphic>
      </p:graphicFrame>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858000" y="1325880"/>
          <a:ext cx="4754880" cy="914400"/>
        </p:xfrm>
        <a:graphic>
          <a:graphicData uri="http://schemas.openxmlformats.org/drawingml/2006/table">
            <a:tbl>
              <a:tblPr/>
              <a:tblGrid>
                <a:gridCol w="2560320"/>
                <a:gridCol w="1097280"/>
                <a:gridCol w="1097280"/>
              </a:tblGrid>
              <a:tr h="438912">
                <a:tc>
                  <a:txBody>
                    <a:bodyPr/>
                    <a:lstStyle/>
                    <a:p>
                      <a:pPr indent="0" marL="0">
                        <a:buNone/>
                      </a:pPr>
                      <a:endParaRPr lang="en-US" sz="1400" dirty="0">
                        <a:latin typeface="Calibri" charset="0"/>
                        <a:ea typeface="Calibri" charset="0"/>
                        <a:cs typeface="Calibri" charset="0"/>
                      </a:endParaRPr>
                    </a:p>
                  </a:txBody>
                  <a:tcPr marL="101600" marR="101600" marT="50800" marB="50800">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F3F6F7"/>
                    </a:solidFill>
                  </a:tcPr>
                </a:tc>
                <a:tc>
                  <a:txBody>
                    <a:bodyPr/>
                    <a:lstStyle/>
                    <a:p>
                      <a:pPr indent="0" marL="0">
                        <a:buNone/>
                      </a:pPr>
                      <a:r>
                        <a:rPr lang="en-US" sz="1400" b="1" dirty="0">
                          <a:solidFill>
                            <a:srgbClr val="15232A"/>
                          </a:solidFill>
                          <a:latin typeface="Calibri" pitchFamily="34" charset="0"/>
                          <a:ea typeface="Calibri" pitchFamily="34" charset="-122"/>
                          <a:cs typeface="Calibri" pitchFamily="34" charset="-120"/>
                        </a:rPr>
                        <a:t>v1</a:t>
                      </a:r>
                      <a:endParaRPr lang="en-US" sz="1400" dirty="0">
                        <a:latin typeface="Calibri" charset="0"/>
                        <a:ea typeface="Calibri" charset="0"/>
                        <a:cs typeface="Calibri" charset="0"/>
                      </a:endParaRPr>
                    </a:p>
                  </a:txBody>
                  <a:tcPr marL="101600" marR="101600" marT="50800" marB="50800">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F3F6F7"/>
                    </a:solidFill>
                  </a:tcPr>
                </a:tc>
                <a:tc>
                  <a:txBody>
                    <a:bodyPr/>
                    <a:lstStyle/>
                    <a:p>
                      <a:pPr indent="0" marL="0">
                        <a:buNone/>
                      </a:pPr>
                      <a:r>
                        <a:rPr lang="en-US" sz="1400" b="1" dirty="0">
                          <a:solidFill>
                            <a:srgbClr val="15232A"/>
                          </a:solidFill>
                          <a:latin typeface="Calibri" pitchFamily="34" charset="0"/>
                          <a:ea typeface="Calibri" pitchFamily="34" charset="-122"/>
                          <a:cs typeface="Calibri" pitchFamily="34" charset="-120"/>
                        </a:rPr>
                        <a:t>v2</a:t>
                      </a:r>
                      <a:endParaRPr lang="en-US" sz="1400" dirty="0">
                        <a:latin typeface="Calibri" charset="0"/>
                        <a:ea typeface="Calibri" charset="0"/>
                        <a:cs typeface="Calibri" charset="0"/>
                      </a:endParaRPr>
                    </a:p>
                  </a:txBody>
                  <a:tcPr marL="101600" marR="101600" marT="50800" marB="50800">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F3F6F7"/>
                    </a:solidFill>
                  </a:tcPr>
                </a:tc>
              </a:tr>
              <a:tr h="438912">
                <a:tc>
                  <a:txBody>
                    <a:bodyPr/>
                    <a:lstStyle/>
                    <a:p>
                      <a:pPr indent="0" marL="0">
                        <a:buNone/>
                      </a:pPr>
                      <a:r>
                        <a:rPr lang="en-US" sz="1400" dirty="0">
                          <a:solidFill>
                            <a:srgbClr val="15232A"/>
                          </a:solidFill>
                          <a:latin typeface="Calibri" pitchFamily="34" charset="0"/>
                          <a:ea typeface="Calibri" pitchFamily="34" charset="-122"/>
                          <a:cs typeface="Calibri" pitchFamily="34" charset="-120"/>
                        </a:rPr>
                        <a:t>MAE 60 min (clean)</a:t>
                      </a:r>
                      <a:endParaRPr lang="en-US" sz="1400" dirty="0">
                        <a:latin typeface="Calibri" charset="0"/>
                        <a:ea typeface="Calibri" charset="0"/>
                        <a:cs typeface="Calibri" charset="0"/>
                      </a:endParaRPr>
                    </a:p>
                  </a:txBody>
                  <a:tcPr marL="101600" marR="101600" marT="50800" marB="50800">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FFFFFF"/>
                    </a:solidFill>
                  </a:tcPr>
                </a:tc>
                <a:tc>
                  <a:txBody>
                    <a:bodyPr/>
                    <a:lstStyle/>
                    <a:p>
                      <a:pPr indent="0" marL="0">
                        <a:buNone/>
                      </a:pPr>
                      <a:r>
                        <a:rPr lang="en-US" sz="1400" dirty="0">
                          <a:solidFill>
                            <a:srgbClr val="15232A"/>
                          </a:solidFill>
                          <a:latin typeface="Calibri" pitchFamily="34" charset="0"/>
                          <a:ea typeface="Calibri" pitchFamily="34" charset="-122"/>
                          <a:cs typeface="Calibri" pitchFamily="34" charset="-120"/>
                        </a:rPr>
                        <a:t>14.76</a:t>
                      </a:r>
                      <a:endParaRPr lang="en-US" sz="1400" dirty="0">
                        <a:latin typeface="Calibri" charset="0"/>
                        <a:ea typeface="Calibri" charset="0"/>
                        <a:cs typeface="Calibri" charset="0"/>
                      </a:endParaRPr>
                    </a:p>
                  </a:txBody>
                  <a:tcPr marL="101600" marR="101600" marT="50800" marB="50800">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FFFFFF"/>
                    </a:solidFill>
                  </a:tcPr>
                </a:tc>
                <a:tc>
                  <a:txBody>
                    <a:bodyPr/>
                    <a:lstStyle/>
                    <a:p>
                      <a:pPr indent="0" marL="0">
                        <a:buNone/>
                      </a:pPr>
                      <a:r>
                        <a:rPr lang="en-US" sz="1400" b="1" dirty="0">
                          <a:solidFill>
                            <a:srgbClr val="0D5F73"/>
                          </a:solidFill>
                          <a:latin typeface="Calibri" pitchFamily="34" charset="0"/>
                          <a:ea typeface="Calibri" pitchFamily="34" charset="-122"/>
                          <a:cs typeface="Calibri" pitchFamily="34" charset="-120"/>
                        </a:rPr>
                        <a:t>14.90</a:t>
                      </a:r>
                      <a:endParaRPr lang="en-US" sz="1400" dirty="0">
                        <a:latin typeface="Calibri" charset="0"/>
                        <a:ea typeface="Calibri" charset="0"/>
                        <a:cs typeface="Calibri" charset="0"/>
                      </a:endParaRPr>
                    </a:p>
                  </a:txBody>
                  <a:tcPr marL="101600" marR="101600" marT="50800" marB="50800">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FFFFFF"/>
                    </a:solidFill>
                  </a:tcPr>
                </a:tc>
              </a:tr>
              <a:tr h="438912">
                <a:tc>
                  <a:txBody>
                    <a:bodyPr/>
                    <a:lstStyle/>
                    <a:p>
                      <a:pPr indent="0" marL="0">
                        <a:buNone/>
                      </a:pPr>
                      <a:r>
                        <a:rPr lang="en-US" sz="1400" dirty="0">
                          <a:solidFill>
                            <a:srgbClr val="15232A"/>
                          </a:solidFill>
                          <a:latin typeface="Calibri" pitchFamily="34" charset="0"/>
                          <a:ea typeface="Calibri" pitchFamily="34" charset="-122"/>
                          <a:cs typeface="Calibri" pitchFamily="34" charset="-120"/>
                        </a:rPr>
                        <a:t>MAE 30 min, SD-10 noise</a:t>
                      </a:r>
                      <a:endParaRPr lang="en-US" sz="1400" dirty="0">
                        <a:latin typeface="Calibri" charset="0"/>
                        <a:ea typeface="Calibri" charset="0"/>
                        <a:cs typeface="Calibri" charset="0"/>
                      </a:endParaRPr>
                    </a:p>
                  </a:txBody>
                  <a:tcPr marL="101600" marR="101600" marT="50800" marB="50800">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FFFFFF"/>
                    </a:solidFill>
                  </a:tcPr>
                </a:tc>
                <a:tc>
                  <a:txBody>
                    <a:bodyPr/>
                    <a:lstStyle/>
                    <a:p>
                      <a:pPr indent="0" marL="0">
                        <a:buNone/>
                      </a:pPr>
                      <a:r>
                        <a:rPr lang="en-US" sz="1400" dirty="0">
                          <a:solidFill>
                            <a:srgbClr val="15232A"/>
                          </a:solidFill>
                          <a:latin typeface="Calibri" pitchFamily="34" charset="0"/>
                          <a:ea typeface="Calibri" pitchFamily="34" charset="-122"/>
                          <a:cs typeface="Calibri" pitchFamily="34" charset="-120"/>
                        </a:rPr>
                        <a:t>19.6</a:t>
                      </a:r>
                      <a:endParaRPr lang="en-US" sz="1400" dirty="0">
                        <a:latin typeface="Calibri" charset="0"/>
                        <a:ea typeface="Calibri" charset="0"/>
                        <a:cs typeface="Calibri" charset="0"/>
                      </a:endParaRPr>
                    </a:p>
                  </a:txBody>
                  <a:tcPr marL="101600" marR="101600" marT="50800" marB="50800">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FFFFFF"/>
                    </a:solidFill>
                  </a:tcPr>
                </a:tc>
                <a:tc>
                  <a:txBody>
                    <a:bodyPr/>
                    <a:lstStyle/>
                    <a:p>
                      <a:pPr indent="0" marL="0">
                        <a:buNone/>
                      </a:pPr>
                      <a:r>
                        <a:rPr lang="en-US" sz="1400" b="1" dirty="0">
                          <a:solidFill>
                            <a:srgbClr val="0D5F73"/>
                          </a:solidFill>
                          <a:latin typeface="Calibri" pitchFamily="34" charset="0"/>
                          <a:ea typeface="Calibri" pitchFamily="34" charset="-122"/>
                          <a:cs typeface="Calibri" pitchFamily="34" charset="-120"/>
                        </a:rPr>
                        <a:t>13.5</a:t>
                      </a:r>
                      <a:endParaRPr lang="en-US" sz="1400" dirty="0">
                        <a:latin typeface="Calibri" charset="0"/>
                        <a:ea typeface="Calibri" charset="0"/>
                        <a:cs typeface="Calibri" charset="0"/>
                      </a:endParaRPr>
                    </a:p>
                  </a:txBody>
                  <a:tcPr marL="101600" marR="101600" marT="50800" marB="50800">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FFFFFF"/>
                    </a:solidFill>
                  </a:tcPr>
                </a:tc>
              </a:tr>
              <a:tr h="438912">
                <a:tc>
                  <a:txBody>
                    <a:bodyPr/>
                    <a:lstStyle/>
                    <a:p>
                      <a:pPr indent="0" marL="0">
                        <a:buNone/>
                      </a:pPr>
                      <a:r>
                        <a:rPr lang="en-US" sz="1400" dirty="0">
                          <a:solidFill>
                            <a:srgbClr val="15232A"/>
                          </a:solidFill>
                          <a:latin typeface="Calibri" pitchFamily="34" charset="0"/>
                          <a:ea typeface="Calibri" pitchFamily="34" charset="-122"/>
                          <a:cs typeface="Calibri" pitchFamily="34" charset="-120"/>
                        </a:rPr>
                        <a:t>Last value, SD-10 noise</a:t>
                      </a:r>
                      <a:endParaRPr lang="en-US" sz="1400" dirty="0">
                        <a:latin typeface="Calibri" charset="0"/>
                        <a:ea typeface="Calibri" charset="0"/>
                        <a:cs typeface="Calibri" charset="0"/>
                      </a:endParaRPr>
                    </a:p>
                  </a:txBody>
                  <a:tcPr marL="101600" marR="101600" marT="50800" marB="50800">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FFFFFF"/>
                    </a:solidFill>
                  </a:tcPr>
                </a:tc>
                <a:tc>
                  <a:txBody>
                    <a:bodyPr/>
                    <a:lstStyle/>
                    <a:p>
                      <a:pPr indent="0" marL="0">
                        <a:buNone/>
                      </a:pPr>
                      <a:r>
                        <a:rPr lang="en-US" sz="1400" dirty="0">
                          <a:solidFill>
                            <a:srgbClr val="15232A"/>
                          </a:solidFill>
                          <a:latin typeface="Calibri" pitchFamily="34" charset="0"/>
                          <a:ea typeface="Calibri" pitchFamily="34" charset="-122"/>
                          <a:cs typeface="Calibri" pitchFamily="34" charset="-120"/>
                        </a:rPr>
                        <a:t>15.1</a:t>
                      </a:r>
                      <a:endParaRPr lang="en-US" sz="1400" dirty="0">
                        <a:latin typeface="Calibri" charset="0"/>
                        <a:ea typeface="Calibri" charset="0"/>
                        <a:cs typeface="Calibri" charset="0"/>
                      </a:endParaRPr>
                    </a:p>
                  </a:txBody>
                  <a:tcPr marL="101600" marR="101600" marT="50800" marB="50800">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FFFFFF"/>
                    </a:solidFill>
                  </a:tcPr>
                </a:tc>
                <a:tc>
                  <a:txBody>
                    <a:bodyPr/>
                    <a:lstStyle/>
                    <a:p>
                      <a:pPr indent="0" marL="0">
                        <a:buNone/>
                      </a:pPr>
                      <a:r>
                        <a:rPr lang="en-US" sz="1400" b="1" dirty="0">
                          <a:solidFill>
                            <a:srgbClr val="0D5F73"/>
                          </a:solidFill>
                          <a:latin typeface="Calibri" pitchFamily="34" charset="0"/>
                          <a:ea typeface="Calibri" pitchFamily="34" charset="-122"/>
                          <a:cs typeface="Calibri" pitchFamily="34" charset="-120"/>
                        </a:rPr>
                        <a:t>15.1</a:t>
                      </a:r>
                      <a:endParaRPr lang="en-US" sz="1400" dirty="0">
                        <a:latin typeface="Calibri" charset="0"/>
                        <a:ea typeface="Calibri" charset="0"/>
                        <a:cs typeface="Calibri" charset="0"/>
                      </a:endParaRPr>
                    </a:p>
                  </a:txBody>
                  <a:tcPr marL="101600" marR="101600" marT="50800" marB="50800">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FFFFFF"/>
                    </a:solidFill>
                  </a:tcPr>
                </a:tc>
              </a:tr>
              <a:tr h="438912">
                <a:tc>
                  <a:txBody>
                    <a:bodyPr/>
                    <a:lstStyle/>
                    <a:p>
                      <a:pPr indent="0" marL="0">
                        <a:buNone/>
                      </a:pPr>
                      <a:r>
                        <a:rPr lang="en-US" sz="1400" dirty="0">
                          <a:solidFill>
                            <a:srgbClr val="15232A"/>
                          </a:solidFill>
                          <a:latin typeface="Calibri" pitchFamily="34" charset="0"/>
                          <a:ea typeface="Calibri" pitchFamily="34" charset="-122"/>
                          <a:cs typeface="Calibri" pitchFamily="34" charset="-120"/>
                        </a:rPr>
                        <a:t>Alerts per patient-day</a:t>
                      </a:r>
                      <a:endParaRPr lang="en-US" sz="1400" dirty="0">
                        <a:latin typeface="Calibri" charset="0"/>
                        <a:ea typeface="Calibri" charset="0"/>
                        <a:cs typeface="Calibri" charset="0"/>
                      </a:endParaRPr>
                    </a:p>
                  </a:txBody>
                  <a:tcPr marL="101600" marR="101600" marT="50800" marB="50800">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FFFFFF"/>
                    </a:solidFill>
                  </a:tcPr>
                </a:tc>
                <a:tc>
                  <a:txBody>
                    <a:bodyPr/>
                    <a:lstStyle/>
                    <a:p>
                      <a:pPr indent="0" marL="0">
                        <a:buNone/>
                      </a:pPr>
                      <a:r>
                        <a:rPr lang="en-US" sz="1400" dirty="0">
                          <a:solidFill>
                            <a:srgbClr val="15232A"/>
                          </a:solidFill>
                          <a:latin typeface="Calibri" pitchFamily="34" charset="0"/>
                          <a:ea typeface="Calibri" pitchFamily="34" charset="-122"/>
                          <a:cs typeface="Calibri" pitchFamily="34" charset="-120"/>
                        </a:rPr>
                        <a:t>7.9</a:t>
                      </a:r>
                      <a:endParaRPr lang="en-US" sz="1400" dirty="0">
                        <a:latin typeface="Calibri" charset="0"/>
                        <a:ea typeface="Calibri" charset="0"/>
                        <a:cs typeface="Calibri" charset="0"/>
                      </a:endParaRPr>
                    </a:p>
                  </a:txBody>
                  <a:tcPr marL="101600" marR="101600" marT="50800" marB="50800">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FFFFFF"/>
                    </a:solidFill>
                  </a:tcPr>
                </a:tc>
                <a:tc>
                  <a:txBody>
                    <a:bodyPr/>
                    <a:lstStyle/>
                    <a:p>
                      <a:pPr indent="0" marL="0">
                        <a:buNone/>
                      </a:pPr>
                      <a:r>
                        <a:rPr lang="en-US" sz="1400" b="1" dirty="0">
                          <a:solidFill>
                            <a:srgbClr val="0D5F73"/>
                          </a:solidFill>
                          <a:latin typeface="Calibri" pitchFamily="34" charset="0"/>
                          <a:ea typeface="Calibri" pitchFamily="34" charset="-122"/>
                          <a:cs typeface="Calibri" pitchFamily="34" charset="-120"/>
                        </a:rPr>
                        <a:t>1.89</a:t>
                      </a:r>
                      <a:endParaRPr lang="en-US" sz="1400" dirty="0">
                        <a:latin typeface="Calibri" charset="0"/>
                        <a:ea typeface="Calibri" charset="0"/>
                        <a:cs typeface="Calibri" charset="0"/>
                      </a:endParaRPr>
                    </a:p>
                  </a:txBody>
                  <a:tcPr marL="101600" marR="101600" marT="50800" marB="50800">
                    <a:lnL w="9525" cap="flat" cmpd="sng" algn="ctr">
                      <a:solidFill>
                        <a:srgbClr val="D9E1E5"/>
                      </a:solidFill>
                      <a:prstDash val="solid"/>
                      <a:round/>
                      <a:headEnd type="none" w="med" len="med"/>
                      <a:tailEnd type="none" w="med" len="med"/>
                    </a:lnL>
                    <a:lnR w="9525" cap="flat" cmpd="sng" algn="ctr">
                      <a:solidFill>
                        <a:srgbClr val="D9E1E5"/>
                      </a:solidFill>
                      <a:prstDash val="solid"/>
                      <a:round/>
                      <a:headEnd type="none" w="med" len="med"/>
                      <a:tailEnd type="none" w="med" len="med"/>
                    </a:lnR>
                    <a:lnT w="9525" cap="flat" cmpd="sng" algn="ctr">
                      <a:solidFill>
                        <a:srgbClr val="D9E1E5"/>
                      </a:solidFill>
                      <a:prstDash val="solid"/>
                      <a:round/>
                      <a:headEnd type="none" w="med" len="med"/>
                      <a:tailEnd type="none" w="med" len="med"/>
                    </a:lnT>
                    <a:lnB w="9525" cap="flat" cmpd="sng" algn="ctr">
                      <a:solidFill>
                        <a:srgbClr val="D9E1E5"/>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6858000" y="3931920"/>
            <a:ext cx="4754880" cy="2011680"/>
          </a:xfrm>
          <a:prstGeom prst="rect">
            <a:avLst/>
          </a:prstGeom>
          <a:noFill/>
          <a:ln/>
        </p:spPr>
        <p:txBody>
          <a:bodyPr wrap="square" lIns="0" tIns="0" rIns="0" bIns="0" rtlCol="0" anchor="t"/>
          <a:lstStyle/>
          <a:p>
            <a:pPr indent="0" marL="0">
              <a:buNone/>
            </a:pPr>
            <a:r>
              <a:rPr lang="en-US" sz="1400" dirty="0">
                <a:solidFill>
                  <a:srgbClr val="15232A"/>
                </a:solidFill>
                <a:latin typeface="Calibri" pitchFamily="34" charset="0"/>
                <a:ea typeface="Calibri" pitchFamily="34" charset="-122"/>
                <a:cs typeface="Calibri" pitchFamily="34" charset="-120"/>
              </a:rPr>
              <a:t>How we did it without cheating: both changes were chosen on development patients with a rule written before the experiment. The test set was re-scored once, the reason is logged, and v1 results are kept unchanged.</a:t>
            </a:r>
            <a:endParaRPr lang="en-US" sz="14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6676F"/>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rgbClr val="15232A"/>
                </a:solidFill>
                <a:latin typeface="Cambria" pitchFamily="34" charset="0"/>
                <a:ea typeface="Cambria" pitchFamily="34" charset="-122"/>
                <a:cs typeface="Cambria" pitchFamily="34" charset="-120"/>
              </a:rPr>
              <a:t>It transfers: external validation on a US cohort</a:t>
            </a:r>
            <a:endParaRPr lang="en-US" sz="3000" dirty="0"/>
          </a:p>
        </p:txBody>
      </p:sp>
      <p:graphicFrame>
        <p:nvGraphicFramePr>
          <p:cNvPr id="3" name="Chart 0" descr=""/>
          <p:cNvGraphicFramePr/>
          <p:nvPr/>
        </p:nvGraphicFramePr>
        <p:xfrm>
          <a:off x="548640" y="1234440"/>
          <a:ext cx="6583680" cy="493776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452360" y="1325880"/>
            <a:ext cx="4160520" cy="2286000"/>
          </a:xfrm>
          <a:prstGeom prst="roundRect">
            <a:avLst>
              <a:gd name="adj" fmla="val 3200"/>
            </a:avLst>
          </a:prstGeom>
          <a:solidFill>
            <a:srgbClr val="E1EFF2"/>
          </a:solidFill>
          <a:ln w="12700">
            <a:solidFill>
              <a:srgbClr val="E1EFF2"/>
            </a:solidFill>
            <a:prstDash val="solid"/>
          </a:ln>
        </p:spPr>
      </p:sp>
      <p:sp>
        <p:nvSpPr>
          <p:cNvPr id="5" name="Text 2"/>
          <p:cNvSpPr txBox="1"/>
          <p:nvPr/>
        </p:nvSpPr>
        <p:spPr>
          <a:xfrm>
            <a:off x="7653528" y="1490472"/>
            <a:ext cx="3758184" cy="365760"/>
          </a:xfrm>
          <a:prstGeom prst="rect">
            <a:avLst/>
          </a:prstGeom>
          <a:noFill/>
          <a:ln/>
        </p:spPr>
        <p:txBody>
          <a:bodyPr wrap="square" lIns="0" tIns="0" rIns="0" bIns="0" rtlCol="0" anchor="t"/>
          <a:lstStyle/>
          <a:p>
            <a:pPr indent="0" marL="0">
              <a:buNone/>
            </a:pPr>
            <a:r>
              <a:rPr lang="en-US" sz="1500" b="1" dirty="0">
                <a:solidFill>
                  <a:srgbClr val="0D5F73"/>
                </a:solidFill>
                <a:latin typeface="Calibri" pitchFamily="34" charset="0"/>
                <a:ea typeface="Calibri" pitchFamily="34" charset="-122"/>
                <a:cs typeface="Calibri" pitchFamily="34" charset="-120"/>
              </a:rPr>
              <a:t>Different country, sensor and setting</a:t>
            </a:r>
            <a:endParaRPr lang="en-US" sz="1500" dirty="0"/>
          </a:p>
        </p:txBody>
      </p:sp>
      <p:sp>
        <p:nvSpPr>
          <p:cNvPr id="6" name="Text 3"/>
          <p:cNvSpPr txBox="1"/>
          <p:nvPr/>
        </p:nvSpPr>
        <p:spPr>
          <a:xfrm>
            <a:off x="7653528" y="1892808"/>
            <a:ext cx="3758184" cy="1600200"/>
          </a:xfrm>
          <a:prstGeom prst="rect">
            <a:avLst/>
          </a:prstGeom>
          <a:noFill/>
          <a:ln/>
        </p:spPr>
        <p:txBody>
          <a:bodyPr wrap="square" lIns="0" tIns="0" rIns="0" bIns="0" rtlCol="0" anchor="t"/>
          <a:lstStyle/>
          <a:p>
            <a:pPr indent="0" marL="0">
              <a:buNone/>
            </a:pPr>
            <a:r>
              <a:rPr lang="en-US" sz="1300" dirty="0">
                <a:solidFill>
                  <a:srgbClr val="15232A"/>
                </a:solidFill>
                <a:latin typeface="Calibri" pitchFamily="34" charset="0"/>
                <a:ea typeface="Calibri" pitchFamily="34" charset="-122"/>
                <a:cs typeface="Calibri" pitchFamily="34" charset="-120"/>
              </a:rPr>
              <a:t>Free-living US adults, Libre Pro, no refitting. Interval coverage stays at 78% in T2D. Rise-above-180 alerts in T2D: 91.4% sensitivity, 58% PPV, 1.07 false alerts per day.</a:t>
            </a:r>
            <a:endParaRPr lang="en-US" sz="1300" dirty="0"/>
          </a:p>
        </p:txBody>
      </p:sp>
      <p:sp>
        <p:nvSpPr>
          <p:cNvPr id="7" name="Shape 4"/>
          <p:cNvSpPr/>
          <p:nvPr/>
        </p:nvSpPr>
        <p:spPr>
          <a:xfrm>
            <a:off x="7452360" y="3794760"/>
            <a:ext cx="4160520" cy="2377440"/>
          </a:xfrm>
          <a:prstGeom prst="roundRect">
            <a:avLst>
              <a:gd name="adj" fmla="val 3077"/>
            </a:avLst>
          </a:prstGeom>
          <a:solidFill>
            <a:srgbClr val="F3F6F7"/>
          </a:solidFill>
          <a:ln w="12700">
            <a:solidFill>
              <a:srgbClr val="F3F6F7"/>
            </a:solidFill>
            <a:prstDash val="solid"/>
          </a:ln>
        </p:spPr>
      </p:sp>
      <p:sp>
        <p:nvSpPr>
          <p:cNvPr id="8" name="Text 5"/>
          <p:cNvSpPr txBox="1"/>
          <p:nvPr/>
        </p:nvSpPr>
        <p:spPr>
          <a:xfrm>
            <a:off x="7653528" y="3959352"/>
            <a:ext cx="3758184" cy="365760"/>
          </a:xfrm>
          <a:prstGeom prst="rect">
            <a:avLst/>
          </a:prstGeom>
          <a:noFill/>
          <a:ln/>
        </p:spPr>
        <p:txBody>
          <a:bodyPr wrap="square" lIns="0" tIns="0" rIns="0" bIns="0" rtlCol="0" anchor="t"/>
          <a:lstStyle/>
          <a:p>
            <a:pPr indent="0" marL="0">
              <a:buNone/>
            </a:pPr>
            <a:r>
              <a:rPr lang="en-US" sz="1500" b="1" dirty="0">
                <a:solidFill>
                  <a:srgbClr val="0D5F73"/>
                </a:solidFill>
                <a:latin typeface="Calibri" pitchFamily="34" charset="0"/>
                <a:ea typeface="Calibri" pitchFamily="34" charset="-122"/>
                <a:cs typeface="Calibri" pitchFamily="34" charset="-120"/>
              </a:rPr>
              <a:t>Where it does not help</a:t>
            </a:r>
            <a:endParaRPr lang="en-US" sz="1500" dirty="0"/>
          </a:p>
        </p:txBody>
      </p:sp>
      <p:sp>
        <p:nvSpPr>
          <p:cNvPr id="9" name="Text 6"/>
          <p:cNvSpPr txBox="1"/>
          <p:nvPr/>
        </p:nvSpPr>
        <p:spPr>
          <a:xfrm>
            <a:off x="7653528" y="4361688"/>
            <a:ext cx="3758184" cy="1691640"/>
          </a:xfrm>
          <a:prstGeom prst="rect">
            <a:avLst/>
          </a:prstGeom>
          <a:noFill/>
          <a:ln/>
        </p:spPr>
        <p:txBody>
          <a:bodyPr wrap="square" lIns="0" tIns="0" rIns="0" bIns="0" rtlCol="0" anchor="t"/>
          <a:lstStyle/>
          <a:p>
            <a:pPr indent="0" marL="0">
              <a:buNone/>
            </a:pPr>
            <a:r>
              <a:rPr lang="en-US" sz="1300" dirty="0">
                <a:solidFill>
                  <a:srgbClr val="15232A"/>
                </a:solidFill>
                <a:latin typeface="Calibri" pitchFamily="34" charset="0"/>
                <a:ea typeface="Calibri" pitchFamily="34" charset="-122"/>
                <a:cs typeface="Calibri" pitchFamily="34" charset="-120"/>
              </a:rPr>
              <a:t>In healthy participants the gain over last value is close to zero: expected for a model trained on T2D. Medications and most labs are missing in CGMacros and were passed as missing, never as zero.</a:t>
            </a:r>
            <a:endParaRPr lang="en-US" sz="13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6676F"/>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rgbClr val="15232A"/>
                </a:solidFill>
                <a:latin typeface="Cambria" pitchFamily="34" charset="0"/>
                <a:ea typeface="Cambria" pitchFamily="34" charset="-122"/>
                <a:cs typeface="Cambria" pitchFamily="34" charset="-120"/>
              </a:rPr>
              <a:t>The product: what a care team sees</a:t>
            </a:r>
            <a:endParaRPr lang="en-US" sz="3000" dirty="0"/>
          </a:p>
        </p:txBody>
      </p:sp>
      <p:pic>
        <p:nvPicPr>
          <p:cNvPr id="3" name="Image 0" descr="C:\Codeing\Github\Aflatoon_Scaler-School-of-Technology\docs\screenshots\worklist.png">    </p:cNvPr>
          <p:cNvPicPr>
            <a:picLocks noChangeAspect="1"/>
          </p:cNvPicPr>
          <p:nvPr/>
        </p:nvPicPr>
        <p:blipFill>
          <a:blip r:embed="rId1"/>
          <a:stretch>
            <a:fillRect/>
          </a:stretch>
        </p:blipFill>
        <p:spPr>
          <a:xfrm>
            <a:off x="548640" y="1280160"/>
            <a:ext cx="5440680" cy="3401568"/>
          </a:xfrm>
          <a:prstGeom prst="rect">
            <a:avLst/>
          </a:prstGeom>
        </p:spPr>
      </p:pic>
      <p:sp>
        <p:nvSpPr>
          <p:cNvPr id="4" name="Shape 1"/>
          <p:cNvSpPr/>
          <p:nvPr/>
        </p:nvSpPr>
        <p:spPr>
          <a:xfrm>
            <a:off x="548640" y="1280160"/>
            <a:ext cx="5440680" cy="3401568"/>
          </a:xfrm>
          <a:prstGeom prst="rect">
            <a:avLst/>
          </a:prstGeom>
          <a:ln w="9525">
            <a:solidFill>
              <a:srgbClr val="D9E1E5"/>
            </a:solidFill>
            <a:prstDash val="solid"/>
          </a:ln>
        </p:spPr>
      </p:sp>
      <p:sp>
        <p:nvSpPr>
          <p:cNvPr id="5" name="Text 2"/>
          <p:cNvSpPr txBox="1"/>
          <p:nvPr/>
        </p:nvSpPr>
        <p:spPr>
          <a:xfrm>
            <a:off x="548640" y="4754880"/>
            <a:ext cx="5440680" cy="457200"/>
          </a:xfrm>
          <a:prstGeom prst="rect">
            <a:avLst/>
          </a:prstGeom>
          <a:noFill/>
          <a:ln/>
        </p:spPr>
        <p:txBody>
          <a:bodyPr wrap="square" lIns="0" tIns="0" rIns="0" bIns="0" rtlCol="0" anchor="t"/>
          <a:lstStyle/>
          <a:p>
            <a:pPr indent="0" marL="0">
              <a:buNone/>
            </a:pPr>
            <a:r>
              <a:rPr lang="en-US" sz="1300" dirty="0">
                <a:solidFill>
                  <a:srgbClr val="56676F"/>
                </a:solidFill>
                <a:latin typeface="Calibri" pitchFamily="34" charset="0"/>
                <a:ea typeface="Calibri" pitchFamily="34" charset="-122"/>
                <a:cs typeface="Calibri" pitchFamily="34" charset="-120"/>
              </a:rPr>
              <a:t>Worklist: panel ranked by consensus targets and predicted risk</a:t>
            </a:r>
            <a:endParaRPr lang="en-US" sz="1300" dirty="0"/>
          </a:p>
        </p:txBody>
      </p:sp>
      <p:pic>
        <p:nvPicPr>
          <p:cNvPr id="6" name="Image 1" descr="C:\Codeing\Github\Aflatoon_Scaler-School-of-Technology\docs\screenshots\twin.png">    </p:cNvPr>
          <p:cNvPicPr>
            <a:picLocks noChangeAspect="1"/>
          </p:cNvPicPr>
          <p:nvPr/>
        </p:nvPicPr>
        <p:blipFill>
          <a:blip r:embed="rId2"/>
          <a:stretch>
            <a:fillRect/>
          </a:stretch>
        </p:blipFill>
        <p:spPr>
          <a:xfrm>
            <a:off x="6172200" y="1280160"/>
            <a:ext cx="5440680" cy="3401568"/>
          </a:xfrm>
          <a:prstGeom prst="rect">
            <a:avLst/>
          </a:prstGeom>
        </p:spPr>
      </p:pic>
      <p:sp>
        <p:nvSpPr>
          <p:cNvPr id="7" name="Shape 3"/>
          <p:cNvSpPr/>
          <p:nvPr/>
        </p:nvSpPr>
        <p:spPr>
          <a:xfrm>
            <a:off x="6172200" y="1280160"/>
            <a:ext cx="5440680" cy="3401568"/>
          </a:xfrm>
          <a:prstGeom prst="rect">
            <a:avLst/>
          </a:prstGeom>
          <a:ln w="9525">
            <a:solidFill>
              <a:srgbClr val="D9E1E5"/>
            </a:solidFill>
            <a:prstDash val="solid"/>
          </a:ln>
        </p:spPr>
      </p:sp>
      <p:sp>
        <p:nvSpPr>
          <p:cNvPr id="8" name="Text 4"/>
          <p:cNvSpPr txBox="1"/>
          <p:nvPr/>
        </p:nvSpPr>
        <p:spPr>
          <a:xfrm>
            <a:off x="6172200" y="4754880"/>
            <a:ext cx="5440680" cy="457200"/>
          </a:xfrm>
          <a:prstGeom prst="rect">
            <a:avLst/>
          </a:prstGeom>
          <a:noFill/>
          <a:ln/>
        </p:spPr>
        <p:txBody>
          <a:bodyPr wrap="square" lIns="0" tIns="0" rIns="0" bIns="0" rtlCol="0" anchor="t"/>
          <a:lstStyle/>
          <a:p>
            <a:pPr indent="0" marL="0">
              <a:buNone/>
            </a:pPr>
            <a:r>
              <a:rPr lang="en-US" sz="1300" dirty="0">
                <a:solidFill>
                  <a:srgbClr val="56676F"/>
                </a:solidFill>
                <a:latin typeface="Calibri" pitchFamily="34" charset="0"/>
                <a:ea typeface="Calibri" pitchFamily="34" charset="-122"/>
                <a:cs typeface="Calibri" pitchFamily="34" charset="-120"/>
              </a:rPr>
              <a:t>Patient twin: forecast band, past forecasts vs reality, drivers</a:t>
            </a:r>
            <a:endParaRPr lang="en-US" sz="1300" dirty="0"/>
          </a:p>
        </p:txBody>
      </p:sp>
      <p:sp>
        <p:nvSpPr>
          <p:cNvPr id="9" name="Shape 5"/>
          <p:cNvSpPr/>
          <p:nvPr/>
        </p:nvSpPr>
        <p:spPr>
          <a:xfrm>
            <a:off x="548640" y="5532120"/>
            <a:ext cx="1531620" cy="292608"/>
          </a:xfrm>
          <a:prstGeom prst="roundRect">
            <a:avLst>
              <a:gd name="adj" fmla="val 50000"/>
            </a:avLst>
          </a:prstGeom>
          <a:solidFill>
            <a:srgbClr val="FFFFFF"/>
          </a:solidFill>
          <a:ln w="12700">
            <a:solidFill>
              <a:srgbClr val="2E8B57"/>
            </a:solidFill>
            <a:prstDash val="solid"/>
          </a:ln>
        </p:spPr>
      </p:sp>
      <p:sp>
        <p:nvSpPr>
          <p:cNvPr id="10" name="Text 6"/>
          <p:cNvSpPr txBox="1"/>
          <p:nvPr/>
        </p:nvSpPr>
        <p:spPr>
          <a:xfrm>
            <a:off x="548640" y="5541264"/>
            <a:ext cx="1531620" cy="274320"/>
          </a:xfrm>
          <a:prstGeom prst="rect">
            <a:avLst/>
          </a:prstGeom>
          <a:noFill/>
          <a:ln/>
        </p:spPr>
        <p:txBody>
          <a:bodyPr wrap="square" lIns="0" tIns="0" rIns="0" bIns="0" rtlCol="0" anchor="ctr"/>
          <a:lstStyle/>
          <a:p>
            <a:pPr algn="ctr" indent="0" marL="0">
              <a:buNone/>
            </a:pPr>
            <a:r>
              <a:rPr lang="en-US" sz="1050" dirty="0">
                <a:solidFill>
                  <a:srgbClr val="2E8B57"/>
                </a:solidFill>
                <a:latin typeface="Calibri" pitchFamily="34" charset="0"/>
                <a:ea typeface="Calibri" pitchFamily="34" charset="-122"/>
                <a:cs typeface="Calibri" pitchFamily="34" charset="-120"/>
              </a:rPr>
              <a:t>Research record</a:t>
            </a:r>
            <a:endParaRPr lang="en-US" sz="1050" dirty="0"/>
          </a:p>
        </p:txBody>
      </p:sp>
      <p:sp>
        <p:nvSpPr>
          <p:cNvPr id="11" name="Shape 7"/>
          <p:cNvSpPr/>
          <p:nvPr/>
        </p:nvSpPr>
        <p:spPr>
          <a:xfrm>
            <a:off x="2263140" y="5532120"/>
            <a:ext cx="1298448" cy="292608"/>
          </a:xfrm>
          <a:prstGeom prst="roundRect">
            <a:avLst>
              <a:gd name="adj" fmla="val 50000"/>
            </a:avLst>
          </a:prstGeom>
          <a:solidFill>
            <a:srgbClr val="FFFFFF"/>
          </a:solidFill>
          <a:ln w="12700">
            <a:solidFill>
              <a:srgbClr val="2E8B57"/>
            </a:solidFill>
            <a:prstDash val="solid"/>
          </a:ln>
        </p:spPr>
      </p:sp>
      <p:sp>
        <p:nvSpPr>
          <p:cNvPr id="12" name="Text 8"/>
          <p:cNvSpPr txBox="1"/>
          <p:nvPr/>
        </p:nvSpPr>
        <p:spPr>
          <a:xfrm>
            <a:off x="2263140" y="5541264"/>
            <a:ext cx="1298448" cy="274320"/>
          </a:xfrm>
          <a:prstGeom prst="rect">
            <a:avLst/>
          </a:prstGeom>
          <a:noFill/>
          <a:ln/>
        </p:spPr>
        <p:txBody>
          <a:bodyPr wrap="square" lIns="0" tIns="0" rIns="0" bIns="0" rtlCol="0" anchor="ctr"/>
          <a:lstStyle/>
          <a:p>
            <a:pPr algn="ctr" indent="0" marL="0">
              <a:buNone/>
            </a:pPr>
            <a:r>
              <a:rPr lang="en-US" sz="1050" dirty="0">
                <a:solidFill>
                  <a:srgbClr val="2E8B57"/>
                </a:solidFill>
                <a:latin typeface="Calibri" pitchFamily="34" charset="0"/>
                <a:ea typeface="Calibri" pitchFamily="34" charset="-122"/>
                <a:cs typeface="Calibri" pitchFamily="34" charset="-120"/>
              </a:rPr>
              <a:t>Replayed CGM</a:t>
            </a:r>
            <a:endParaRPr lang="en-US" sz="1050" dirty="0"/>
          </a:p>
        </p:txBody>
      </p:sp>
      <p:sp>
        <p:nvSpPr>
          <p:cNvPr id="13" name="Shape 9"/>
          <p:cNvSpPr/>
          <p:nvPr/>
        </p:nvSpPr>
        <p:spPr>
          <a:xfrm>
            <a:off x="3744468" y="5532120"/>
            <a:ext cx="1453896" cy="292608"/>
          </a:xfrm>
          <a:prstGeom prst="roundRect">
            <a:avLst>
              <a:gd name="adj" fmla="val 50000"/>
            </a:avLst>
          </a:prstGeom>
          <a:solidFill>
            <a:srgbClr val="FFFFFF"/>
          </a:solidFill>
          <a:ln w="12700">
            <a:solidFill>
              <a:srgbClr val="0D5F73"/>
            </a:solidFill>
            <a:prstDash val="solid"/>
          </a:ln>
        </p:spPr>
      </p:sp>
      <p:sp>
        <p:nvSpPr>
          <p:cNvPr id="14" name="Text 10"/>
          <p:cNvSpPr txBox="1"/>
          <p:nvPr/>
        </p:nvSpPr>
        <p:spPr>
          <a:xfrm>
            <a:off x="3744468" y="5541264"/>
            <a:ext cx="1453896" cy="274320"/>
          </a:xfrm>
          <a:prstGeom prst="rect">
            <a:avLst/>
          </a:prstGeom>
          <a:noFill/>
          <a:ln/>
        </p:spPr>
        <p:txBody>
          <a:bodyPr wrap="square" lIns="0" tIns="0" rIns="0" bIns="0" rtlCol="0" anchor="ctr"/>
          <a:lstStyle/>
          <a:p>
            <a:pPr algn="ctr" indent="0" marL="0">
              <a:buNone/>
            </a:pPr>
            <a:r>
              <a:rPr lang="en-US" sz="1050" dirty="0">
                <a:solidFill>
                  <a:srgbClr val="0D5F73"/>
                </a:solidFill>
                <a:latin typeface="Calibri" pitchFamily="34" charset="0"/>
                <a:ea typeface="Calibri" pitchFamily="34" charset="-122"/>
                <a:cs typeface="Calibri" pitchFamily="34" charset="-120"/>
              </a:rPr>
              <a:t>Model forecast</a:t>
            </a:r>
            <a:endParaRPr lang="en-US" sz="1050" dirty="0"/>
          </a:p>
        </p:txBody>
      </p:sp>
      <p:sp>
        <p:nvSpPr>
          <p:cNvPr id="15" name="Shape 11"/>
          <p:cNvSpPr/>
          <p:nvPr/>
        </p:nvSpPr>
        <p:spPr>
          <a:xfrm>
            <a:off x="5381244" y="5532120"/>
            <a:ext cx="2231136" cy="292608"/>
          </a:xfrm>
          <a:prstGeom prst="roundRect">
            <a:avLst>
              <a:gd name="adj" fmla="val 50000"/>
            </a:avLst>
          </a:prstGeom>
          <a:solidFill>
            <a:srgbClr val="FFFFFF"/>
          </a:solidFill>
          <a:ln w="12700">
            <a:solidFill>
              <a:srgbClr val="C98A00"/>
            </a:solidFill>
            <a:prstDash val="solid"/>
          </a:ln>
        </p:spPr>
      </p:sp>
      <p:sp>
        <p:nvSpPr>
          <p:cNvPr id="16" name="Text 12"/>
          <p:cNvSpPr txBox="1"/>
          <p:nvPr/>
        </p:nvSpPr>
        <p:spPr>
          <a:xfrm>
            <a:off x="5381244" y="5541264"/>
            <a:ext cx="2231136" cy="274320"/>
          </a:xfrm>
          <a:prstGeom prst="rect">
            <a:avLst/>
          </a:prstGeom>
          <a:noFill/>
          <a:ln/>
        </p:spPr>
        <p:txBody>
          <a:bodyPr wrap="square" lIns="0" tIns="0" rIns="0" bIns="0" rtlCol="0" anchor="ctr"/>
          <a:lstStyle/>
          <a:p>
            <a:pPr algn="ctr" indent="0" marL="0">
              <a:buNone/>
            </a:pPr>
            <a:r>
              <a:rPr lang="en-US" sz="1050" dirty="0">
                <a:solidFill>
                  <a:srgbClr val="C98A00"/>
                </a:solidFill>
                <a:latin typeface="Calibri" pitchFamily="34" charset="0"/>
                <a:ea typeface="Calibri" pitchFamily="34" charset="-122"/>
                <a:cs typeface="Calibri" pitchFamily="34" charset="-120"/>
              </a:rPr>
              <a:t>Sensitivity · not causal</a:t>
            </a:r>
            <a:endParaRPr lang="en-US" sz="1050" dirty="0"/>
          </a:p>
        </p:txBody>
      </p:sp>
      <p:sp>
        <p:nvSpPr>
          <p:cNvPr id="17" name="Shape 13"/>
          <p:cNvSpPr/>
          <p:nvPr/>
        </p:nvSpPr>
        <p:spPr>
          <a:xfrm>
            <a:off x="7795260" y="5532120"/>
            <a:ext cx="1220724" cy="292608"/>
          </a:xfrm>
          <a:prstGeom prst="roundRect">
            <a:avLst>
              <a:gd name="adj" fmla="val 50000"/>
            </a:avLst>
          </a:prstGeom>
          <a:solidFill>
            <a:srgbClr val="FFFFFF"/>
          </a:solidFill>
          <a:ln w="12700">
            <a:solidFill>
              <a:srgbClr val="0D5F73"/>
            </a:solidFill>
            <a:prstDash val="solid"/>
          </a:ln>
        </p:spPr>
      </p:sp>
      <p:sp>
        <p:nvSpPr>
          <p:cNvPr id="18" name="Text 14"/>
          <p:cNvSpPr txBox="1"/>
          <p:nvPr/>
        </p:nvSpPr>
        <p:spPr>
          <a:xfrm>
            <a:off x="7795260" y="5541264"/>
            <a:ext cx="1220724" cy="274320"/>
          </a:xfrm>
          <a:prstGeom prst="rect">
            <a:avLst/>
          </a:prstGeom>
          <a:noFill/>
          <a:ln/>
        </p:spPr>
        <p:txBody>
          <a:bodyPr wrap="square" lIns="0" tIns="0" rIns="0" bIns="0" rtlCol="0" anchor="ctr"/>
          <a:lstStyle/>
          <a:p>
            <a:pPr algn="ctr" indent="0" marL="0">
              <a:buNone/>
            </a:pPr>
            <a:r>
              <a:rPr lang="en-US" sz="1050" dirty="0">
                <a:solidFill>
                  <a:srgbClr val="0D5F73"/>
                </a:solidFill>
                <a:latin typeface="Calibri" pitchFamily="34" charset="0"/>
                <a:ea typeface="Calibri" pitchFamily="34" charset="-122"/>
                <a:cs typeface="Calibri" pitchFamily="34" charset="-120"/>
              </a:rPr>
              <a:t>LIVE stream</a:t>
            </a:r>
            <a:endParaRPr lang="en-US" sz="1050" dirty="0"/>
          </a:p>
        </p:txBody>
      </p:sp>
      <p:sp>
        <p:nvSpPr>
          <p:cNvPr id="19" name="Text 15"/>
          <p:cNvSpPr txBox="1"/>
          <p:nvPr/>
        </p:nvSpPr>
        <p:spPr>
          <a:xfrm>
            <a:off x="548640" y="5943600"/>
            <a:ext cx="11064240" cy="320040"/>
          </a:xfrm>
          <a:prstGeom prst="rect">
            <a:avLst/>
          </a:prstGeom>
          <a:noFill/>
          <a:ln/>
        </p:spPr>
        <p:txBody>
          <a:bodyPr wrap="square" lIns="0" tIns="0" rIns="0" bIns="0" rtlCol="0" anchor="t"/>
          <a:lstStyle/>
          <a:p>
            <a:pPr indent="0" marL="0">
              <a:buNone/>
            </a:pPr>
            <a:r>
              <a:rPr lang="en-US" sz="1250" dirty="0">
                <a:solidFill>
                  <a:srgbClr val="56676F"/>
                </a:solidFill>
                <a:latin typeface="Calibri" pitchFamily="34" charset="0"/>
                <a:ea typeface="Calibri" pitchFamily="34" charset="-122"/>
                <a:cs typeface="Calibri" pitchFamily="34" charset="-120"/>
              </a:rPr>
              <a:t>Also: forecast ledger · what-if · FHIR R4 record · live streaming · evidence page</a:t>
            </a:r>
            <a:endParaRPr lang="en-US" sz="125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6676F"/>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rgbClr val="15232A"/>
                </a:solidFill>
                <a:latin typeface="Cambria" pitchFamily="34" charset="0"/>
                <a:ea typeface="Cambria" pitchFamily="34" charset="-122"/>
                <a:cs typeface="Cambria" pitchFamily="34" charset="-120"/>
              </a:rPr>
              <a:t>Limitations we want the jury to know</a:t>
            </a:r>
            <a:endParaRPr lang="en-US" sz="3000" dirty="0"/>
          </a:p>
        </p:txBody>
      </p:sp>
      <p:sp>
        <p:nvSpPr>
          <p:cNvPr id="3" name="Shape 1"/>
          <p:cNvSpPr/>
          <p:nvPr/>
        </p:nvSpPr>
        <p:spPr>
          <a:xfrm>
            <a:off x="548640" y="1325880"/>
            <a:ext cx="5440680" cy="1481328"/>
          </a:xfrm>
          <a:prstGeom prst="roundRect">
            <a:avLst>
              <a:gd name="adj" fmla="val 4938"/>
            </a:avLst>
          </a:prstGeom>
          <a:solidFill>
            <a:srgbClr val="F3F6F7"/>
          </a:solidFill>
          <a:ln w="12700">
            <a:solidFill>
              <a:srgbClr val="F3F6F7"/>
            </a:solidFill>
            <a:prstDash val="solid"/>
          </a:ln>
        </p:spPr>
      </p:sp>
      <p:sp>
        <p:nvSpPr>
          <p:cNvPr id="4" name="Text 2"/>
          <p:cNvSpPr txBox="1"/>
          <p:nvPr/>
        </p:nvSpPr>
        <p:spPr>
          <a:xfrm>
            <a:off x="749808" y="1490472"/>
            <a:ext cx="5038344" cy="365760"/>
          </a:xfrm>
          <a:prstGeom prst="rect">
            <a:avLst/>
          </a:prstGeom>
          <a:noFill/>
          <a:ln/>
        </p:spPr>
        <p:txBody>
          <a:bodyPr wrap="square" lIns="0" tIns="0" rIns="0" bIns="0" rtlCol="0" anchor="t"/>
          <a:lstStyle/>
          <a:p>
            <a:pPr indent="0" marL="0">
              <a:buNone/>
            </a:pPr>
            <a:r>
              <a:rPr lang="en-US" sz="1500" b="1" dirty="0">
                <a:solidFill>
                  <a:srgbClr val="0D5F73"/>
                </a:solidFill>
                <a:latin typeface="Calibri" pitchFamily="34" charset="0"/>
                <a:ea typeface="Calibri" pitchFamily="34" charset="-122"/>
                <a:cs typeface="Calibri" pitchFamily="34" charset="-120"/>
              </a:rPr>
              <a:t>Population</a:t>
            </a:r>
            <a:endParaRPr lang="en-US" sz="1500" dirty="0"/>
          </a:p>
        </p:txBody>
      </p:sp>
      <p:sp>
        <p:nvSpPr>
          <p:cNvPr id="5" name="Text 3"/>
          <p:cNvSpPr txBox="1"/>
          <p:nvPr/>
        </p:nvSpPr>
        <p:spPr>
          <a:xfrm>
            <a:off x="749808" y="1892808"/>
            <a:ext cx="5038344" cy="795528"/>
          </a:xfrm>
          <a:prstGeom prst="rect">
            <a:avLst/>
          </a:prstGeom>
          <a:noFill/>
          <a:ln/>
        </p:spPr>
        <p:txBody>
          <a:bodyPr wrap="square" lIns="0" tIns="0" rIns="0" bIns="0" rtlCol="0" anchor="t"/>
          <a:lstStyle/>
          <a:p>
            <a:pPr indent="0" marL="0">
              <a:buNone/>
            </a:pPr>
            <a:r>
              <a:rPr lang="en-US" sz="1300" dirty="0">
                <a:solidFill>
                  <a:srgbClr val="15232A"/>
                </a:solidFill>
                <a:latin typeface="Calibri" pitchFamily="34" charset="0"/>
                <a:ea typeface="Calibri" pitchFamily="34" charset="-122"/>
                <a:cs typeface="Calibri" pitchFamily="34" charset="-120"/>
              </a:rPr>
              <a:t>Chinese hospital cohort, 2019–2021, partly in-hospital with regular meal times. Not Indian. External check covers the US, not India.</a:t>
            </a:r>
            <a:endParaRPr lang="en-US" sz="1300" dirty="0"/>
          </a:p>
        </p:txBody>
      </p:sp>
      <p:sp>
        <p:nvSpPr>
          <p:cNvPr id="6" name="Shape 4"/>
          <p:cNvSpPr/>
          <p:nvPr/>
        </p:nvSpPr>
        <p:spPr>
          <a:xfrm>
            <a:off x="6172200" y="1325880"/>
            <a:ext cx="5440680" cy="1481328"/>
          </a:xfrm>
          <a:prstGeom prst="roundRect">
            <a:avLst>
              <a:gd name="adj" fmla="val 4938"/>
            </a:avLst>
          </a:prstGeom>
          <a:solidFill>
            <a:srgbClr val="F3F6F7"/>
          </a:solidFill>
          <a:ln w="12700">
            <a:solidFill>
              <a:srgbClr val="F3F6F7"/>
            </a:solidFill>
            <a:prstDash val="solid"/>
          </a:ln>
        </p:spPr>
      </p:sp>
      <p:sp>
        <p:nvSpPr>
          <p:cNvPr id="7" name="Text 5"/>
          <p:cNvSpPr txBox="1"/>
          <p:nvPr/>
        </p:nvSpPr>
        <p:spPr>
          <a:xfrm>
            <a:off x="6373368" y="1490472"/>
            <a:ext cx="5038344" cy="365760"/>
          </a:xfrm>
          <a:prstGeom prst="rect">
            <a:avLst/>
          </a:prstGeom>
          <a:noFill/>
          <a:ln/>
        </p:spPr>
        <p:txBody>
          <a:bodyPr wrap="square" lIns="0" tIns="0" rIns="0" bIns="0" rtlCol="0" anchor="t"/>
          <a:lstStyle/>
          <a:p>
            <a:pPr indent="0" marL="0">
              <a:buNone/>
            </a:pPr>
            <a:r>
              <a:rPr lang="en-US" sz="1500" b="1" dirty="0">
                <a:solidFill>
                  <a:srgbClr val="0D5F73"/>
                </a:solidFill>
                <a:latin typeface="Calibri" pitchFamily="34" charset="0"/>
                <a:ea typeface="Calibri" pitchFamily="34" charset="-122"/>
                <a:cs typeface="Calibri" pitchFamily="34" charset="-120"/>
              </a:rPr>
              <a:t>Size</a:t>
            </a:r>
            <a:endParaRPr lang="en-US" sz="1500" dirty="0"/>
          </a:p>
        </p:txBody>
      </p:sp>
      <p:sp>
        <p:nvSpPr>
          <p:cNvPr id="8" name="Text 6"/>
          <p:cNvSpPr txBox="1"/>
          <p:nvPr/>
        </p:nvSpPr>
        <p:spPr>
          <a:xfrm>
            <a:off x="6373368" y="1892808"/>
            <a:ext cx="5038344" cy="795528"/>
          </a:xfrm>
          <a:prstGeom prst="rect">
            <a:avLst/>
          </a:prstGeom>
          <a:noFill/>
          <a:ln/>
        </p:spPr>
        <p:txBody>
          <a:bodyPr wrap="square" lIns="0" tIns="0" rIns="0" bIns="0" rtlCol="0" anchor="t"/>
          <a:lstStyle/>
          <a:p>
            <a:pPr indent="0" marL="0">
              <a:buNone/>
            </a:pPr>
            <a:r>
              <a:rPr lang="en-US" sz="1300" dirty="0">
                <a:solidFill>
                  <a:srgbClr val="15232A"/>
                </a:solidFill>
                <a:latin typeface="Calibri" pitchFamily="34" charset="0"/>
                <a:ea typeface="Calibri" pitchFamily="34" charset="-122"/>
                <a:cs typeface="Calibri" pitchFamily="34" charset="-120"/>
              </a:rPr>
              <a:t>100 patients, 3–14 days each; 20 test patients. Hence bootstrap CIs on every claim.</a:t>
            </a:r>
            <a:endParaRPr lang="en-US" sz="1300" dirty="0"/>
          </a:p>
        </p:txBody>
      </p:sp>
      <p:sp>
        <p:nvSpPr>
          <p:cNvPr id="9" name="Shape 7"/>
          <p:cNvSpPr/>
          <p:nvPr/>
        </p:nvSpPr>
        <p:spPr>
          <a:xfrm>
            <a:off x="548640" y="2971800"/>
            <a:ext cx="5440680" cy="1481328"/>
          </a:xfrm>
          <a:prstGeom prst="roundRect">
            <a:avLst>
              <a:gd name="adj" fmla="val 4938"/>
            </a:avLst>
          </a:prstGeom>
          <a:solidFill>
            <a:srgbClr val="F3F6F7"/>
          </a:solidFill>
          <a:ln w="12700">
            <a:solidFill>
              <a:srgbClr val="F3F6F7"/>
            </a:solidFill>
            <a:prstDash val="solid"/>
          </a:ln>
        </p:spPr>
      </p:sp>
      <p:sp>
        <p:nvSpPr>
          <p:cNvPr id="10" name="Text 8"/>
          <p:cNvSpPr txBox="1"/>
          <p:nvPr/>
        </p:nvSpPr>
        <p:spPr>
          <a:xfrm>
            <a:off x="749808" y="3136392"/>
            <a:ext cx="5038344" cy="365760"/>
          </a:xfrm>
          <a:prstGeom prst="rect">
            <a:avLst/>
          </a:prstGeom>
          <a:noFill/>
          <a:ln/>
        </p:spPr>
        <p:txBody>
          <a:bodyPr wrap="square" lIns="0" tIns="0" rIns="0" bIns="0" rtlCol="0" anchor="t"/>
          <a:lstStyle/>
          <a:p>
            <a:pPr indent="0" marL="0">
              <a:buNone/>
            </a:pPr>
            <a:r>
              <a:rPr lang="en-US" sz="1500" b="1" dirty="0">
                <a:solidFill>
                  <a:srgbClr val="0D5F73"/>
                </a:solidFill>
                <a:latin typeface="Calibri" pitchFamily="34" charset="0"/>
                <a:ea typeface="Calibri" pitchFamily="34" charset="-122"/>
                <a:cs typeface="Calibri" pitchFamily="34" charset="-120"/>
              </a:rPr>
              <a:t>Alert budget</a:t>
            </a:r>
            <a:endParaRPr lang="en-US" sz="1500" dirty="0"/>
          </a:p>
        </p:txBody>
      </p:sp>
      <p:sp>
        <p:nvSpPr>
          <p:cNvPr id="11" name="Text 9"/>
          <p:cNvSpPr txBox="1"/>
          <p:nvPr/>
        </p:nvSpPr>
        <p:spPr>
          <a:xfrm>
            <a:off x="749808" y="3538728"/>
            <a:ext cx="5038344" cy="795528"/>
          </a:xfrm>
          <a:prstGeom prst="rect">
            <a:avLst/>
          </a:prstGeom>
          <a:noFill/>
          <a:ln/>
        </p:spPr>
        <p:txBody>
          <a:bodyPr wrap="square" lIns="0" tIns="0" rIns="0" bIns="0" rtlCol="0" anchor="t"/>
          <a:lstStyle/>
          <a:p>
            <a:pPr indent="0" marL="0">
              <a:buNone/>
            </a:pPr>
            <a:r>
              <a:rPr lang="en-US" sz="1300" dirty="0">
                <a:solidFill>
                  <a:srgbClr val="15232A"/>
                </a:solidFill>
                <a:latin typeface="Calibri" pitchFamily="34" charset="0"/>
                <a:ea typeface="Calibri" pitchFamily="34" charset="-122"/>
                <a:cs typeface="Calibri" pitchFamily="34" charset="-120"/>
              </a:rPr>
              <a:t>1.38 false alerts per patient-day on test vs a development budget of 1.0; fewer alerts means some episodes are missed.</a:t>
            </a:r>
            <a:endParaRPr lang="en-US" sz="1300" dirty="0"/>
          </a:p>
        </p:txBody>
      </p:sp>
      <p:sp>
        <p:nvSpPr>
          <p:cNvPr id="12" name="Shape 10"/>
          <p:cNvSpPr/>
          <p:nvPr/>
        </p:nvSpPr>
        <p:spPr>
          <a:xfrm>
            <a:off x="6172200" y="2971800"/>
            <a:ext cx="5440680" cy="1481328"/>
          </a:xfrm>
          <a:prstGeom prst="roundRect">
            <a:avLst>
              <a:gd name="adj" fmla="val 4938"/>
            </a:avLst>
          </a:prstGeom>
          <a:solidFill>
            <a:srgbClr val="F3F6F7"/>
          </a:solidFill>
          <a:ln w="12700">
            <a:solidFill>
              <a:srgbClr val="F3F6F7"/>
            </a:solidFill>
            <a:prstDash val="solid"/>
          </a:ln>
        </p:spPr>
      </p:sp>
      <p:sp>
        <p:nvSpPr>
          <p:cNvPr id="13" name="Text 11"/>
          <p:cNvSpPr txBox="1"/>
          <p:nvPr/>
        </p:nvSpPr>
        <p:spPr>
          <a:xfrm>
            <a:off x="6373368" y="3136392"/>
            <a:ext cx="5038344" cy="365760"/>
          </a:xfrm>
          <a:prstGeom prst="rect">
            <a:avLst/>
          </a:prstGeom>
          <a:noFill/>
          <a:ln/>
        </p:spPr>
        <p:txBody>
          <a:bodyPr wrap="square" lIns="0" tIns="0" rIns="0" bIns="0" rtlCol="0" anchor="t"/>
          <a:lstStyle/>
          <a:p>
            <a:pPr indent="0" marL="0">
              <a:buNone/>
            </a:pPr>
            <a:r>
              <a:rPr lang="en-US" sz="1500" b="1" dirty="0">
                <a:solidFill>
                  <a:srgbClr val="0D5F73"/>
                </a:solidFill>
                <a:latin typeface="Calibri" pitchFamily="34" charset="0"/>
                <a:ea typeface="Calibri" pitchFamily="34" charset="-122"/>
                <a:cs typeface="Calibri" pitchFamily="34" charset="-120"/>
              </a:rPr>
              <a:t>Test reuse</a:t>
            </a:r>
            <a:endParaRPr lang="en-US" sz="1500" dirty="0"/>
          </a:p>
        </p:txBody>
      </p:sp>
      <p:sp>
        <p:nvSpPr>
          <p:cNvPr id="14" name="Text 12"/>
          <p:cNvSpPr txBox="1"/>
          <p:nvPr/>
        </p:nvSpPr>
        <p:spPr>
          <a:xfrm>
            <a:off x="6373368" y="3538728"/>
            <a:ext cx="5038344" cy="795528"/>
          </a:xfrm>
          <a:prstGeom prst="rect">
            <a:avLst/>
          </a:prstGeom>
          <a:noFill/>
          <a:ln/>
        </p:spPr>
        <p:txBody>
          <a:bodyPr wrap="square" lIns="0" tIns="0" rIns="0" bIns="0" rtlCol="0" anchor="t"/>
          <a:lstStyle/>
          <a:p>
            <a:pPr indent="0" marL="0">
              <a:buNone/>
            </a:pPr>
            <a:r>
              <a:rPr lang="en-US" sz="1300" dirty="0">
                <a:solidFill>
                  <a:srgbClr val="15232A"/>
                </a:solidFill>
                <a:latin typeface="Calibri" pitchFamily="34" charset="0"/>
                <a:ea typeface="Calibri" pitchFamily="34" charset="-122"/>
                <a:cs typeface="Calibri" pitchFamily="34" charset="-120"/>
              </a:rPr>
              <a:t>The test set was scored twice (v1, v2). v2 choices used development data only, but were motivated by what the v1 test revealed; both results are reported.</a:t>
            </a:r>
            <a:endParaRPr lang="en-US" sz="1300" dirty="0"/>
          </a:p>
        </p:txBody>
      </p:sp>
      <p:sp>
        <p:nvSpPr>
          <p:cNvPr id="15" name="Shape 13"/>
          <p:cNvSpPr/>
          <p:nvPr/>
        </p:nvSpPr>
        <p:spPr>
          <a:xfrm>
            <a:off x="548640" y="4617720"/>
            <a:ext cx="5440680" cy="1481328"/>
          </a:xfrm>
          <a:prstGeom prst="roundRect">
            <a:avLst>
              <a:gd name="adj" fmla="val 4938"/>
            </a:avLst>
          </a:prstGeom>
          <a:solidFill>
            <a:srgbClr val="F3F6F7"/>
          </a:solidFill>
          <a:ln w="12700">
            <a:solidFill>
              <a:srgbClr val="F3F6F7"/>
            </a:solidFill>
            <a:prstDash val="solid"/>
          </a:ln>
        </p:spPr>
      </p:sp>
      <p:sp>
        <p:nvSpPr>
          <p:cNvPr id="16" name="Text 14"/>
          <p:cNvSpPr txBox="1"/>
          <p:nvPr/>
        </p:nvSpPr>
        <p:spPr>
          <a:xfrm>
            <a:off x="749808" y="4782312"/>
            <a:ext cx="5038344" cy="365760"/>
          </a:xfrm>
          <a:prstGeom prst="rect">
            <a:avLst/>
          </a:prstGeom>
          <a:noFill/>
          <a:ln/>
        </p:spPr>
        <p:txBody>
          <a:bodyPr wrap="square" lIns="0" tIns="0" rIns="0" bIns="0" rtlCol="0" anchor="t"/>
          <a:lstStyle/>
          <a:p>
            <a:pPr indent="0" marL="0">
              <a:buNone/>
            </a:pPr>
            <a:r>
              <a:rPr lang="en-US" sz="1500" b="1" dirty="0">
                <a:solidFill>
                  <a:srgbClr val="0D5F73"/>
                </a:solidFill>
                <a:latin typeface="Calibri" pitchFamily="34" charset="0"/>
                <a:ea typeface="Calibri" pitchFamily="34" charset="-122"/>
                <a:cs typeface="Calibri" pitchFamily="34" charset="-120"/>
              </a:rPr>
              <a:t>Causality</a:t>
            </a:r>
            <a:endParaRPr lang="en-US" sz="1500" dirty="0"/>
          </a:p>
        </p:txBody>
      </p:sp>
      <p:sp>
        <p:nvSpPr>
          <p:cNvPr id="17" name="Text 15"/>
          <p:cNvSpPr txBox="1"/>
          <p:nvPr/>
        </p:nvSpPr>
        <p:spPr>
          <a:xfrm>
            <a:off x="749808" y="5184648"/>
            <a:ext cx="5038344" cy="795528"/>
          </a:xfrm>
          <a:prstGeom prst="rect">
            <a:avLst/>
          </a:prstGeom>
          <a:noFill/>
          <a:ln/>
        </p:spPr>
        <p:txBody>
          <a:bodyPr wrap="square" lIns="0" tIns="0" rIns="0" bIns="0" rtlCol="0" anchor="t"/>
          <a:lstStyle/>
          <a:p>
            <a:pPr indent="0" marL="0">
              <a:buNone/>
            </a:pPr>
            <a:r>
              <a:rPr lang="en-US" sz="1300" dirty="0">
                <a:solidFill>
                  <a:srgbClr val="15232A"/>
                </a:solidFill>
                <a:latin typeface="Calibri" pitchFamily="34" charset="0"/>
                <a:ea typeface="Calibri" pitchFamily="34" charset="-122"/>
                <a:cs typeface="Calibri" pitchFamily="34" charset="-120"/>
              </a:rPr>
              <a:t>The what-if shows model sensitivity, not the effect of eating or dosing.</a:t>
            </a:r>
            <a:endParaRPr lang="en-US" sz="1300" dirty="0"/>
          </a:p>
        </p:txBody>
      </p:sp>
      <p:sp>
        <p:nvSpPr>
          <p:cNvPr id="18" name="Shape 16"/>
          <p:cNvSpPr/>
          <p:nvPr/>
        </p:nvSpPr>
        <p:spPr>
          <a:xfrm>
            <a:off x="6172200" y="4617720"/>
            <a:ext cx="5440680" cy="1481328"/>
          </a:xfrm>
          <a:prstGeom prst="roundRect">
            <a:avLst>
              <a:gd name="adj" fmla="val 4938"/>
            </a:avLst>
          </a:prstGeom>
          <a:solidFill>
            <a:srgbClr val="F3F6F7"/>
          </a:solidFill>
          <a:ln w="12700">
            <a:solidFill>
              <a:srgbClr val="F3F6F7"/>
            </a:solidFill>
            <a:prstDash val="solid"/>
          </a:ln>
        </p:spPr>
      </p:sp>
      <p:sp>
        <p:nvSpPr>
          <p:cNvPr id="19" name="Text 17"/>
          <p:cNvSpPr txBox="1"/>
          <p:nvPr/>
        </p:nvSpPr>
        <p:spPr>
          <a:xfrm>
            <a:off x="6373368" y="4782312"/>
            <a:ext cx="5038344" cy="365760"/>
          </a:xfrm>
          <a:prstGeom prst="rect">
            <a:avLst/>
          </a:prstGeom>
          <a:noFill/>
          <a:ln/>
        </p:spPr>
        <p:txBody>
          <a:bodyPr wrap="square" lIns="0" tIns="0" rIns="0" bIns="0" rtlCol="0" anchor="t"/>
          <a:lstStyle/>
          <a:p>
            <a:pPr indent="0" marL="0">
              <a:buNone/>
            </a:pPr>
            <a:r>
              <a:rPr lang="en-US" sz="1500" b="1" dirty="0">
                <a:solidFill>
                  <a:srgbClr val="0D5F73"/>
                </a:solidFill>
                <a:latin typeface="Calibri" pitchFamily="34" charset="0"/>
                <a:ea typeface="Calibri" pitchFamily="34" charset="-122"/>
                <a:cs typeface="Calibri" pitchFamily="34" charset="-120"/>
              </a:rPr>
              <a:t>Evidence level</a:t>
            </a:r>
            <a:endParaRPr lang="en-US" sz="1500" dirty="0"/>
          </a:p>
        </p:txBody>
      </p:sp>
      <p:sp>
        <p:nvSpPr>
          <p:cNvPr id="20" name="Text 18"/>
          <p:cNvSpPr txBox="1"/>
          <p:nvPr/>
        </p:nvSpPr>
        <p:spPr>
          <a:xfrm>
            <a:off x="6373368" y="5184648"/>
            <a:ext cx="5038344" cy="795528"/>
          </a:xfrm>
          <a:prstGeom prst="rect">
            <a:avLst/>
          </a:prstGeom>
          <a:noFill/>
          <a:ln/>
        </p:spPr>
        <p:txBody>
          <a:bodyPr wrap="square" lIns="0" tIns="0" rIns="0" bIns="0" rtlCol="0" anchor="t"/>
          <a:lstStyle/>
          <a:p>
            <a:pPr indent="0" marL="0">
              <a:buNone/>
            </a:pPr>
            <a:r>
              <a:rPr lang="en-US" sz="1300" dirty="0">
                <a:solidFill>
                  <a:srgbClr val="15232A"/>
                </a:solidFill>
                <a:latin typeface="Calibri" pitchFamily="34" charset="0"/>
                <a:ea typeface="Calibri" pitchFamily="34" charset="-122"/>
                <a:cs typeface="Calibri" pitchFamily="34" charset="-120"/>
              </a:rPr>
              <a:t>Retrospective only. No prospective, real-time or outcome study.</a:t>
            </a:r>
            <a:endParaRPr lang="en-US" sz="13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6676F"/>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rgbClr val="15232A"/>
                </a:solidFill>
                <a:latin typeface="Cambria" pitchFamily="34" charset="0"/>
                <a:ea typeface="Cambria" pitchFamily="34" charset="-122"/>
                <a:cs typeface="Cambria" pitchFamily="34" charset="-120"/>
              </a:rPr>
              <a:t>Path to a real product</a:t>
            </a:r>
            <a:endParaRPr lang="en-US" sz="3000" dirty="0"/>
          </a:p>
        </p:txBody>
      </p:sp>
      <p:sp>
        <p:nvSpPr>
          <p:cNvPr id="3" name="Shape 1"/>
          <p:cNvSpPr/>
          <p:nvPr/>
        </p:nvSpPr>
        <p:spPr>
          <a:xfrm>
            <a:off x="548640" y="1325880"/>
            <a:ext cx="3566160" cy="2377440"/>
          </a:xfrm>
          <a:prstGeom prst="roundRect">
            <a:avLst>
              <a:gd name="adj" fmla="val 3077"/>
            </a:avLst>
          </a:prstGeom>
          <a:solidFill>
            <a:srgbClr val="F3F6F7"/>
          </a:solidFill>
          <a:ln w="12700">
            <a:solidFill>
              <a:srgbClr val="F3F6F7"/>
            </a:solidFill>
            <a:prstDash val="solid"/>
          </a:ln>
        </p:spPr>
      </p:sp>
      <p:sp>
        <p:nvSpPr>
          <p:cNvPr id="4" name="Text 2"/>
          <p:cNvSpPr txBox="1"/>
          <p:nvPr/>
        </p:nvSpPr>
        <p:spPr>
          <a:xfrm>
            <a:off x="749808" y="1490472"/>
            <a:ext cx="3163824" cy="365760"/>
          </a:xfrm>
          <a:prstGeom prst="rect">
            <a:avLst/>
          </a:prstGeom>
          <a:noFill/>
          <a:ln/>
        </p:spPr>
        <p:txBody>
          <a:bodyPr wrap="square" lIns="0" tIns="0" rIns="0" bIns="0" rtlCol="0" anchor="t"/>
          <a:lstStyle/>
          <a:p>
            <a:pPr indent="0" marL="0">
              <a:buNone/>
            </a:pPr>
            <a:r>
              <a:rPr lang="en-US" sz="1500" b="1" dirty="0">
                <a:solidFill>
                  <a:srgbClr val="0D5F73"/>
                </a:solidFill>
                <a:latin typeface="Calibri" pitchFamily="34" charset="0"/>
                <a:ea typeface="Calibri" pitchFamily="34" charset="-122"/>
                <a:cs typeface="Calibri" pitchFamily="34" charset="-120"/>
              </a:rPr>
              <a:t>Who would use and buy it (to validate)</a:t>
            </a:r>
            <a:endParaRPr lang="en-US" sz="1500" dirty="0"/>
          </a:p>
        </p:txBody>
      </p:sp>
      <p:sp>
        <p:nvSpPr>
          <p:cNvPr id="5" name="Text 3"/>
          <p:cNvSpPr txBox="1"/>
          <p:nvPr/>
        </p:nvSpPr>
        <p:spPr>
          <a:xfrm>
            <a:off x="749808" y="1892808"/>
            <a:ext cx="3163824" cy="1691640"/>
          </a:xfrm>
          <a:prstGeom prst="rect">
            <a:avLst/>
          </a:prstGeom>
          <a:noFill/>
          <a:ln/>
        </p:spPr>
        <p:txBody>
          <a:bodyPr wrap="square" lIns="0" tIns="0" rIns="0" bIns="0" rtlCol="0" anchor="t"/>
          <a:lstStyle/>
          <a:p>
            <a:pPr indent="0" marL="0">
              <a:buNone/>
            </a:pPr>
            <a:r>
              <a:rPr lang="en-US" sz="1300" dirty="0">
                <a:solidFill>
                  <a:srgbClr val="15232A"/>
                </a:solidFill>
                <a:latin typeface="Calibri" pitchFamily="34" charset="0"/>
                <a:ea typeface="Calibri" pitchFamily="34" charset="-122"/>
                <a:cs typeface="Calibri" pitchFamily="34" charset="-120"/>
              </a:rPr>
              <a:t>Diabetes clinic chains and digital-therapeutics programmes already running connected-CGM coaching. Value: triage of coach and educator time. Willingness to pay is untested.</a:t>
            </a:r>
            <a:endParaRPr lang="en-US" sz="1300" dirty="0"/>
          </a:p>
        </p:txBody>
      </p:sp>
      <p:sp>
        <p:nvSpPr>
          <p:cNvPr id="6" name="Shape 4"/>
          <p:cNvSpPr/>
          <p:nvPr/>
        </p:nvSpPr>
        <p:spPr>
          <a:xfrm>
            <a:off x="4315968" y="1325880"/>
            <a:ext cx="3566160" cy="2377440"/>
          </a:xfrm>
          <a:prstGeom prst="roundRect">
            <a:avLst>
              <a:gd name="adj" fmla="val 3077"/>
            </a:avLst>
          </a:prstGeom>
          <a:solidFill>
            <a:srgbClr val="F3F6F7"/>
          </a:solidFill>
          <a:ln w="12700">
            <a:solidFill>
              <a:srgbClr val="F3F6F7"/>
            </a:solidFill>
            <a:prstDash val="solid"/>
          </a:ln>
        </p:spPr>
      </p:sp>
      <p:sp>
        <p:nvSpPr>
          <p:cNvPr id="7" name="Text 5"/>
          <p:cNvSpPr txBox="1"/>
          <p:nvPr/>
        </p:nvSpPr>
        <p:spPr>
          <a:xfrm>
            <a:off x="4517136" y="1490472"/>
            <a:ext cx="3163824" cy="365760"/>
          </a:xfrm>
          <a:prstGeom prst="rect">
            <a:avLst/>
          </a:prstGeom>
          <a:noFill/>
          <a:ln/>
        </p:spPr>
        <p:txBody>
          <a:bodyPr wrap="square" lIns="0" tIns="0" rIns="0" bIns="0" rtlCol="0" anchor="t"/>
          <a:lstStyle/>
          <a:p>
            <a:pPr indent="0" marL="0">
              <a:buNone/>
            </a:pPr>
            <a:r>
              <a:rPr lang="en-US" sz="1500" b="1" dirty="0">
                <a:solidFill>
                  <a:srgbClr val="0D5F73"/>
                </a:solidFill>
                <a:latin typeface="Calibri" pitchFamily="34" charset="0"/>
                <a:ea typeface="Calibri" pitchFamily="34" charset="-122"/>
                <a:cs typeface="Calibri" pitchFamily="34" charset="-120"/>
              </a:rPr>
              <a:t>What a buyer would require</a:t>
            </a:r>
            <a:endParaRPr lang="en-US" sz="1500" dirty="0"/>
          </a:p>
        </p:txBody>
      </p:sp>
      <p:sp>
        <p:nvSpPr>
          <p:cNvPr id="8" name="Text 6"/>
          <p:cNvSpPr txBox="1"/>
          <p:nvPr/>
        </p:nvSpPr>
        <p:spPr>
          <a:xfrm>
            <a:off x="4517136" y="1892808"/>
            <a:ext cx="3163824" cy="1691640"/>
          </a:xfrm>
          <a:prstGeom prst="rect">
            <a:avLst/>
          </a:prstGeom>
          <a:noFill/>
          <a:ln/>
        </p:spPr>
        <p:txBody>
          <a:bodyPr wrap="square" lIns="0" tIns="0" rIns="0" bIns="0" rtlCol="0" anchor="t"/>
          <a:lstStyle/>
          <a:p>
            <a:pPr indent="0" marL="0">
              <a:buNone/>
            </a:pPr>
            <a:r>
              <a:rPr lang="en-US" sz="1300" dirty="0">
                <a:solidFill>
                  <a:srgbClr val="15232A"/>
                </a:solidFill>
                <a:latin typeface="Calibri" pitchFamily="34" charset="0"/>
                <a:ea typeface="Calibri" pitchFamily="34" charset="-122"/>
                <a:cs typeface="Calibri" pitchFamily="34" charset="-120"/>
              </a:rPr>
              <a:t>Validation on Indian patients and diets, a prospective pilot with outcome measures, integration with sensor clouds and the clinic EHR (ABDM FHIR).</a:t>
            </a:r>
            <a:endParaRPr lang="en-US" sz="1300" dirty="0"/>
          </a:p>
        </p:txBody>
      </p:sp>
      <p:sp>
        <p:nvSpPr>
          <p:cNvPr id="9" name="Shape 7"/>
          <p:cNvSpPr/>
          <p:nvPr/>
        </p:nvSpPr>
        <p:spPr>
          <a:xfrm>
            <a:off x="8083296" y="1325880"/>
            <a:ext cx="3529584" cy="2377440"/>
          </a:xfrm>
          <a:prstGeom prst="roundRect">
            <a:avLst>
              <a:gd name="adj" fmla="val 3077"/>
            </a:avLst>
          </a:prstGeom>
          <a:solidFill>
            <a:srgbClr val="F3F6F7"/>
          </a:solidFill>
          <a:ln w="12700">
            <a:solidFill>
              <a:srgbClr val="F3F6F7"/>
            </a:solidFill>
            <a:prstDash val="solid"/>
          </a:ln>
        </p:spPr>
      </p:sp>
      <p:sp>
        <p:nvSpPr>
          <p:cNvPr id="10" name="Text 8"/>
          <p:cNvSpPr txBox="1"/>
          <p:nvPr/>
        </p:nvSpPr>
        <p:spPr>
          <a:xfrm>
            <a:off x="8284464" y="1490472"/>
            <a:ext cx="3127248" cy="365760"/>
          </a:xfrm>
          <a:prstGeom prst="rect">
            <a:avLst/>
          </a:prstGeom>
          <a:noFill/>
          <a:ln/>
        </p:spPr>
        <p:txBody>
          <a:bodyPr wrap="square" lIns="0" tIns="0" rIns="0" bIns="0" rtlCol="0" anchor="t"/>
          <a:lstStyle/>
          <a:p>
            <a:pPr indent="0" marL="0">
              <a:buNone/>
            </a:pPr>
            <a:r>
              <a:rPr lang="en-US" sz="1500" b="1" dirty="0">
                <a:solidFill>
                  <a:srgbClr val="0D5F73"/>
                </a:solidFill>
                <a:latin typeface="Calibri" pitchFamily="34" charset="0"/>
                <a:ea typeface="Calibri" pitchFamily="34" charset="-122"/>
                <a:cs typeface="Calibri" pitchFamily="34" charset="-120"/>
              </a:rPr>
              <a:t>Regulation and privacy</a:t>
            </a:r>
            <a:endParaRPr lang="en-US" sz="1500" dirty="0"/>
          </a:p>
        </p:txBody>
      </p:sp>
      <p:sp>
        <p:nvSpPr>
          <p:cNvPr id="11" name="Text 9"/>
          <p:cNvSpPr txBox="1"/>
          <p:nvPr/>
        </p:nvSpPr>
        <p:spPr>
          <a:xfrm>
            <a:off x="8284464" y="1892808"/>
            <a:ext cx="3127248" cy="1691640"/>
          </a:xfrm>
          <a:prstGeom prst="rect">
            <a:avLst/>
          </a:prstGeom>
          <a:noFill/>
          <a:ln/>
        </p:spPr>
        <p:txBody>
          <a:bodyPr wrap="square" lIns="0" tIns="0" rIns="0" bIns="0" rtlCol="0" anchor="t"/>
          <a:lstStyle/>
          <a:p>
            <a:pPr indent="0" marL="0">
              <a:buNone/>
            </a:pPr>
            <a:r>
              <a:rPr lang="en-US" sz="1300" dirty="0">
                <a:solidFill>
                  <a:srgbClr val="15232A"/>
                </a:solidFill>
                <a:latin typeface="Calibri" pitchFamily="34" charset="0"/>
                <a:ea typeface="Calibri" pitchFamily="34" charset="-122"/>
                <a:cs typeface="Calibri" pitchFamily="34" charset="-120"/>
              </a:rPr>
              <a:t>Likely software as a medical device under India's Medical Devices Rules 2017 (CDSCO draft guidance, Oct 2025). Real data falls under the DPDP Act 2023 and Rules 2025.</a:t>
            </a:r>
            <a:endParaRPr lang="en-US" sz="1300" dirty="0"/>
          </a:p>
        </p:txBody>
      </p:sp>
      <p:sp>
        <p:nvSpPr>
          <p:cNvPr id="12" name="Text 10"/>
          <p:cNvSpPr txBox="1"/>
          <p:nvPr/>
        </p:nvSpPr>
        <p:spPr>
          <a:xfrm>
            <a:off x="548640" y="3977640"/>
            <a:ext cx="5486400" cy="365760"/>
          </a:xfrm>
          <a:prstGeom prst="rect">
            <a:avLst/>
          </a:prstGeom>
          <a:noFill/>
          <a:ln/>
        </p:spPr>
        <p:txBody>
          <a:bodyPr wrap="square" lIns="0" tIns="0" rIns="0" bIns="0" rtlCol="0" anchor="t"/>
          <a:lstStyle/>
          <a:p>
            <a:pPr indent="0" marL="0">
              <a:buNone/>
            </a:pPr>
            <a:r>
              <a:rPr lang="en-US" sz="1700" b="1" dirty="0">
                <a:solidFill>
                  <a:srgbClr val="0D5F73"/>
                </a:solidFill>
                <a:latin typeface="Calibri" pitchFamily="34" charset="0"/>
                <a:ea typeface="Calibri" pitchFamily="34" charset="-122"/>
                <a:cs typeface="Calibri" pitchFamily="34" charset="-120"/>
              </a:rPr>
              <a:t>Next steps</a:t>
            </a:r>
            <a:endParaRPr lang="en-US" sz="1700" dirty="0"/>
          </a:p>
        </p:txBody>
      </p:sp>
      <p:sp>
        <p:nvSpPr>
          <p:cNvPr id="13" name="Text 11"/>
          <p:cNvSpPr txBox="1"/>
          <p:nvPr/>
        </p:nvSpPr>
        <p:spPr>
          <a:xfrm>
            <a:off x="548640" y="4389120"/>
            <a:ext cx="11064240" cy="182880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15232A"/>
                </a:solidFill>
                <a:latin typeface="Calibri" pitchFamily="34" charset="0"/>
                <a:ea typeface="Calibri" pitchFamily="34" charset="-122"/>
                <a:cs typeface="Calibri" pitchFamily="34" charset="-120"/>
              </a:rPr>
              <a:t>Let clinicians set the alert budget per programme; add escalation for unacknowledged alerts</a:t>
            </a:r>
            <a:endParaRPr lang="en-US" sz="1500" dirty="0"/>
          </a:p>
          <a:p>
            <a:pPr marL="203200" indent="-203200">
              <a:spcAft>
                <a:spcPts val="600"/>
              </a:spcAft>
              <a:buSzPct val="100000"/>
              <a:buChar char="•"/>
            </a:pPr>
            <a:r>
              <a:rPr lang="en-US" sz="1400" dirty="0">
                <a:solidFill>
                  <a:srgbClr val="15232A"/>
                </a:solidFill>
                <a:latin typeface="Calibri" pitchFamily="34" charset="0"/>
                <a:ea typeface="Calibri" pitchFamily="34" charset="-122"/>
                <a:cs typeface="Calibri" pitchFamily="34" charset="-120"/>
              </a:rPr>
              <a:t>Device-specific noise models (autocorrelated error) and validation on noisier sensors</a:t>
            </a:r>
            <a:endParaRPr lang="en-US" sz="1500" dirty="0"/>
          </a:p>
          <a:p>
            <a:pPr marL="203200" indent="-203200">
              <a:spcAft>
                <a:spcPts val="600"/>
              </a:spcAft>
              <a:buSzPct val="100000"/>
              <a:buChar char="•"/>
            </a:pPr>
            <a:r>
              <a:rPr lang="en-US" sz="1400" dirty="0">
                <a:solidFill>
                  <a:srgbClr val="15232A"/>
                </a:solidFill>
                <a:latin typeface="Calibri" pitchFamily="34" charset="0"/>
                <a:ea typeface="Calibri" pitchFamily="34" charset="-122"/>
                <a:cs typeface="Calibri" pitchFamily="34" charset="-120"/>
              </a:rPr>
              <a:t>A prospective, observation-only pilot with an Indian diabetes clinic (forecasts hidden from care until validated)</a:t>
            </a:r>
            <a:endParaRPr lang="en-US" sz="1500" dirty="0"/>
          </a:p>
          <a:p>
            <a:pPr marL="203200" indent="-203200">
              <a:spcAft>
                <a:spcPts val="600"/>
              </a:spcAft>
              <a:buSzPct val="100000"/>
              <a:buChar char="•"/>
            </a:pPr>
            <a:r>
              <a:rPr lang="en-US" sz="1400" dirty="0">
                <a:solidFill>
                  <a:srgbClr val="15232A"/>
                </a:solidFill>
                <a:latin typeface="Calibri" pitchFamily="34" charset="0"/>
                <a:ea typeface="Calibri" pitchFamily="34" charset="-122"/>
                <a:cs typeface="Calibri" pitchFamily="34" charset="-120"/>
              </a:rPr>
              <a:t>Interoperability: CGM vendor APIs and ABDM-compliant FHIR exchange</a:t>
            </a:r>
            <a:endParaRPr lang="en-US" sz="15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6676F"/>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188720"/>
          </a:xfrm>
          <a:prstGeom prst="rect">
            <a:avLst/>
          </a:prstGeom>
          <a:noFill/>
          <a:ln/>
        </p:spPr>
        <p:txBody>
          <a:bodyPr wrap="square" lIns="0" tIns="0" rIns="0" bIns="0" rtlCol="0" anchor="b"/>
          <a:lstStyle/>
          <a:p>
            <a:pPr algn="l" indent="0" marL="0">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3" name="Text 1"/>
          <p:cNvSpPr txBox="1"/>
          <p:nvPr/>
        </p:nvSpPr>
        <p:spPr>
          <a:xfrm>
            <a:off x="731520" y="3383280"/>
            <a:ext cx="10515600" cy="822960"/>
          </a:xfrm>
          <a:prstGeom prst="rect">
            <a:avLst/>
          </a:prstGeom>
          <a:noFill/>
          <a:ln/>
        </p:spPr>
        <p:txBody>
          <a:bodyPr wrap="square" lIns="0" tIns="0" rIns="0" bIns="0" rtlCol="0" anchor="t"/>
          <a:lstStyle/>
          <a:p>
            <a:pPr indent="0" marL="0">
              <a:buNone/>
            </a:pPr>
            <a:r>
              <a:rPr lang="en-US" sz="1800" dirty="0">
                <a:solidFill>
                  <a:srgbClr val="D7E9EE"/>
                </a:solidFill>
                <a:latin typeface="Calibri" pitchFamily="34" charset="0"/>
                <a:ea typeface="Calibri" pitchFamily="34" charset="-122"/>
                <a:cs typeface="Calibri" pitchFamily="34" charset="-120"/>
              </a:rPr>
              <a:t>Everything shown is in the public repository: code, trained models, the locked test results and the scripts that regenerate every number.</a:t>
            </a:r>
            <a:endParaRPr lang="en-US" sz="1800" dirty="0"/>
          </a:p>
        </p:txBody>
      </p:sp>
      <p:sp>
        <p:nvSpPr>
          <p:cNvPr id="4" name="Text 2"/>
          <p:cNvSpPr txBox="1"/>
          <p:nvPr/>
        </p:nvSpPr>
        <p:spPr>
          <a:xfrm>
            <a:off x="731520" y="4343400"/>
            <a:ext cx="10515600" cy="457200"/>
          </a:xfrm>
          <a:prstGeom prst="rect">
            <a:avLst/>
          </a:prstGeom>
          <a:noFill/>
          <a:ln/>
        </p:spPr>
        <p:txBody>
          <a:bodyPr wrap="square" lIns="0" tIns="0" rIns="0" bIns="0"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github.com/Spiritsfuse/pratirup</a:t>
            </a:r>
            <a:endParaRPr lang="en-US" sz="2000" dirty="0"/>
          </a:p>
        </p:txBody>
      </p:sp>
      <p:sp>
        <p:nvSpPr>
          <p:cNvPr id="5" name="Text 3"/>
          <p:cNvSpPr txBox="1"/>
          <p:nvPr/>
        </p:nvSpPr>
        <p:spPr>
          <a:xfrm>
            <a:off x="731520" y="5120640"/>
            <a:ext cx="10515600" cy="365760"/>
          </a:xfrm>
          <a:prstGeom prst="rect">
            <a:avLst/>
          </a:prstGeom>
          <a:noFill/>
          <a:ln/>
        </p:spPr>
        <p:txBody>
          <a:bodyPr wrap="square" lIns="0" tIns="0" rIns="0" bIns="0" rtlCol="0" anchor="t"/>
          <a:lstStyle/>
          <a:p>
            <a:pPr indent="0" marL="0">
              <a:buNone/>
            </a:pPr>
            <a:r>
              <a:rPr lang="en-US" sz="1400" dirty="0">
                <a:solidFill>
                  <a:srgbClr val="9CC3CD"/>
                </a:solidFill>
                <a:latin typeface="Calibri" pitchFamily="34" charset="0"/>
                <a:ea typeface="Calibri" pitchFamily="34" charset="-122"/>
                <a:cs typeface="Calibri" pitchFamily="34" charset="-120"/>
              </a:rPr>
              <a:t>Team Aflatoon · Dhruv Sharma · Pratyush Mishra · Anushika Chauhan · Scaler School of Technology, Bengaluru</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Pratirup: a glucose digital twin for type 2 diabetes care teams</dc:title>
  <dc:subject>Happiest Health Digital Twin Challenge 2026</dc:subject>
  <dc:creator>Team Aflatoon, Scaler School of Technology</dc:creator>
  <cp:lastModifiedBy>Team Aflatoon, Scaler School of Technology</cp:lastModifiedBy>
  <cp:revision>1</cp:revision>
  <dcterms:created xsi:type="dcterms:W3CDTF">2026-10-22T16:52:28Z</dcterms:created>
  <dcterms:modified xsi:type="dcterms:W3CDTF">2026-10-22T16:52:28Z</dcterms:modified>
</cp:coreProperties>
</file>